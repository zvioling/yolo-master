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Slides/notesSlide8.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ppt/presentation.xml" ContentType="application/vnd.openxmlformats-officedocument.presentationml.presentation.main+xml"/>
  <Override PartName="/ppt/notesSlides/notesSlide10.xml" ContentType="application/vnd.openxmlformats-officedocument.presentationml.notesSlide+xml"/>
  <Override PartName="/ppt/slides/slide40.xml" ContentType="application/vnd.openxmlformats-officedocument.presentationml.slide+xml"/>
  <Override PartName="/docProps/app.xml" ContentType="application/vnd.openxmlformats-officedocument.extended-properties+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17.xml" ContentType="application/vnd.openxmlformats-officedocument.presentationml.notesSlide+xml"/>
  <Override PartName="/ppt/slideMasters/slideMaster1.xml" ContentType="application/vnd.openxmlformats-officedocument.presentationml.slideMaster+xml"/>
  <Override PartName="/ppt/slides/slide29.xml" ContentType="application/vnd.openxmlformats-officedocument.presentationml.slide+xml"/>
  <Override PartName="/ppt/slides/slide10.xml" ContentType="application/vnd.openxmlformats-officedocument.presentationml.slide+xml"/>
  <Override PartName="/ppt/slides/slide41.xml" ContentType="application/vnd.openxmlformats-officedocument.presentationml.slide+xml"/>
  <Override PartName="/ppt/slides/slide22.xml" ContentType="application/vnd.openxmlformats-officedocument.presentationml.slide+xml"/>
  <Override PartName="/ppt/notesSlides/notesSlide34.xml" ContentType="application/vnd.openxmlformats-officedocument.presentationml.notesSlide+xml"/>
  <Override PartName="/ppt/slides/slide15.xml" ContentType="application/vnd.openxmlformats-officedocument.presentationml.slide+xml"/>
  <Override PartName="/ppt/slides/slide39.xml" ContentType="application/vnd.openxmlformats-officedocument.presentationml.slide+xml"/>
  <Override PartName="/ppt/slides/slide6.xml" ContentType="application/vnd.openxmlformats-officedocument.presentationml.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5.xml" ContentType="application/vnd.openxmlformats-officedocument.presentationml.notesSlide+xml"/>
  <Override PartName="/ppt/slides/slide9.xml" ContentType="application/vnd.openxmlformats-officedocument.presentationml.slide+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notesSlides/notesSlide12.xml" ContentType="application/vnd.openxmlformats-officedocument.presentationml.notesSlide+xml"/>
  <Override PartName="/ppt/slides/slide4.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theme/theme1.xml" ContentType="application/vnd.openxmlformats-officedocument.theme+xml"/>
  <Override PartName="/ppt/notesSlides/notesSlide9.xml" ContentType="application/vnd.openxmlformats-officedocument.presentationml.notesSlide+xml"/>
  <Override PartName="/ppt/slides/slide19.xml" ContentType="application/vnd.openxmlformats-officedocument.presentationml.slide+xml"/>
  <Override PartName="/ppt/notesMasters/notesMaster1.xml" ContentType="application/vnd.openxmlformats-officedocument.presentationml.notesMaster+xml"/>
  <Override PartName="/ppt/notesSlides/notesSlide38.xml" ContentType="application/vnd.openxmlformats-officedocument.presentationml.notesSlide+xml"/>
  <Override PartName="/ppt/notesSlides/notesSlide26.xml" ContentType="application/vnd.openxmlformats-officedocument.presentationml.notesSlide+xml"/>
  <Override PartName="/ppt/slides/slide18.xml" ContentType="application/vnd.openxmlformats-officedocument.presentationml.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7.xml" ContentType="application/vnd.openxmlformats-officedocument.presentationml.slide+xml"/>
  <Override PartName="/ppt/theme/theme2.xml" ContentType="application/vnd.openxmlformats-officedocument.theme+xml"/>
  <Override PartName="/ppt/notesSlides/notesSlide1.xml" ContentType="application/vnd.openxmlformats-officedocument.presentationml.notesSlide+xml"/>
  <Override PartName="/ppt/slides/slide33.xml" ContentType="application/vnd.openxmlformats-officedocument.presentationml.slide+xml"/>
  <Override PartName="/ppt/notesSlides/notesSlide4.xml" ContentType="application/vnd.openxmlformats-officedocument.presentationml.notesSlide+xml"/>
  <Override PartName="/ppt/slides/slide1.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ppt/notesSlides/notesSlide29.xml" ContentType="application/vnd.openxmlformats-officedocument.presentationml.notesSlide+xml"/>
  <Override PartName="/ppt/slides/slide38.xml" ContentType="application/vnd.openxmlformats-officedocument.presentationml.slide+xml"/>
  <Override PartName="/ppt/slides/slide3.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notesSlides/notesSlide32.xml" ContentType="application/vnd.openxmlformats-officedocument.presentationml.notesSlide+xml"/>
  <Override PartName="/ppt/slides/slide5.xml" ContentType="application/vnd.openxmlformats-officedocument.presentationml.slide+xml"/>
  <Override PartName="/ppt/notesSlides/notesSlide33.xml" ContentType="application/vnd.openxmlformats-officedocument.presentationml.notesSlide+xml"/>
  <Override PartName="/ppt/notesSlides/notesSlide6.xml" ContentType="application/vnd.openxmlformats-officedocument.presentationml.notesSlide+xml"/>
  <Override PartName="/ppt/slides/slide35.xml" ContentType="application/vnd.openxmlformats-officedocument.presentationml.slide+xml"/>
  <Override PartName="/ppt/notesSlides/notesSlide18.xml" ContentType="application/vnd.openxmlformats-officedocument.presentationml.notesSlide+xml"/>
  <Override PartName="/ppt/slides/slide16.xml" ContentType="application/vnd.openxmlformats-officedocument.presentationml.slide+xml"/>
  <Override PartName="/ppt/tableStyles.xml" ContentType="application/vnd.openxmlformats-officedocument.presentationml.tableStyles+xml"/>
  <Override PartName="/ppt/slides/slide36.xml" ContentType="application/vnd.openxmlformats-officedocument.presentationml.slide+xml"/>
  <Override PartName="/ppt/slides/slide23.xml" ContentType="application/vnd.openxmlformats-officedocument.presentationml.slide+xml"/>
  <Override PartName="/ppt/slides/slide30.xml" ContentType="application/vnd.openxmlformats-officedocument.presentationml.slide+xml"/>
  <Override PartName="/ppt/slides/slide37.xml" ContentType="application/vnd.openxmlformats-officedocument.presentationml.slide+xml"/>
  <Override PartName="/ppt/slides/slide26.xml" ContentType="application/vnd.openxmlformats-officedocument.presentationml.slide+xml"/>
  <Override PartName="/ppt/notesSlides/notesSlide16.xml" ContentType="application/vnd.openxmlformats-officedocument.presentationml.notesSlide+xml"/>
  <Override PartName="/ppt/slides/slide31.xml" ContentType="application/vnd.openxmlformats-officedocument.presentationml.slide+xml"/>
  <Override PartName="/ppt/presProps.xml" ContentType="application/vnd.openxmlformats-officedocument.presentationml.presProps+xml"/>
  <Override PartName="/ppt/slides/slide8.xml" ContentType="application/vnd.openxmlformats-officedocument.presentationml.slide+xml"/>
  <Override PartName="/ppt/slides/slide32.xml" ContentType="application/vnd.openxmlformats-officedocument.presentationml.slide+xml"/>
  <Override PartName="/ppt/slides/slide27.xml" ContentType="application/vnd.openxmlformats-officedocument.presentationml.slide+xml"/>
  <Override PartName="/ppt/slides/slide2.xml" ContentType="application/vnd.openxmlformats-officedocument.presentationml.slide+xml"/>
  <Override PartName="/ppt/slides/slide34.xml" ContentType="application/vnd.openxmlformats-officedocument.presentationml.slide+xml"/>
  <Override PartName="/ppt/notesSlides/notesSlide11.xml" ContentType="application/vnd.openxmlformats-officedocument.presentationml.notesSlide+xml"/>
  <Override PartName="/ppt/slides/slide25.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Lst>
  <p:notesMasterIdLst>
    <p:notesMasterId r:id="rId42"/>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gridSpacing cx="72008" cy="72008"/>
</p:viewPr>
</file>

<file path=ppt/_rels/presentation.xml.rels><?xml version="1.0" encoding="UTF-8" standalone="yes"?><Relationships xmlns="http://schemas.openxmlformats.org/package/2006/relationships"><Relationship Id="rId9" Type="http://schemas.openxmlformats.org/officeDocument/2006/relationships/slide" Target="slides/slide9.xml" /><Relationship Id="rId8" Type="http://schemas.openxmlformats.org/officeDocument/2006/relationships/slide" Target="slides/slide8.xml" /><Relationship Id="rId45" Type="http://schemas.openxmlformats.org/officeDocument/2006/relationships/viewProps" Target="viewProps.xml" /><Relationship Id="rId41" Type="http://schemas.openxmlformats.org/officeDocument/2006/relationships/slide" Target="slides/slide41.xml" /><Relationship Id="rId6" Type="http://schemas.openxmlformats.org/officeDocument/2006/relationships/slide" Target="slides/slide6.xml" /><Relationship Id="rId20" Type="http://schemas.openxmlformats.org/officeDocument/2006/relationships/slide" Target="slides/slide20.xml" /><Relationship Id="rId22" Type="http://schemas.openxmlformats.org/officeDocument/2006/relationships/slide" Target="slides/slide22.xml" /><Relationship Id="rId17" Type="http://schemas.openxmlformats.org/officeDocument/2006/relationships/slide" Target="slides/slide17.xml" /><Relationship Id="rId25" Type="http://schemas.openxmlformats.org/officeDocument/2006/relationships/slide" Target="slides/slide25.xml" /><Relationship Id="rId38" Type="http://schemas.openxmlformats.org/officeDocument/2006/relationships/slide" Target="slides/slide38.xml" /><Relationship Id="rId15" Type="http://schemas.openxmlformats.org/officeDocument/2006/relationships/slide" Target="slides/slide15.xml" /><Relationship Id="rId0" Type="http://schemas.openxmlformats.org/officeDocument/2006/relationships/slideMaster" Target="slideMasters/slideMaster1.xml" /><Relationship Id="rId19" Type="http://schemas.openxmlformats.org/officeDocument/2006/relationships/slide" Target="slides/slide19.xml" /><Relationship Id="rId3" Type="http://schemas.openxmlformats.org/officeDocument/2006/relationships/slide" Target="slides/slide3.xml" /><Relationship Id="rId4" Type="http://schemas.openxmlformats.org/officeDocument/2006/relationships/slide" Target="slides/slide4.xml" /><Relationship Id="rId1" Type="http://schemas.openxmlformats.org/officeDocument/2006/relationships/slide" Target="slides/slide1.xml" /><Relationship Id="rId39" Type="http://schemas.openxmlformats.org/officeDocument/2006/relationships/slide" Target="slides/slide39.xml" /><Relationship Id="rId21" Type="http://schemas.openxmlformats.org/officeDocument/2006/relationships/slide" Target="slides/slide21.xml" /><Relationship Id="rId10" Type="http://schemas.openxmlformats.org/officeDocument/2006/relationships/slide" Target="slides/slide10.xml" /><Relationship Id="rId13" Type="http://schemas.openxmlformats.org/officeDocument/2006/relationships/slide" Target="slides/slide13.xml" /><Relationship Id="rId11" Type="http://schemas.openxmlformats.org/officeDocument/2006/relationships/slide" Target="slides/slide11.xml" /><Relationship Id="rId7" Type="http://schemas.openxmlformats.org/officeDocument/2006/relationships/slide" Target="slides/slide7.xml" /><Relationship Id="rId42" Type="http://schemas.openxmlformats.org/officeDocument/2006/relationships/notesMaster" Target="notesMasters/notesMaster1.xml" /><Relationship Id="rId28" Type="http://schemas.openxmlformats.org/officeDocument/2006/relationships/slide" Target="slides/slide28.xml" /><Relationship Id="rId27" Type="http://schemas.openxmlformats.org/officeDocument/2006/relationships/slide" Target="slides/slide27.xml" /><Relationship Id="rId2" Type="http://schemas.openxmlformats.org/officeDocument/2006/relationships/slide" Target="slides/slide2.xml" /><Relationship Id="rId5" Type="http://schemas.openxmlformats.org/officeDocument/2006/relationships/slide" Target="slides/slide5.xml" /><Relationship Id="rId35" Type="http://schemas.openxmlformats.org/officeDocument/2006/relationships/slide" Target="slides/slide35.xml" /><Relationship Id="rId16" Type="http://schemas.openxmlformats.org/officeDocument/2006/relationships/slide" Target="slides/slide16.xml" /><Relationship Id="rId14" Type="http://schemas.openxmlformats.org/officeDocument/2006/relationships/slide" Target="slides/slide14.xml" /><Relationship Id="rId40" Type="http://schemas.openxmlformats.org/officeDocument/2006/relationships/slide" Target="slides/slide40.xml" /><Relationship Id="rId12" Type="http://schemas.openxmlformats.org/officeDocument/2006/relationships/slide" Target="slides/slide12.xml" /><Relationship Id="rId23" Type="http://schemas.openxmlformats.org/officeDocument/2006/relationships/slide" Target="slides/slide23.xml" /><Relationship Id="rId29" Type="http://schemas.openxmlformats.org/officeDocument/2006/relationships/slide" Target="slides/slide29.xml" /><Relationship Id="rId24" Type="http://schemas.openxmlformats.org/officeDocument/2006/relationships/slide" Target="slides/slide24.xml" /><Relationship Id="rId37" Type="http://schemas.openxmlformats.org/officeDocument/2006/relationships/slide" Target="slides/slide37.xml" /><Relationship Id="rId44" Type="http://schemas.openxmlformats.org/officeDocument/2006/relationships/tableStyles" Target="tableStyles.xml" /><Relationship Id="rId26" Type="http://schemas.openxmlformats.org/officeDocument/2006/relationships/slide" Target="slides/slide26.xml" /><Relationship Id="rId30" Type="http://schemas.openxmlformats.org/officeDocument/2006/relationships/slide" Target="slides/slide30.xml" /><Relationship Id="rId36" Type="http://schemas.openxmlformats.org/officeDocument/2006/relationships/slide" Target="slides/slide36.xml" /><Relationship Id="rId31" Type="http://schemas.openxmlformats.org/officeDocument/2006/relationships/slide" Target="slides/slide31.xml" /><Relationship Id="rId43" Type="http://schemas.openxmlformats.org/officeDocument/2006/relationships/presProps" Target="presProps.xml" /><Relationship Id="rId32" Type="http://schemas.openxmlformats.org/officeDocument/2006/relationships/slide" Target="slides/slide32.xml" /><Relationship Id="rId33" Type="http://schemas.openxmlformats.org/officeDocument/2006/relationships/slide" Target="slides/slide33.xml" /><Relationship Id="rId18" Type="http://schemas.openxmlformats.org/officeDocument/2006/relationships/slide" Target="slides/slide18.xml" /><Relationship Id="rId34" Type="http://schemas.openxmlformats.org/officeDocument/2006/relationships/slide" Target="slides/slide34.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p:nvPr>
            <p:ph type="hdr" sz="quarter"/>
          </p:nvPr>
        </p:nvSpPr>
        <p:spPr>
          <a:prstGeom prst="rect">
            <a:avLst/>
          </a:prstGeom>
        </p:spPr>
        <p:txBody>
          <a:bodyPr/>
          <a:lstStyle/>
          <a:p>
            <a:pPr/>
            <a:endParaRPr/>
          </a:p>
        </p:txBody>
      </p:sp>
      <p:sp>
        <p:nvSpPr>
          <p:cNvPr id="3" name="Date Placeholder"/>
          <p:cNvSpPr/>
          <p:nvPr>
            <p:ph type="dt" sz="quarter" idx="1"/>
          </p:nvPr>
        </p:nvSpPr>
        <p:spPr>
          <a:prstGeom prst="rect">
            <a:avLst/>
          </a:prstGeom>
        </p:spPr>
        <p:txBody>
          <a:bodyPr/>
          <a:lstStyle/>
          <a:p>
            <a:pPr/>
            <a:endParaRPr/>
          </a:p>
        </p:txBody>
      </p:sp>
      <p:sp>
        <p:nvSpPr>
          <p:cNvPr id="4" name="Slide Image Placeholder"/>
          <p:cNvSpPr/>
          <p:nvPr>
            <p:ph type="sldImg" idx="2"/>
          </p:nvPr>
        </p:nvSpPr>
        <p:spPr>
          <a:prstGeom prst="rect">
            <a:avLst/>
          </a:prstGeom>
        </p:spPr>
        <p:txBody>
          <a:bodyPr/>
          <a:lstStyle/>
          <a:p>
            <a:pPr/>
            <a:endParaRPr/>
          </a:p>
        </p:txBody>
      </p:sp>
      <p:sp>
        <p:nvSpPr>
          <p:cNvPr id="5" name="Notes Placeholder"/>
          <p:cNvSpPr/>
          <p:nvPr>
            <p:ph type="body" sz="quarter" idx="3"/>
          </p:nvPr>
        </p:nvSpPr>
        <p:spPr>
          <a:prstGeom prst="rect">
            <a:avLst/>
          </a:prstGeom>
        </p:spPr>
        <p:txBody>
          <a:bodyPr/>
          <a:lstStyle/>
          <a:p>
            <a:pPr/>
            <a:endParaRPr/>
          </a:p>
        </p:txBody>
      </p:sp>
      <p:sp>
        <p:nvSpPr>
          <p:cNvPr id="6" name="Footer Placeholder"/>
          <p:cNvSpPr/>
          <p:nvPr>
            <p:ph type="ftr" sz="quarter" idx="4"/>
          </p:nvPr>
        </p:nvSpPr>
        <p:spPr>
          <a:prstGeom prst="rect">
            <a:avLst/>
          </a:prstGeom>
        </p:spPr>
        <p:txBody>
          <a:bodyPr/>
          <a:lstStyle/>
          <a:p>
            <a:pPr/>
            <a:endParaRPr/>
          </a:p>
        </p:txBody>
      </p:sp>
      <p:sp>
        <p:nvSpPr>
          <p:cNvPr id="7" name="Slide Number Placeholder"/>
          <p:cNvSpPr/>
          <p:nvPr>
            <p:ph type="sldNum" sz="quarter" idx="5"/>
          </p:nvPr>
        </p:nvSpPr>
        <p:spPr>
          <a:prstGeom prst="rect">
            <a:avLst/>
          </a:prstGeom>
        </p:spPr>
        <p:txBody>
          <a:bodyPr/>
          <a:lstStyle/>
          <a:p>
            <a:pPr/>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xml" /></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xml" /></Relationships>
</file>

<file path=ppt/notesSlides/_rels/notesSlide3.xml.rels><?xml version="1.0" encoding="UTF-8" standalone="yes"?><Relationships xmlns="http://schemas.openxmlformats.org/package/2006/relationships"><Relationship Id="rId2" Type="http://schemas.openxmlformats.org/officeDocument/2006/relationships/hyperlink" Target="https://github.com/Tencent/YOLO-Master/blob/main/ultralytics/nn/modules/multitask/head.py" TargetMode="External"/><Relationship Id="rId0" Type="http://schemas.openxmlformats.org/officeDocument/2006/relationships/slide" Target="../slides/slide11.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xml" /></Relationships>
</file>

<file path=ppt/notesSlides/_rels/notesSlide5.xml.rels><?xml version="1.0" encoding="UTF-8" standalone="yes"?><Relationships xmlns="http://schemas.openxmlformats.org/package/2006/relationships"><Relationship Id="rId2" Type="http://schemas.openxmlformats.org/officeDocument/2006/relationships/hyperlink" Target="https://github.com/Tencent/YOLO-Master/blob/main/ultralytics/utils/export_validation.py" TargetMode="External"/><Relationship Id="rId0" Type="http://schemas.openxmlformats.org/officeDocument/2006/relationships/slide" Target="../slides/slide13.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4.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5.xml" /></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7.xml" /></Relationships>
</file>

<file path=ppt/notesSlides/_rels/notesSlide10.xml.rels><?xml version="1.0" encoding="UTF-8" standalone="yes"?><Relationships xmlns="http://schemas.openxmlformats.org/package/2006/relationships"><Relationship Id="rId2" Type="http://schemas.openxmlformats.org/officeDocument/2006/relationships/hyperlink" Target="https://github.com/Tencent/YOLO-Master/blob/main/README.md" TargetMode="External"/><Relationship Id="rId0"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 standalone="yes"?><Relationships xmlns="http://schemas.openxmlformats.org/package/2006/relationships"><Relationship Id="rId2" Type="http://schemas.openxmlformats.org/officeDocument/2006/relationships/hyperlink" Target="https://github.com/Tencent/YOLO-Master/blob/main/ultralytics/nn/modules/multitask/head.py" TargetMode="External"/><Relationship Id="rId0"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 standalone="yes"?><Relationships xmlns="http://schemas.openxmlformats.org/package/2006/relationships"><Relationship Id="rId2" Type="http://schemas.openxmlformats.org/officeDocument/2006/relationships/hyperlink" Target="https://github.com/Tencent/YOLO-Master/blob/main/ultralytics/utils/lora/planner.py" TargetMode="External"/><Relationship Id="rId0"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 standalone="yes"?><Relationships xmlns="http://schemas.openxmlformats.org/package/2006/relationships"><Relationship Id="rId2" Type="http://schemas.openxmlformats.org/officeDocument/2006/relationships/hyperlink" Target="https://github.com/Tencent/YOLO-Master/blob/main/ultralytics/nn/foundation_distill_model.py" TargetMode="External"/><Relationship Id="rId0"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 standalone="yes"?><Relationships xmlns="http://schemas.openxmlformats.org/package/2006/relationships"><Relationship Id="rId2" Type="http://schemas.openxmlformats.org/officeDocument/2006/relationships/hyperlink" Target="https://github.com/Tencent/YOLO-Master/blob/main/ultralytics/nn/modules/routing_protocol.py" TargetMode="External"/><Relationship Id="rId0"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Relationships xmlns="http://schemas.openxmlformats.org/package/2006/relationships"><Relationship Id="rId2" Type="http://schemas.openxmlformats.org/officeDocument/2006/relationships/hyperlink" Target="https://github.com/Tencent/YOLO-Master/blob/main/ultralytics/nn/foundation_distill_model.py" TargetMode="External"/><Relationship Id="rId0"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Relationships xmlns="http://schemas.openxmlformats.org/package/2006/relationships"><Relationship Id="rId2" Type="http://schemas.openxmlformats.org/officeDocument/2006/relationships/hyperlink" Target="https://github.com/Tencent/YOLO-Master/blob/main/ultralytics/nn/foundation_distill_model.py" TargetMode="External"/><Relationship Id="rId0"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5.xml" /></Relationships>
</file>

<file path=ppt/notesSlides/_rels/notesSlide18.xml.rels><?xml version="1.0" encoding="UTF-8" standalone="yes"?><Relationships xmlns="http://schemas.openxmlformats.org/package/2006/relationships"><Relationship Id="rId2" Type="http://schemas.openxmlformats.org/officeDocument/2006/relationships/hyperlink" Target="https://github.com/Tencent/YOLO-Master/blob/main/README.md" TargetMode="External"/><Relationship Id="rId0"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7.xml" /></Relationships>
</file>

<file path=ppt/notesSlides/_rels/notesSlide20.xml.rels><?xml version="1.0" encoding="UTF-8" standalone="yes"?><Relationships xmlns="http://schemas.openxmlformats.org/package/2006/relationships"><Relationship Id="rId2" Type="http://schemas.openxmlformats.org/officeDocument/2006/relationships/hyperlink" Target="https://github.com/Tencent/YOLO-Master/blob/main/ultralytics/nn/modules/routing_protocol.py" TargetMode="External"/><Relationship Id="rId0"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 standalone="yes"?><Relationships xmlns="http://schemas.openxmlformats.org/package/2006/relationships"><Relationship Id="rId2" Type="http://schemas.openxmlformats.org/officeDocument/2006/relationships/hyperlink" Target="https://github.com/Tencent/YOLO-Master/blob/main/agent/SKILL.md" TargetMode="External"/><Relationship Id="rId0"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 standalone="yes"?><Relationships xmlns="http://schemas.openxmlformats.org/package/2006/relationships"><Relationship Id="rId0" Type="http://schemas.openxmlformats.org/officeDocument/2006/relationships/slide" Target="../slides/slide30.xml" /><Relationship Id="rId2" Type="http://schemas.openxmlformats.org/officeDocument/2006/relationships/hyperlink" Target="https://github.com/Tencent/YOLO-Master/blob/main/agent/runtime/cli/job_handlers.py" TargetMode="External"/><Relationship Id="rId1" Type="http://schemas.openxmlformats.org/officeDocument/2006/relationships/notesMaster" Target="../notesMasters/notesMaster1.xml" /></Relationships>
</file>

<file path=ppt/notesSlides/_rels/notesSlide23.xml.rels><?xml version="1.0" encoding="UTF-8" standalone="yes"?><Relationships xmlns="http://schemas.openxmlformats.org/package/2006/relationships"><Relationship Id="rId2" Type="http://schemas.openxmlformats.org/officeDocument/2006/relationships/hyperlink" Target="https://github.com/Tencent/YOLO-Master/blob/main/agent/runtime/cli/job_handlers.py" TargetMode="External"/><Relationship Id="rId0"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 standalone="yes"?><Relationships xmlns="http://schemas.openxmlformats.org/package/2006/relationships"><Relationship Id="rId2" Type="http://schemas.openxmlformats.org/officeDocument/2006/relationships/hyperlink" Target="https://github.com/Tencent/YOLO-Master/blob/main/docs/en/guides/yolo26-mixture-compatibility.md" TargetMode="External"/><Relationship Id="rId0"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5.xml.rels><?xml version="1.0" encoding="UTF-8" standalone="yes"?><Relationships xmlns="http://schemas.openxmlformats.org/package/2006/relationships"><Relationship Id="rId2" Type="http://schemas.openxmlformats.org/officeDocument/2006/relationships/hyperlink" Target="https://github.com/Tencent/YOLO-Master/blob/main/agent/runtime/cli/job_handlers.py" TargetMode="External"/><Relationship Id="rId0"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4.xml" /></Relationships>
</file>

<file path=ppt/notesSlides/_rels/notesSlide27.xml.rels><?xml version="1.0" encoding="UTF-8" standalone="yes"?><Relationships xmlns="http://schemas.openxmlformats.org/package/2006/relationships"><Relationship Id="rId2" Type="http://schemas.openxmlformats.org/officeDocument/2006/relationships/hyperlink" Target="https://github.com/Tencent/YOLO-Master/blob/main/docs/en/guides/yolo26-mixture-compatibility.md" TargetMode="External"/><Relationship Id="rId0"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8.xml.rels><?xml version="1.0" encoding="UTF-8" standalone="yes"?><Relationships xmlns="http://schemas.openxmlformats.org/package/2006/relationships"><Relationship Id="rId2" Type="http://schemas.openxmlformats.org/officeDocument/2006/relationships/hyperlink" Target="https://github.com/Tencent/YOLO-Master/blob/main/agent/SKILL.md" TargetMode="External"/><Relationship Id="rId0"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9.xml.rels><?xml version="1.0" encoding="UTF-8" standalone="yes"?><Relationships xmlns="http://schemas.openxmlformats.org/package/2006/relationships"><Relationship Id="rId2" Type="http://schemas.openxmlformats.org/officeDocument/2006/relationships/hyperlink" Target="https://github.com/Tencent/YOLO-Master" TargetMode="External"/><Relationship Id="rId0"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8.xml" /></Relationships>
</file>

<file path=ppt/notesSlides/_rels/notesSlide31.xml.rels><?xml version="1.0" encoding="UTF-8" standalone="yes"?><Relationships xmlns="http://schemas.openxmlformats.org/package/2006/relationships"><Relationship Id="rId2" Type="http://schemas.openxmlformats.org/officeDocument/2006/relationships/hyperlink" Target="https://github.com/Tencent/OpenSourceTalent/issues/55" TargetMode="External"/><Relationship Id="rId0"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xml" /></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0.xml" /></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xml" /></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xml" /></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xml" /></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xml" /></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txBody>
          <a:bodyPr/>
          <a:p/>
        </p:txBody>
      </p:sp>
      <p:sp>
        <p:nvSpPr>
          <p:cNvPr id="3" name="Notes Placeholder 2"/>
          <p:cNvSpPr>
            <a:spLocks noGrp="1"/>
          </p:cNvSpPr>
          <p:nvPr>
            <p:ph type="body" idx="1"/>
          </p:nvPr>
        </p:nvSpPr>
        <p:spPr/>
        <p:txBody>
          <a:bodyPr/>
          <a:lstStyle/>
          <a:p>
            <a:pPr/>
            <a:r>
              <a:rPr lang="zh-CN" altLang="en-US"/>
              <a:t>各位同学晚上好。今天我们正式启动腾讯犀牛鸟开源人才计划 </a:t>
            </a:r>
            <a:r>
              <a:rPr lang="en-US" altLang="zh-CN"/>
              <a:t>YOLO-Master </a:t>
            </a:r>
            <a:r>
              <a:rPr lang="zh-CN" altLang="en-US"/>
              <a:t>实战课题的筹备。当前方案一共包含六条研究主线、十七个课题槽位，实践周期是八月十四日到九月十四日。今晚我们不追求把所有题都讲成论文，而是要把每个题的真实边界、最低交付和开工条件讲清楚。代码验收默认基于稳定版本，研究性能力则按登记的 </a:t>
            </a:r>
            <a:r>
              <a:rPr lang="en-US" altLang="zh-CN"/>
              <a:t>HEAD commit </a:t>
            </a:r>
            <a:r>
              <a:rPr lang="zh-CN" altLang="en-US"/>
              <a:t>执行。</a:t>
            </a:r>
            <a:endParaRPr lang="zh-CN" altLang="en-US"/>
          </a:p>
        </p:txBody>
      </p:sp>
      <p:sp>
        <p:nvSpPr>
          <p:cNvPr id="4" name="Slide Number Placeholder 3"/>
          <p:cNvSpPr>
            <a:spLocks noGrp="1"/>
          </p:cNvSpPr>
          <p:nvPr>
            <p:ph type="sldNum" idx="5"/>
          </p:nvPr>
        </p:nvSpPr>
        <p:spPr/>
        <p:txBody>
          <a:bodyPr/>
          <a:lstStyle/>
          <a:p>
            <a:pPr/>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Slide Image Placeholder 1"/>
          <p:cNvSpPr>
            <a:spLocks noGrp="1"/>
          </p:cNvSpPr>
          <p:nvPr>
            <p:ph type="sldImg"/>
          </p:nvPr>
        </p:nvSpPr>
        <p:spPr/>
        <p:txBody>
          <a:bodyPr/>
          <a:p/>
        </p:txBody>
      </p:sp>
      <p:sp>
        <p:nvSpPr>
          <p:cNvPr id="7"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endParaRPr/>
          </a:p>
          <a:p>
            <a:pPr/>
            <a:r>
              <a:rPr/>
              <a:t>- 章节背景复用封面生成主视觉。 </a:t>
            </a:r>
            <a:br>
              <a:rPr/>
            </a:br>
            <a:r>
              <a:rPr lang="zh-CN" altLang="en-US"/>
              <a:t>课题不是十七条彼此独立的流水线。今晚先锁定共同底座，包括 </a:t>
            </a:r>
            <a:r>
              <a:rPr lang="en-US" altLang="zh-CN"/>
              <a:t>Owner、</a:t>
            </a:r>
            <a:r>
              <a:rPr lang="zh-CN" altLang="en-US"/>
              <a:t>主备选、代码版本、</a:t>
            </a:r>
            <a:r>
              <a:rPr lang="en-US" altLang="zh-CN"/>
              <a:t>P0、GPU </a:t>
            </a:r>
            <a:r>
              <a:rPr lang="zh-CN" altLang="en-US"/>
              <a:t>和数据。八月二十四日以后，各题才进入并行攻坚，并在月底给出首个可比数字。中期评审重点看端到端闭环、路由蒸馏、量化和自动标注折扣等机制证据。后半程，研究题补多 </a:t>
            </a:r>
            <a:r>
              <a:rPr lang="en-US" altLang="zh-CN"/>
              <a:t>seed </a:t>
            </a:r>
            <a:r>
              <a:rPr lang="zh-CN" altLang="en-US"/>
              <a:t>和消融，工程题补兼容性、脚本和 </a:t>
            </a:r>
            <a:r>
              <a:rPr lang="en-US" altLang="zh-CN"/>
              <a:t>README。</a:t>
            </a:r>
            <a:r>
              <a:rPr lang="zh-CN" altLang="en-US"/>
              <a:t>跨组之间要主动复用：</a:t>
            </a:r>
            <a:r>
              <a:rPr lang="en-US" altLang="zh-CN"/>
              <a:t>E3 </a:t>
            </a:r>
            <a:r>
              <a:rPr lang="zh-CN" altLang="en-US"/>
              <a:t>支撑路由分析，</a:t>
            </a:r>
            <a:r>
              <a:rPr lang="en-US" altLang="zh-CN"/>
              <a:t>E1 </a:t>
            </a:r>
            <a:r>
              <a:rPr lang="zh-CN" altLang="en-US"/>
              <a:t>和 </a:t>
            </a:r>
            <a:r>
              <a:rPr lang="en-US" altLang="zh-CN"/>
              <a:t>E2 </a:t>
            </a:r>
            <a:r>
              <a:rPr lang="zh-CN" altLang="en-US"/>
              <a:t>共用统计脚手架，</a:t>
            </a:r>
            <a:r>
              <a:rPr lang="en-US" altLang="zh-CN"/>
              <a:t>A2 </a:t>
            </a:r>
            <a:r>
              <a:rPr lang="zh-CN" altLang="en-US"/>
              <a:t>支撑 </a:t>
            </a:r>
            <a:r>
              <a:rPr lang="en-US" altLang="zh-CN"/>
              <a:t>C1，D2 </a:t>
            </a:r>
            <a:r>
              <a:rPr lang="zh-CN" altLang="en-US"/>
              <a:t>支撑 </a:t>
            </a:r>
            <a:r>
              <a:rPr lang="en-US" altLang="zh-CN"/>
              <a:t>F11，A3 </a:t>
            </a:r>
            <a:r>
              <a:rPr lang="zh-CN" altLang="en-US"/>
              <a:t>支撑部署中心。依赖方不能空等，等待期间先做基线和源码精读。</a:t>
            </a:r>
            <a:br>
              <a:rPr lang="zh-CN" altLang="en-US"/>
            </a:br>
            <a:br>
              <a:rPr lang="zh-CN" altLang="en-US"/>
            </a:br>
            <a:r>
              <a:rPr lang="zh-CN" altLang="en-US"/>
              <a:t>主题 </a:t>
            </a:r>
            <a:r>
              <a:rPr lang="en-US" altLang="zh-CN"/>
              <a:t>A </a:t>
            </a:r>
            <a:r>
              <a:rPr lang="zh-CN" altLang="en-US"/>
              <a:t>有三个方向：</a:t>
            </a:r>
            <a:r>
              <a:rPr lang="en-US" altLang="zh-CN"/>
              <a:t>A1 </a:t>
            </a:r>
            <a:r>
              <a:rPr lang="zh-CN" altLang="en-US"/>
              <a:t>端到端免 </a:t>
            </a:r>
            <a:r>
              <a:rPr lang="en-US" altLang="zh-CN"/>
              <a:t>NMS，A2 </a:t>
            </a:r>
            <a:r>
              <a:rPr lang="zh-CN" altLang="en-US"/>
              <a:t>小目标自适应分配，</a:t>
            </a:r>
            <a:r>
              <a:rPr lang="en-US" altLang="zh-CN"/>
              <a:t>A3 </a:t>
            </a:r>
            <a:r>
              <a:rPr lang="zh-CN" altLang="en-US"/>
              <a:t>稀疏路由的导出与量化。共同目标是把新机制真正接入 </a:t>
            </a:r>
            <a:r>
              <a:rPr lang="en-US" altLang="zh-CN"/>
              <a:t>YOLO-Master，</a:t>
            </a:r>
            <a:r>
              <a:rPr lang="zh-CN" altLang="en-US"/>
              <a:t>而不是只做概念复述。</a:t>
            </a:r>
            <a:endParaRPr lang="zh-CN" altLang="en-US"/>
          </a:p>
        </p:txBody>
      </p:sp>
      <p:sp>
        <p:nvSpPr>
          <p:cNvPr id="8" name="Slide Number Placeholder 3"/>
          <p:cNvSpPr>
            <a:spLocks noGrp="1"/>
          </p:cNvSpPr>
          <p:nvPr>
            <p:ph type="sldNum" idx="5"/>
          </p:nvPr>
        </p:nvSpPr>
        <p:spPr/>
        <p:txBody>
          <a:bodyPr/>
          <a:lstStyle/>
          <a:p>
            <a:pPr/>
            <a:endParaR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9" name=""/>
        <p:cNvGrpSpPr/>
        <p:nvPr/>
      </p:nvGrpSpPr>
      <p:grpSpPr>
        <a:xfrm>
          <a:off x="0" y="0"/>
          <a:ext cx="0" cy="0"/>
          <a:chOff x="0" y="0"/>
          <a:chExt cx="0" cy="0"/>
        </a:xfrm>
      </p:grpSpPr>
      <p:sp>
        <p:nvSpPr>
          <p:cNvPr id="10" name="Slide Image Placeholder 1"/>
          <p:cNvSpPr>
            <a:spLocks noGrp="1"/>
          </p:cNvSpPr>
          <p:nvPr>
            <p:ph type="sldImg"/>
          </p:nvPr>
        </p:nvSpPr>
        <p:spPr/>
        <p:txBody>
          <a:bodyPr/>
          <a:p/>
        </p:txBody>
      </p:sp>
      <p:sp>
        <p:nvSpPr>
          <p:cNvPr id="11"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https://github.com/Tencent/YOLO-Master/blob/main/ultralytics/nn/modules/multitask/head.py</a:t>
            </a:r>
            <a:br>
              <a:rPr/>
            </a:br>
            <a:br>
              <a:rPr/>
            </a:br>
            <a:r>
              <a:rPr lang="en-US" altLang="zh-CN"/>
              <a:t>A1 </a:t>
            </a:r>
            <a:r>
              <a:rPr lang="zh-CN" altLang="en-US"/>
              <a:t>的重点不是重新造一个检测头。当前 </a:t>
            </a:r>
            <a:r>
              <a:rPr lang="en-US" altLang="zh-CN"/>
              <a:t>MultiTaskHead </a:t>
            </a:r>
            <a:r>
              <a:rPr lang="zh-CN" altLang="en-US"/>
              <a:t>已经有 </a:t>
            </a:r>
            <a:r>
              <a:rPr lang="en-US" altLang="zh-CN"/>
              <a:t>one-to-many </a:t>
            </a:r>
            <a:r>
              <a:rPr lang="zh-CN" altLang="en-US"/>
              <a:t>和 </a:t>
            </a:r>
            <a:r>
              <a:rPr lang="en-US" altLang="zh-CN"/>
              <a:t>one-to-one </a:t>
            </a:r>
            <a:r>
              <a:rPr lang="zh-CN" altLang="en-US"/>
              <a:t>分支，我们要回答的是：这条路径能否在训练、推理、导出和评测上真正闭环，并稳定关闭 </a:t>
            </a:r>
            <a:r>
              <a:rPr lang="en-US" altLang="zh-CN"/>
              <a:t>NMS。</a:t>
            </a:r>
            <a:r>
              <a:rPr lang="zh-CN" altLang="en-US"/>
              <a:t>实验要拆成 </a:t>
            </a:r>
            <a:r>
              <a:rPr lang="en-US" altLang="zh-CN"/>
              <a:t>MoE </a:t>
            </a:r>
            <a:r>
              <a:rPr lang="zh-CN" altLang="en-US"/>
              <a:t>开关和 </a:t>
            </a:r>
            <a:r>
              <a:rPr lang="en-US" altLang="zh-CN"/>
              <a:t>NMS </a:t>
            </a:r>
            <a:r>
              <a:rPr lang="zh-CN" altLang="en-US"/>
              <a:t>开关的二乘二矩阵。</a:t>
            </a:r>
            <a:r>
              <a:rPr lang="en-US" altLang="zh-CN"/>
              <a:t>P0 </a:t>
            </a:r>
            <a:r>
              <a:rPr lang="zh-CN" altLang="en-US"/>
              <a:t>先复现当前 </a:t>
            </a:r>
            <a:r>
              <a:rPr lang="en-US" altLang="zh-CN"/>
              <a:t>end-to-end </a:t>
            </a:r>
            <a:r>
              <a:rPr lang="zh-CN" altLang="en-US"/>
              <a:t>路径，记录 </a:t>
            </a:r>
            <a:r>
              <a:rPr lang="en-US" altLang="zh-CN"/>
              <a:t>mAP、CPU </a:t>
            </a:r>
            <a:r>
              <a:rPr lang="zh-CN" altLang="en-US"/>
              <a:t>和 </a:t>
            </a:r>
            <a:r>
              <a:rPr lang="en-US" altLang="zh-CN"/>
              <a:t>GPU </a:t>
            </a:r>
            <a:r>
              <a:rPr lang="zh-CN" altLang="en-US"/>
              <a:t>延迟。</a:t>
            </a:r>
            <a:r>
              <a:rPr lang="en-US" altLang="zh-CN"/>
              <a:t>P1 </a:t>
            </a:r>
            <a:r>
              <a:rPr lang="zh-CN" altLang="en-US"/>
              <a:t>补齐可训练、可导出、可评测闭环，精度下降不超过两个点，并出现可测量的 </a:t>
            </a:r>
            <a:r>
              <a:rPr lang="en-US" altLang="zh-CN"/>
              <a:t>CPU </a:t>
            </a:r>
            <a:r>
              <a:rPr lang="zh-CN" altLang="en-US"/>
              <a:t>延迟改善。</a:t>
            </a:r>
            <a:r>
              <a:rPr lang="en-US" altLang="zh-CN"/>
              <a:t>P2 </a:t>
            </a:r>
            <a:r>
              <a:rPr lang="zh-CN" altLang="en-US"/>
              <a:t>再扩展到 </a:t>
            </a:r>
            <a:r>
              <a:rPr lang="en-US" altLang="zh-CN"/>
              <a:t>seg </a:t>
            </a:r>
            <a:r>
              <a:rPr lang="zh-CN" altLang="en-US"/>
              <a:t>或 </a:t>
            </a:r>
            <a:r>
              <a:rPr lang="en-US" altLang="zh-CN"/>
              <a:t>pose，</a:t>
            </a:r>
            <a:r>
              <a:rPr lang="zh-CN" altLang="en-US"/>
              <a:t>或者给出为什么 </a:t>
            </a:r>
            <a:r>
              <a:rPr lang="en-US" altLang="zh-CN"/>
              <a:t>MoE </a:t>
            </a:r>
            <a:r>
              <a:rPr lang="zh-CN" altLang="en-US"/>
              <a:t>与 </a:t>
            </a:r>
            <a:r>
              <a:rPr lang="en-US" altLang="zh-CN"/>
              <a:t>one-to-one </a:t>
            </a:r>
            <a:r>
              <a:rPr lang="zh-CN" altLang="en-US"/>
              <a:t>路由冲突的负结果。最终交付是闭环修复 </a:t>
            </a:r>
            <a:r>
              <a:rPr lang="en-US" altLang="zh-CN"/>
              <a:t>PR、</a:t>
            </a:r>
            <a:r>
              <a:rPr lang="zh-CN" altLang="en-US"/>
              <a:t>消融矩阵和多 </a:t>
            </a:r>
            <a:r>
              <a:rPr lang="en-US" altLang="zh-CN"/>
              <a:t>seed </a:t>
            </a:r>
            <a:r>
              <a:rPr lang="zh-CN" altLang="en-US"/>
              <a:t>报告。</a:t>
            </a:r>
            <a:endParaRPr lang="zh-CN" altLang="en-US"/>
          </a:p>
        </p:txBody>
      </p:sp>
      <p:sp>
        <p:nvSpPr>
          <p:cNvPr id="12" name="Slide Number Placeholder 3"/>
          <p:cNvSpPr>
            <a:spLocks noGrp="1"/>
          </p:cNvSpPr>
          <p:nvPr>
            <p:ph type="sldNum" idx="5"/>
          </p:nvPr>
        </p:nvSpPr>
        <p:spPr/>
        <p:txBody>
          <a:bodyPr/>
          <a:lstStyle/>
          <a:p>
            <a:pPr/>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Slide Image Placeholder 1"/>
          <p:cNvSpPr>
            <a:spLocks noGrp="1"/>
          </p:cNvSpPr>
          <p:nvPr>
            <p:ph type="sldImg"/>
          </p:nvPr>
        </p:nvSpPr>
        <p:spPr/>
        <p:txBody>
          <a:bodyPr/>
          <a:p/>
        </p:txBody>
      </p:sp>
      <p:sp>
        <p:nvSpPr>
          <p:cNvPr id="15"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br>
              <a:rPr/>
            </a:br>
            <a:br>
              <a:rPr/>
            </a:br>
            <a:r>
              <a:rPr lang="en-US" altLang="zh-CN"/>
              <a:t>A2 </a:t>
            </a:r>
            <a:r>
              <a:rPr lang="zh-CN" altLang="en-US"/>
              <a:t>是课题池里风险较低、成果比较直观的方向。核心做法是根据目标面积动态调整 </a:t>
            </a:r>
            <a:r>
              <a:rPr lang="en-US" altLang="zh-CN"/>
              <a:t>IoU </a:t>
            </a:r>
            <a:r>
              <a:rPr lang="zh-CN" altLang="en-US"/>
              <a:t>分配阈值，让小目标得到更多有效正样本。</a:t>
            </a:r>
            <a:r>
              <a:rPr lang="en-US" altLang="zh-CN"/>
              <a:t>P0 </a:t>
            </a:r>
            <a:r>
              <a:rPr lang="zh-CN" altLang="en-US"/>
              <a:t>在 </a:t>
            </a:r>
            <a:r>
              <a:rPr lang="en-US" altLang="zh-CN"/>
              <a:t>VisDrone </a:t>
            </a:r>
            <a:r>
              <a:rPr lang="zh-CN" altLang="en-US"/>
              <a:t>上跑通基线，并记录小、中、大目标分档 </a:t>
            </a:r>
            <a:r>
              <a:rPr lang="en-US" altLang="zh-CN"/>
              <a:t>AP。P1 </a:t>
            </a:r>
            <a:r>
              <a:rPr lang="zh-CN" altLang="en-US"/>
              <a:t>把面积阈值和放宽幅度接入 </a:t>
            </a:r>
            <a:r>
              <a:rPr lang="en-US" altLang="zh-CN"/>
              <a:t>assigner，</a:t>
            </a:r>
            <a:r>
              <a:rPr lang="zh-CN" altLang="en-US"/>
              <a:t>要求小目标 </a:t>
            </a:r>
            <a:r>
              <a:rPr lang="en-US" altLang="zh-CN"/>
              <a:t>AP </a:t>
            </a:r>
            <a:r>
              <a:rPr lang="zh-CN" altLang="en-US"/>
              <a:t>至少提升一个点，并用三个 </a:t>
            </a:r>
            <a:r>
              <a:rPr lang="en-US" altLang="zh-CN"/>
              <a:t>seed </a:t>
            </a:r>
            <a:r>
              <a:rPr lang="zh-CN" altLang="en-US"/>
              <a:t>证明不是随机波动。</a:t>
            </a:r>
            <a:r>
              <a:rPr lang="en-US" altLang="zh-CN"/>
              <a:t>P2 </a:t>
            </a:r>
            <a:r>
              <a:rPr lang="zh-CN" altLang="en-US"/>
              <a:t>可以扫描面积阈值和放宽幅度，画出参数曲线，或者扩展到 </a:t>
            </a:r>
            <a:r>
              <a:rPr lang="en-US" altLang="zh-CN"/>
              <a:t>seg </a:t>
            </a:r>
            <a:r>
              <a:rPr lang="zh-CN" altLang="en-US"/>
              <a:t>和 </a:t>
            </a:r>
            <a:r>
              <a:rPr lang="en-US" altLang="zh-CN"/>
              <a:t>pose。</a:t>
            </a:r>
            <a:r>
              <a:rPr lang="zh-CN" altLang="en-US"/>
              <a:t>训练不稳定时采用 </a:t>
            </a:r>
            <a:r>
              <a:rPr lang="en-US" altLang="zh-CN"/>
              <a:t>warmup </a:t>
            </a:r>
            <a:r>
              <a:rPr lang="zh-CN" altLang="en-US"/>
              <a:t>式渐进放宽。除了最终 </a:t>
            </a:r>
            <a:r>
              <a:rPr lang="en-US" altLang="zh-CN"/>
              <a:t>AP，</a:t>
            </a:r>
            <a:r>
              <a:rPr lang="zh-CN" altLang="en-US"/>
              <a:t>还必须记录每个 </a:t>
            </a:r>
            <a:r>
              <a:rPr lang="en-US" altLang="zh-CN"/>
              <a:t>epoch </a:t>
            </a:r>
            <a:r>
              <a:rPr lang="zh-CN" altLang="en-US"/>
              <a:t>的小目标正样本数，因为这才是解释为什么涨点的关键证据。</a:t>
            </a:r>
            <a:endParaRPr lang="zh-CN" altLang="en-US"/>
          </a:p>
        </p:txBody>
      </p:sp>
      <p:sp>
        <p:nvSpPr>
          <p:cNvPr id="16" name="Slide Number Placeholder 3"/>
          <p:cNvSpPr>
            <a:spLocks noGrp="1"/>
          </p:cNvSpPr>
          <p:nvPr>
            <p:ph type="sldNum" idx="5"/>
          </p:nvPr>
        </p:nvSpPr>
        <p:spPr/>
        <p:txBody>
          <a:bodyPr/>
          <a:lstStyle/>
          <a:p>
            <a:pPr/>
            <a:endParaR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7" name=""/>
        <p:cNvGrpSpPr/>
        <p:nvPr/>
      </p:nvGrpSpPr>
      <p:grpSpPr>
        <a:xfrm>
          <a:off x="0" y="0"/>
          <a:ext cx="0" cy="0"/>
          <a:chOff x="0" y="0"/>
          <a:chExt cx="0" cy="0"/>
        </a:xfrm>
      </p:grpSpPr>
      <p:sp>
        <p:nvSpPr>
          <p:cNvPr id="18" name="Slide Image Placeholder 1"/>
          <p:cNvSpPr>
            <a:spLocks noGrp="1"/>
          </p:cNvSpPr>
          <p:nvPr>
            <p:ph type="sldImg"/>
          </p:nvPr>
        </p:nvSpPr>
        <p:spPr/>
        <p:txBody>
          <a:bodyPr/>
          <a:p/>
        </p:txBody>
      </p:sp>
      <p:sp>
        <p:nvSpPr>
          <p:cNvPr id="19" name="Notes Placeholder 2"/>
          <p:cNvSpPr>
            <a:spLocks noGrp="1"/>
          </p:cNvSpPr>
          <p:nvPr>
            <p:ph type="body" idx="1"/>
          </p:nvPr>
        </p:nvSpPr>
        <p:spPr/>
        <p:txBody>
          <a:bodyPr/>
          <a:lstStyle/>
          <a:p>
            <a:pPr/>
            <a:r>
              <a:rPr/>
              <a:t>[Sources]</a:t>
            </a:r>
            <a:endParaRPr/>
          </a:p>
          <a:p>
            <a:pPr/>
            <a:r>
              <a:rPr/>
              <a:t>- https://github.com/Tencent/YOLO-Master/blob/main/ultralytics/nn/modules/routing_protocol.py</a:t>
            </a:r>
            <a:endParaRPr/>
          </a:p>
          <a:p>
            <a:pPr/>
            <a:r>
              <a:rPr/>
              <a:t>- https://github.com/Tencent/YOLO-Master/blob/main/ultralytics/utils/export_preflight.py</a:t>
            </a:r>
            <a:endParaRPr/>
          </a:p>
          <a:p>
            <a:pPr/>
            <a:r>
              <a:rPr/>
              <a:t>- </a:t>
            </a:r>
            <a:r>
              <a:rPr>
                <a:hlinkClick r:id="rId2" action="ppaction://hlinkfile"/>
              </a:rPr>
              <a:t>https://github.com/Tencent/YOLO-Master/blob/main/ultralytics/utils/export_validation.py</a:t>
            </a:r>
            <a:br>
              <a:rPr/>
            </a:br>
            <a:br>
              <a:rPr/>
            </a:br>
            <a:r>
              <a:rPr lang="en-US" altLang="zh-CN"/>
              <a:t>A3 </a:t>
            </a:r>
            <a:r>
              <a:rPr lang="zh-CN" altLang="en-US"/>
              <a:t>要研究的是 </a:t>
            </a:r>
            <a:r>
              <a:rPr lang="en-US" altLang="zh-CN"/>
              <a:t>GPU </a:t>
            </a:r>
            <a:r>
              <a:rPr lang="zh-CN" altLang="en-US"/>
              <a:t>代码看起来稀疏，但导出到 </a:t>
            </a:r>
            <a:r>
              <a:rPr lang="en-US" altLang="zh-CN"/>
              <a:t>ONNX、TensorRT </a:t>
            </a:r>
            <a:r>
              <a:rPr lang="zh-CN" altLang="en-US"/>
              <a:t>或 </a:t>
            </a:r>
            <a:r>
              <a:rPr lang="en-US" altLang="zh-CN"/>
              <a:t>INT8 </a:t>
            </a:r>
            <a:r>
              <a:rPr lang="zh-CN" altLang="en-US"/>
              <a:t>以后是否仍然稀疏。当前导出路径可能使用 </a:t>
            </a:r>
            <a:r>
              <a:rPr lang="en-US" altLang="zh-CN"/>
              <a:t>dense fallback，</a:t>
            </a:r>
            <a:r>
              <a:rPr lang="zh-CN" altLang="en-US"/>
              <a:t>所以不能只报告导出成功，还要测清语义和计算是否改变。</a:t>
            </a:r>
            <a:r>
              <a:rPr lang="en-US" altLang="zh-CN"/>
              <a:t>P0 </a:t>
            </a:r>
            <a:r>
              <a:rPr lang="zh-CN" altLang="en-US"/>
              <a:t>复用现有 </a:t>
            </a:r>
            <a:r>
              <a:rPr lang="en-US" altLang="zh-CN"/>
              <a:t>preflight </a:t>
            </a:r>
            <a:r>
              <a:rPr lang="zh-CN" altLang="en-US"/>
              <a:t>和 </a:t>
            </a:r>
            <a:r>
              <a:rPr lang="en-US" altLang="zh-CN"/>
              <a:t>validation，</a:t>
            </a:r>
            <a:r>
              <a:rPr lang="zh-CN" altLang="en-US"/>
              <a:t>跑通 </a:t>
            </a:r>
            <a:r>
              <a:rPr lang="en-US" altLang="zh-CN"/>
              <a:t>detect </a:t>
            </a:r>
            <a:r>
              <a:rPr lang="zh-CN" altLang="en-US"/>
              <a:t>加 </a:t>
            </a:r>
            <a:r>
              <a:rPr lang="en-US" altLang="zh-CN"/>
              <a:t>ES-MoE </a:t>
            </a:r>
            <a:r>
              <a:rPr lang="zh-CN" altLang="en-US"/>
              <a:t>或 </a:t>
            </a:r>
            <a:r>
              <a:rPr lang="en-US" altLang="zh-CN"/>
              <a:t>MoT </a:t>
            </a:r>
            <a:r>
              <a:rPr lang="zh-CN" altLang="en-US"/>
              <a:t>的 </a:t>
            </a:r>
            <a:r>
              <a:rPr lang="en-US" altLang="zh-CN"/>
              <a:t>ONNX、TensorRT FP16，</a:t>
            </a:r>
            <a:r>
              <a:rPr lang="zh-CN" altLang="en-US"/>
              <a:t>并校准导出前后精度。</a:t>
            </a:r>
            <a:r>
              <a:rPr lang="en-US" altLang="zh-CN"/>
              <a:t>P1 </a:t>
            </a:r>
            <a:r>
              <a:rPr lang="zh-CN" altLang="en-US"/>
              <a:t>至少完成两类路由模块的 </a:t>
            </a:r>
            <a:r>
              <a:rPr lang="en-US" altLang="zh-CN"/>
              <a:t>INT8 PTQ，</a:t>
            </a:r>
            <a:r>
              <a:rPr lang="zh-CN" altLang="en-US"/>
              <a:t>比较精度、时延和模型体积。</a:t>
            </a:r>
            <a:r>
              <a:rPr lang="en-US" altLang="zh-CN"/>
              <a:t>P2 </a:t>
            </a:r>
            <a:r>
              <a:rPr lang="zh-CN" altLang="en-US"/>
              <a:t>分析 </a:t>
            </a:r>
            <a:r>
              <a:rPr lang="en-US" altLang="zh-CN"/>
              <a:t>FP32 </a:t>
            </a:r>
            <a:r>
              <a:rPr lang="zh-CN" altLang="en-US"/>
              <a:t>与 </a:t>
            </a:r>
            <a:r>
              <a:rPr lang="en-US" altLang="zh-CN"/>
              <a:t>INT8 </a:t>
            </a:r>
            <a:r>
              <a:rPr lang="zh-CN" altLang="en-US"/>
              <a:t>的专家选择一致率，并尝试 </a:t>
            </a:r>
            <a:r>
              <a:rPr lang="en-US" altLang="zh-CN"/>
              <a:t>QAT。</a:t>
            </a:r>
            <a:r>
              <a:rPr lang="zh-CN" altLang="en-US"/>
              <a:t>即使某个后端不支持稀疏语义，也不算失败；只要诚实记录 </a:t>
            </a:r>
            <a:r>
              <a:rPr lang="en-US" altLang="zh-CN"/>
              <a:t>dense fallback </a:t>
            </a:r>
            <a:r>
              <a:rPr lang="zh-CN" altLang="en-US"/>
              <a:t>带来的精度和计算差，就是有价值的结果。</a:t>
            </a:r>
            <a:endParaRPr lang="zh-CN" altLang="en-US"/>
          </a:p>
        </p:txBody>
      </p:sp>
      <p:sp>
        <p:nvSpPr>
          <p:cNvPr id="20" name="Slide Number Placeholder 3"/>
          <p:cNvSpPr>
            <a:spLocks noGrp="1"/>
          </p:cNvSpPr>
          <p:nvPr>
            <p:ph type="sldNum" idx="5"/>
          </p:nvPr>
        </p:nvSpPr>
        <p:spPr/>
        <p:txBody>
          <a:bodyPr/>
          <a:lstStyle/>
          <a:p>
            <a:pPr/>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21" name=""/>
        <p:cNvGrpSpPr/>
        <p:nvPr/>
      </p:nvGrpSpPr>
      <p:grpSpPr>
        <a:xfrm>
          <a:off x="0" y="0"/>
          <a:ext cx="0" cy="0"/>
          <a:chOff x="0" y="0"/>
          <a:chExt cx="0" cy="0"/>
        </a:xfrm>
      </p:grpSpPr>
      <p:sp>
        <p:nvSpPr>
          <p:cNvPr id="22" name="Slide Image Placeholder 1"/>
          <p:cNvSpPr>
            <a:spLocks noGrp="1"/>
          </p:cNvSpPr>
          <p:nvPr>
            <p:ph type="sldImg"/>
          </p:nvPr>
        </p:nvSpPr>
        <p:spPr/>
        <p:txBody>
          <a:bodyPr/>
          <a:p/>
        </p:txBody>
      </p:sp>
      <p:sp>
        <p:nvSpPr>
          <p:cNvPr id="23"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endParaRPr/>
          </a:p>
          <a:p>
            <a:pPr/>
            <a:r>
              <a:rPr/>
              <a:t>- 章节背景复用封面生成主视觉。 </a:t>
            </a:r>
            <a:br>
              <a:rPr/>
            </a:br>
            <a:br>
              <a:rPr/>
            </a:br>
            <a:r>
              <a:rPr lang="zh-CN" altLang="en-US"/>
              <a:t>主题 </a:t>
            </a:r>
            <a:r>
              <a:rPr lang="en-US" altLang="zh-CN"/>
              <a:t>B </a:t>
            </a:r>
            <a:r>
              <a:rPr lang="zh-CN" altLang="en-US"/>
              <a:t>有两个方向：一个让文本参与专家路由，一个用 </a:t>
            </a:r>
            <a:r>
              <a:rPr lang="en-US" altLang="zh-CN"/>
              <a:t>Grounded-SAM 2 </a:t>
            </a:r>
            <a:r>
              <a:rPr lang="zh-CN" altLang="en-US"/>
              <a:t>自动制造 </a:t>
            </a:r>
            <a:r>
              <a:rPr lang="en-US" altLang="zh-CN"/>
              <a:t>detect </a:t>
            </a:r>
            <a:r>
              <a:rPr lang="zh-CN" altLang="en-US"/>
              <a:t>和 </a:t>
            </a:r>
            <a:r>
              <a:rPr lang="en-US" altLang="zh-CN"/>
              <a:t>seg </a:t>
            </a:r>
            <a:r>
              <a:rPr lang="zh-CN" altLang="en-US"/>
              <a:t>数据。前者偏研究，后者偏数据工程。</a:t>
            </a:r>
            <a:endParaRPr lang="zh-CN" altLang="en-US"/>
          </a:p>
        </p:txBody>
      </p:sp>
      <p:sp>
        <p:nvSpPr>
          <p:cNvPr id="24" name="Slide Number Placeholder 3"/>
          <p:cNvSpPr>
            <a:spLocks noGrp="1"/>
          </p:cNvSpPr>
          <p:nvPr>
            <p:ph type="sldNum" idx="5"/>
          </p:nvPr>
        </p:nvSpPr>
        <p:spPr/>
        <p:txBody>
          <a:bodyPr/>
          <a:lstStyle/>
          <a:p>
            <a:pPr/>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25" name=""/>
        <p:cNvGrpSpPr/>
        <p:nvPr/>
      </p:nvGrpSpPr>
      <p:grpSpPr>
        <a:xfrm>
          <a:off x="0" y="0"/>
          <a:ext cx="0" cy="0"/>
          <a:chOff x="0" y="0"/>
          <a:chExt cx="0" cy="0"/>
        </a:xfrm>
      </p:grpSpPr>
      <p:sp>
        <p:nvSpPr>
          <p:cNvPr id="26" name="Slide Image Placeholder 1"/>
          <p:cNvSpPr>
            <a:spLocks noGrp="1"/>
          </p:cNvSpPr>
          <p:nvPr>
            <p:ph type="sldImg"/>
          </p:nvPr>
        </p:nvSpPr>
        <p:spPr/>
        <p:txBody>
          <a:bodyPr/>
          <a:p/>
        </p:txBody>
      </p:sp>
      <p:sp>
        <p:nvSpPr>
          <p:cNvPr id="27"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br>
              <a:rPr/>
            </a:br>
            <a:br>
              <a:rPr/>
            </a:br>
            <a:r>
              <a:rPr lang="en-US" altLang="zh-CN"/>
              <a:t>B1 </a:t>
            </a:r>
            <a:r>
              <a:rPr lang="zh-CN" altLang="en-US"/>
              <a:t>探索文本语义能否直接影响 </a:t>
            </a:r>
            <a:r>
              <a:rPr lang="en-US" altLang="zh-CN"/>
              <a:t>MoT </a:t>
            </a:r>
            <a:r>
              <a:rPr lang="zh-CN" altLang="en-US"/>
              <a:t>或 </a:t>
            </a:r>
            <a:r>
              <a:rPr lang="en-US" altLang="zh-CN"/>
              <a:t>TaskRouter </a:t>
            </a:r>
            <a:r>
              <a:rPr lang="zh-CN" altLang="en-US"/>
              <a:t>的专家选择。</a:t>
            </a:r>
            <a:br>
              <a:rPr lang="zh-CN" altLang="en-US"/>
            </a:br>
            <a:r>
              <a:rPr lang="en-US" altLang="zh-CN"/>
              <a:t>P0 </a:t>
            </a:r>
            <a:r>
              <a:rPr lang="zh-CN" altLang="en-US"/>
              <a:t>先冻结 </a:t>
            </a:r>
            <a:r>
              <a:rPr lang="en-US" altLang="zh-CN"/>
              <a:t>CLIP </a:t>
            </a:r>
            <a:r>
              <a:rPr lang="zh-CN" altLang="en-US"/>
              <a:t>文本编码器，把类别名嵌入与 </a:t>
            </a:r>
            <a:r>
              <a:rPr lang="en-US" altLang="zh-CN"/>
              <a:t>YOLO-Master </a:t>
            </a:r>
            <a:r>
              <a:rPr lang="zh-CN" altLang="en-US"/>
              <a:t>视觉特征做最简对齐。</a:t>
            </a:r>
            <a:r>
              <a:rPr lang="en-US" altLang="zh-CN"/>
              <a:t>P1 </a:t>
            </a:r>
            <a:r>
              <a:rPr lang="zh-CN" altLang="en-US"/>
              <a:t>实现视觉加文本的双条件路由，在 </a:t>
            </a:r>
            <a:r>
              <a:rPr lang="en-US" altLang="zh-CN"/>
              <a:t>COCO base </a:t>
            </a:r>
            <a:r>
              <a:rPr lang="zh-CN" altLang="en-US"/>
              <a:t>和 </a:t>
            </a:r>
            <a:r>
              <a:rPr lang="en-US" altLang="zh-CN"/>
              <a:t>new </a:t>
            </a:r>
            <a:r>
              <a:rPr lang="zh-CN" altLang="en-US"/>
              <a:t>类别划分上取得非随机的新类 </a:t>
            </a:r>
            <a:r>
              <a:rPr lang="en-US" altLang="zh-CN"/>
              <a:t>zero-shot AP。</a:t>
            </a:r>
            <a:br>
              <a:rPr lang="en-US" altLang="zh-CN"/>
            </a:br>
            <a:r>
              <a:rPr lang="en-US" altLang="zh-CN"/>
              <a:t>P2 </a:t>
            </a:r>
            <a:r>
              <a:rPr lang="zh-CN" altLang="en-US"/>
              <a:t>再比较不同投影维度、不同路由融合方式，并分析文本语义到专家偏好的映射。这个题最容易踩的坑，是新增的辅助损失没有注册到 </a:t>
            </a:r>
            <a:r>
              <a:rPr lang="en-US" altLang="zh-CN"/>
              <a:t>collect_aux_loss </a:t>
            </a:r>
            <a:r>
              <a:rPr lang="zh-CN" altLang="en-US"/>
              <a:t>白名单，训练曲线上看起来正常，实际上路由监督根本没有生效。若整体精度不理想，可以降级为路由可解释性研究，但仍然要有统计证据。</a:t>
            </a:r>
            <a:endParaRPr lang="zh-CN" altLang="en-US"/>
          </a:p>
        </p:txBody>
      </p:sp>
      <p:sp>
        <p:nvSpPr>
          <p:cNvPr id="28" name="Slide Number Placeholder 3"/>
          <p:cNvSpPr>
            <a:spLocks noGrp="1"/>
          </p:cNvSpPr>
          <p:nvPr>
            <p:ph type="sldNum" idx="5"/>
          </p:nvPr>
        </p:nvSpPr>
        <p:spPr/>
        <p:txBody>
          <a:bodyPr/>
          <a:lstStyle/>
          <a:p>
            <a:pPr/>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29" name=""/>
        <p:cNvGrpSpPr/>
        <p:nvPr/>
      </p:nvGrpSpPr>
      <p:grpSpPr>
        <a:xfrm>
          <a:off x="0" y="0"/>
          <a:ext cx="0" cy="0"/>
          <a:chOff x="0" y="0"/>
          <a:chExt cx="0" cy="0"/>
        </a:xfrm>
      </p:grpSpPr>
      <p:sp>
        <p:nvSpPr>
          <p:cNvPr id="30" name="Slide Image Placeholder 1"/>
          <p:cNvSpPr>
            <a:spLocks noGrp="1"/>
          </p:cNvSpPr>
          <p:nvPr>
            <p:ph type="sldImg"/>
          </p:nvPr>
        </p:nvSpPr>
        <p:spPr/>
        <p:txBody>
          <a:bodyPr/>
          <a:p/>
        </p:txBody>
      </p:sp>
      <p:sp>
        <p:nvSpPr>
          <p:cNvPr id="31"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br>
              <a:rPr/>
            </a:br>
            <a:r>
              <a:rPr lang="en-US" altLang="zh-CN"/>
              <a:t>B2 </a:t>
            </a:r>
            <a:r>
              <a:rPr lang="zh-CN" altLang="en-US"/>
              <a:t>的目标是用 </a:t>
            </a:r>
            <a:r>
              <a:rPr lang="en-US" altLang="zh-CN"/>
              <a:t>Grounding DINO </a:t>
            </a:r>
            <a:r>
              <a:rPr lang="zh-CN" altLang="en-US"/>
              <a:t>加 </a:t>
            </a:r>
            <a:r>
              <a:rPr lang="en-US" altLang="zh-CN"/>
              <a:t>SAM 2，</a:t>
            </a:r>
            <a:r>
              <a:rPr lang="zh-CN" altLang="en-US"/>
              <a:t>为一个新的真实场景自动生成框和实例 </a:t>
            </a:r>
            <a:r>
              <a:rPr lang="en-US" altLang="zh-CN"/>
              <a:t>mask，</a:t>
            </a:r>
            <a:r>
              <a:rPr lang="zh-CN" altLang="en-US"/>
              <a:t>然后量化自动标注相对人工标注到底打几折。</a:t>
            </a:r>
            <a:r>
              <a:rPr lang="en-US" altLang="zh-CN"/>
              <a:t>P0 </a:t>
            </a:r>
            <a:r>
              <a:rPr lang="zh-CN" altLang="en-US"/>
              <a:t>至少完成两千张图的自动标注，并人工抽检三百张，统计 </a:t>
            </a:r>
            <a:r>
              <a:rPr lang="en-US" altLang="zh-CN"/>
              <a:t>IoU、</a:t>
            </a:r>
            <a:r>
              <a:rPr lang="zh-CN" altLang="en-US"/>
              <a:t>类别一致率和错误类型。</a:t>
            </a:r>
            <a:r>
              <a:rPr lang="en-US" altLang="zh-CN"/>
              <a:t>P1 </a:t>
            </a:r>
            <a:r>
              <a:rPr lang="zh-CN" altLang="en-US"/>
              <a:t>用自动标注数据训练 </a:t>
            </a:r>
            <a:r>
              <a:rPr lang="en-US" altLang="zh-CN"/>
              <a:t>detect </a:t>
            </a:r>
            <a:r>
              <a:rPr lang="zh-CN" altLang="en-US"/>
              <a:t>加 </a:t>
            </a:r>
            <a:r>
              <a:rPr lang="en-US" altLang="zh-CN"/>
              <a:t>seg </a:t>
            </a:r>
            <a:r>
              <a:rPr lang="zh-CN" altLang="en-US"/>
              <a:t>模型，与同规模人工标注或半人工修正版做对照，给出带置信区间的折扣系数。</a:t>
            </a:r>
            <a:r>
              <a:rPr lang="en-US" altLang="zh-CN"/>
              <a:t>P2 </a:t>
            </a:r>
            <a:r>
              <a:rPr lang="zh-CN" altLang="en-US"/>
              <a:t>进一步扫描人工修正比例，寻找成本和精度的拐点。场景建议选校园街景、共享单车或餐盘等容易采集、但又包含长尾和遮挡的方向。交付物不仅是模型，还包括数据集、转换工具和质量报告。</a:t>
            </a:r>
            <a:endParaRPr lang="zh-CN" altLang="en-US"/>
          </a:p>
        </p:txBody>
      </p:sp>
      <p:sp>
        <p:nvSpPr>
          <p:cNvPr id="32" name="Slide Number Placeholder 3"/>
          <p:cNvSpPr>
            <a:spLocks noGrp="1"/>
          </p:cNvSpPr>
          <p:nvPr>
            <p:ph type="sldNum" idx="5"/>
          </p:nvPr>
        </p:nvSpPr>
        <p:spPr/>
        <p:txBody>
          <a:bodyPr/>
          <a:lstStyle/>
          <a:p>
            <a:pPr/>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33" name=""/>
        <p:cNvGrpSpPr/>
        <p:nvPr/>
      </p:nvGrpSpPr>
      <p:grpSpPr>
        <a:xfrm>
          <a:off x="0" y="0"/>
          <a:ext cx="0" cy="0"/>
          <a:chOff x="0" y="0"/>
          <a:chExt cx="0" cy="0"/>
        </a:xfrm>
      </p:grpSpPr>
      <p:sp>
        <p:nvSpPr>
          <p:cNvPr id="34" name="Slide Image Placeholder 1"/>
          <p:cNvSpPr>
            <a:spLocks noGrp="1"/>
          </p:cNvSpPr>
          <p:nvPr>
            <p:ph type="sldImg"/>
          </p:nvPr>
        </p:nvSpPr>
        <p:spPr/>
        <p:txBody>
          <a:bodyPr/>
          <a:p/>
        </p:txBody>
      </p:sp>
      <p:sp>
        <p:nvSpPr>
          <p:cNvPr id="35"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endParaRPr/>
          </a:p>
          <a:p>
            <a:pPr/>
            <a:r>
              <a:rPr/>
              <a:t>- 章节背景复用封面生成主视觉。 </a:t>
            </a:r>
            <a:br>
              <a:rPr/>
            </a:br>
            <a:r>
              <a:rPr lang="zh-CN" altLang="en-US"/>
              <a:t>主题 </a:t>
            </a:r>
            <a:r>
              <a:rPr lang="en-US" altLang="zh-CN"/>
              <a:t>C </a:t>
            </a:r>
            <a:r>
              <a:rPr lang="zh-CN" altLang="en-US"/>
              <a:t>用真实榜单和真实行业数据驱动交付，包括 </a:t>
            </a:r>
            <a:r>
              <a:rPr lang="en-US" altLang="zh-CN"/>
              <a:t>VisDrone </a:t>
            </a:r>
            <a:r>
              <a:rPr lang="zh-CN" altLang="en-US"/>
              <a:t>小目标擂台、统一 </a:t>
            </a:r>
            <a:r>
              <a:rPr lang="en-US" altLang="zh-CN"/>
              <a:t>OBB </a:t>
            </a:r>
            <a:r>
              <a:rPr lang="zh-CN" altLang="en-US"/>
              <a:t>分支，以及工业缺陷的 </a:t>
            </a:r>
            <a:r>
              <a:rPr lang="en-US" altLang="zh-CN"/>
              <a:t>V-PEFT </a:t>
            </a:r>
            <a:r>
              <a:rPr lang="zh-CN" altLang="en-US"/>
              <a:t>微调。</a:t>
            </a:r>
            <a:endParaRPr lang="zh-CN" altLang="en-US"/>
          </a:p>
        </p:txBody>
      </p:sp>
      <p:sp>
        <p:nvSpPr>
          <p:cNvPr id="36" name="Slide Number Placeholder 3"/>
          <p:cNvSpPr>
            <a:spLocks noGrp="1"/>
          </p:cNvSpPr>
          <p:nvPr>
            <p:ph type="sldNum" idx="5"/>
          </p:nvPr>
        </p:nvSpPr>
        <p:spPr/>
        <p:txBody>
          <a:bodyPr/>
          <a:lstStyle/>
          <a:p>
            <a:pPr/>
            <a:endParaR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37" name=""/>
        <p:cNvGrpSpPr/>
        <p:nvPr/>
      </p:nvGrpSpPr>
      <p:grpSpPr>
        <a:xfrm>
          <a:off x="0" y="0"/>
          <a:ext cx="0" cy="0"/>
          <a:chOff x="0" y="0"/>
          <a:chExt cx="0" cy="0"/>
        </a:xfrm>
      </p:grpSpPr>
      <p:sp>
        <p:nvSpPr>
          <p:cNvPr id="38" name="Slide Image Placeholder 1"/>
          <p:cNvSpPr>
            <a:spLocks noGrp="1"/>
          </p:cNvSpPr>
          <p:nvPr>
            <p:ph type="sldImg"/>
          </p:nvPr>
        </p:nvSpPr>
        <p:spPr/>
        <p:txBody>
          <a:bodyPr/>
          <a:p/>
        </p:txBody>
      </p:sp>
      <p:sp>
        <p:nvSpPr>
          <p:cNvPr id="39"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https://github.com/Tencent/YOLO-Master/blob/main/README.md</a:t>
            </a:r>
            <a:br>
              <a:rPr/>
            </a:br>
            <a:r>
              <a:rPr lang="en-US" altLang="zh-CN"/>
              <a:t>C1 </a:t>
            </a:r>
            <a:r>
              <a:rPr lang="zh-CN" altLang="en-US"/>
              <a:t>的核心不是无限调参，而是建立公平竞赛。同一个 </a:t>
            </a:r>
            <a:r>
              <a:rPr lang="en-US" altLang="zh-CN"/>
              <a:t>VisDrone </a:t>
            </a:r>
            <a:r>
              <a:rPr lang="zh-CN" altLang="en-US"/>
              <a:t>数据、相同 </a:t>
            </a:r>
            <a:r>
              <a:rPr lang="en-US" altLang="zh-CN"/>
              <a:t>epoch、</a:t>
            </a:r>
            <a:r>
              <a:rPr lang="zh-CN" altLang="en-US"/>
              <a:t>相同增广，并以 </a:t>
            </a:r>
            <a:r>
              <a:rPr lang="en-US" altLang="zh-CN"/>
              <a:t>README </a:t>
            </a:r>
            <a:r>
              <a:rPr lang="zh-CN" altLang="en-US"/>
              <a:t>的 </a:t>
            </a:r>
            <a:r>
              <a:rPr lang="en-US" altLang="zh-CN"/>
              <a:t>ES-MoE-N </a:t>
            </a:r>
            <a:r>
              <a:rPr lang="zh-CN" altLang="en-US"/>
              <a:t>参数量和计算量作为预算锚。不同组可以选择 </a:t>
            </a:r>
            <a:r>
              <a:rPr lang="en-US" altLang="zh-CN"/>
              <a:t>ES-MoE、STAL、</a:t>
            </a:r>
            <a:r>
              <a:rPr lang="zh-CN" altLang="en-US"/>
              <a:t>高分辨率检测头或 </a:t>
            </a:r>
            <a:r>
              <a:rPr lang="en-US" altLang="zh-CN"/>
              <a:t>Latent MoE。</a:t>
            </a:r>
            <a:br>
              <a:rPr lang="en-US" altLang="zh-CN"/>
            </a:br>
            <a:r>
              <a:rPr lang="en-US" altLang="zh-CN"/>
              <a:t>P0 </a:t>
            </a:r>
            <a:r>
              <a:rPr lang="zh-CN" altLang="en-US"/>
              <a:t>是每组提交可复现的配置和完整结果，榜单每周更新。</a:t>
            </a:r>
            <a:br>
              <a:rPr lang="zh-CN" altLang="en-US"/>
            </a:br>
            <a:r>
              <a:rPr lang="en-US" altLang="zh-CN"/>
              <a:t>P1 </a:t>
            </a:r>
            <a:r>
              <a:rPr lang="zh-CN" altLang="en-US"/>
              <a:t>对前三名进行多 </a:t>
            </a:r>
            <a:r>
              <a:rPr lang="en-US" altLang="zh-CN"/>
              <a:t>seed </a:t>
            </a:r>
            <a:r>
              <a:rPr lang="zh-CN" altLang="en-US"/>
              <a:t>复核，只有均值领先且置信区间不重叠才算冠军。</a:t>
            </a:r>
            <a:br>
              <a:rPr lang="zh-CN" altLang="en-US"/>
            </a:br>
            <a:r>
              <a:rPr lang="en-US" altLang="zh-CN"/>
              <a:t>P2 </a:t>
            </a:r>
            <a:r>
              <a:rPr lang="zh-CN" altLang="en-US"/>
              <a:t>把冠军方案沉淀为官方 </a:t>
            </a:r>
            <a:r>
              <a:rPr lang="en-US" altLang="zh-CN"/>
              <a:t>tutorial </a:t>
            </a:r>
            <a:r>
              <a:rPr lang="zh-CN" altLang="en-US"/>
              <a:t>和配置。为了避免某组卡死，第四阶段允许一次转会，但原武器失败原因仍然要写入报告。</a:t>
            </a:r>
            <a:endParaRPr lang="zh-CN" altLang="en-US"/>
          </a:p>
        </p:txBody>
      </p:sp>
      <p:sp>
        <p:nvSpPr>
          <p:cNvPr id="40" name="Slide Number Placeholder 3"/>
          <p:cNvSpPr>
            <a:spLocks noGrp="1"/>
          </p:cNvSpPr>
          <p:nvPr>
            <p:ph type="sldNum" idx="5"/>
          </p:nvPr>
        </p:nvSpPr>
        <p:spPr/>
        <p:txBody>
          <a:bodyPr/>
          <a:lstStyle/>
          <a:p>
            <a:pPr/>
            <a:endParaR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41" name=""/>
        <p:cNvGrpSpPr/>
        <p:nvPr/>
      </p:nvGrpSpPr>
      <p:grpSpPr>
        <a:xfrm>
          <a:off x="0" y="0"/>
          <a:ext cx="0" cy="0"/>
          <a:chOff x="0" y="0"/>
          <a:chExt cx="0" cy="0"/>
        </a:xfrm>
      </p:grpSpPr>
      <p:sp>
        <p:nvSpPr>
          <p:cNvPr id="42" name="Slide Image Placeholder 1"/>
          <p:cNvSpPr>
            <a:spLocks noGrp="1"/>
          </p:cNvSpPr>
          <p:nvPr>
            <p:ph type="sldImg"/>
          </p:nvPr>
        </p:nvSpPr>
        <p:spPr/>
        <p:txBody>
          <a:bodyPr/>
          <a:p/>
        </p:txBody>
      </p:sp>
      <p:sp>
        <p:nvSpPr>
          <p:cNvPr id="43" name="Notes Placeholder 2"/>
          <p:cNvSpPr>
            <a:spLocks noGrp="1"/>
          </p:cNvSpPr>
          <p:nvPr>
            <p:ph type="body" idx="1"/>
          </p:nvPr>
        </p:nvSpPr>
        <p:spPr/>
        <p:txBody>
          <a:bodyPr/>
          <a:lstStyle/>
          <a:p>
            <a:pPr/>
            <a:r>
              <a:rPr/>
              <a:t>[Sources]</a:t>
            </a:r>
            <a:endParaRPr/>
          </a:p>
          <a:p>
            <a:pPr/>
            <a:r>
              <a:rPr/>
              <a:t>- https://github.com/Tencent/YOLO-Master/blob/main/README.md</a:t>
            </a:r>
            <a:endParaRPr/>
          </a:p>
          <a:p>
            <a:pPr/>
            <a:r>
              <a:rPr/>
              <a:t>- </a:t>
            </a:r>
            <a:r>
              <a:rPr>
                <a:hlinkClick r:id="rId2" action="ppaction://hlinkfile"/>
              </a:rPr>
              <a:t>https://github.com/Tencent/YOLO-Master/blob/main/ultralytics/nn/modules/multitask/head.py</a:t>
            </a:r>
            <a:br>
              <a:rPr/>
            </a:br>
            <a:r>
              <a:rPr lang="en-US" altLang="zh-CN"/>
              <a:t>C2 </a:t>
            </a:r>
            <a:r>
              <a:rPr lang="zh-CN" altLang="en-US"/>
              <a:t>需要先澄清一个事实：仓库并不是完全没有 </a:t>
            </a:r>
            <a:r>
              <a:rPr lang="en-US" altLang="zh-CN"/>
              <a:t>OBB，</a:t>
            </a:r>
            <a:r>
              <a:rPr lang="zh-CN" altLang="en-US"/>
              <a:t>而是已有独立 </a:t>
            </a:r>
            <a:r>
              <a:rPr lang="en-US" altLang="zh-CN"/>
              <a:t>OBB </a:t>
            </a:r>
            <a:r>
              <a:rPr lang="zh-CN" altLang="en-US"/>
              <a:t>能力，但在 </a:t>
            </a:r>
            <a:r>
              <a:rPr lang="en-US" altLang="zh-CN"/>
              <a:t>MultiTaskHead </a:t>
            </a:r>
            <a:r>
              <a:rPr lang="zh-CN" altLang="en-US"/>
              <a:t>中仍然只是 </a:t>
            </a:r>
            <a:r>
              <a:rPr lang="en-US" altLang="zh-CN"/>
              <a:t>compatibility-only。</a:t>
            </a:r>
            <a:br>
              <a:rPr lang="en-US" altLang="zh-CN"/>
            </a:br>
            <a:r>
              <a:rPr lang="en-US" altLang="zh-CN"/>
              <a:t>P0 </a:t>
            </a:r>
            <a:r>
              <a:rPr lang="zh-CN" altLang="en-US"/>
              <a:t>要复现独立 </a:t>
            </a:r>
            <a:r>
              <a:rPr lang="en-US" altLang="zh-CN"/>
              <a:t>OBB </a:t>
            </a:r>
            <a:r>
              <a:rPr lang="zh-CN" altLang="en-US"/>
              <a:t>基线，定位 </a:t>
            </a:r>
            <a:r>
              <a:rPr lang="en-US" altLang="zh-CN"/>
              <a:t>compatibility-only、</a:t>
            </a:r>
            <a:r>
              <a:rPr lang="zh-CN" altLang="en-US"/>
              <a:t>任务注册和 </a:t>
            </a:r>
            <a:r>
              <a:rPr lang="en-US" altLang="zh-CN"/>
              <a:t>set_active_tasks </a:t>
            </a:r>
            <a:r>
              <a:rPr lang="zh-CN" altLang="en-US"/>
              <a:t>的边界，形成设计文档。</a:t>
            </a:r>
            <a:br>
              <a:rPr lang="zh-CN" altLang="en-US"/>
            </a:br>
            <a:r>
              <a:rPr lang="en-US" altLang="zh-CN"/>
              <a:t>P1 </a:t>
            </a:r>
            <a:r>
              <a:rPr lang="zh-CN" altLang="en-US"/>
              <a:t>新增 </a:t>
            </a:r>
            <a:r>
              <a:rPr lang="en-US" altLang="zh-CN"/>
              <a:t>unified multitask OBB </a:t>
            </a:r>
            <a:r>
              <a:rPr lang="zh-CN" altLang="en-US"/>
              <a:t>训练分支，并在 </a:t>
            </a:r>
            <a:r>
              <a:rPr lang="en-US" altLang="zh-CN"/>
              <a:t>DOTA </a:t>
            </a:r>
            <a:r>
              <a:rPr lang="zh-CN" altLang="en-US"/>
              <a:t>或 </a:t>
            </a:r>
            <a:r>
              <a:rPr lang="en-US" altLang="zh-CN"/>
              <a:t>HRSC </a:t>
            </a:r>
            <a:r>
              <a:rPr lang="zh-CN" altLang="en-US"/>
              <a:t>上获得非随机、训练曲线健康的 </a:t>
            </a:r>
            <a:r>
              <a:rPr lang="en-US" altLang="zh-CN"/>
              <a:t>mAP。P2 </a:t>
            </a:r>
            <a:r>
              <a:rPr lang="zh-CN" altLang="en-US"/>
              <a:t>再尝试与 </a:t>
            </a:r>
            <a:r>
              <a:rPr lang="en-US" altLang="zh-CN"/>
              <a:t>detect、seg、pose </a:t>
            </a:r>
            <a:r>
              <a:rPr lang="zh-CN" altLang="en-US"/>
              <a:t>联合训练，或者组合 </a:t>
            </a:r>
            <a:r>
              <a:rPr lang="en-US" altLang="zh-CN"/>
              <a:t>MoE。</a:t>
            </a:r>
            <a:br>
              <a:rPr lang="en-US" altLang="zh-CN"/>
            </a:br>
            <a:r>
              <a:rPr lang="zh-CN" altLang="en-US"/>
              <a:t>最大风险在 </a:t>
            </a:r>
            <a:r>
              <a:rPr lang="en-US" altLang="zh-CN"/>
              <a:t>DOTA </a:t>
            </a:r>
            <a:r>
              <a:rPr lang="zh-CN" altLang="en-US"/>
              <a:t>裁剪和旋转框转换，因此可以先用 </a:t>
            </a:r>
            <a:r>
              <a:rPr lang="en-US" altLang="zh-CN"/>
              <a:t>HRSC </a:t>
            </a:r>
            <a:r>
              <a:rPr lang="zh-CN" altLang="en-US"/>
              <a:t>或单类子集。验收时必须把独立 </a:t>
            </a:r>
            <a:r>
              <a:rPr lang="en-US" altLang="zh-CN"/>
              <a:t>OBB </a:t>
            </a:r>
            <a:r>
              <a:rPr lang="zh-CN" altLang="en-US"/>
              <a:t>和统一分支按同一口径对照，不能只展示一个孤立数字。</a:t>
            </a:r>
            <a:endParaRPr lang="zh-CN" altLang="en-US"/>
          </a:p>
        </p:txBody>
      </p:sp>
      <p:sp>
        <p:nvSpPr>
          <p:cNvPr id="44" name="Slide Number Placeholder 3"/>
          <p:cNvSpPr>
            <a:spLocks noGrp="1"/>
          </p:cNvSpPr>
          <p:nvPr>
            <p:ph type="sldNum" idx="5"/>
          </p:nvPr>
        </p:nvSpPr>
        <p:spPr/>
        <p:txBody>
          <a:bodyPr/>
          <a:lstStyle/>
          <a:p>
            <a:pPr/>
            <a:endParaR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45" name=""/>
        <p:cNvGrpSpPr/>
        <p:nvPr/>
      </p:nvGrpSpPr>
      <p:grpSpPr>
        <a:xfrm>
          <a:off x="0" y="0"/>
          <a:ext cx="0" cy="0"/>
          <a:chOff x="0" y="0"/>
          <a:chExt cx="0" cy="0"/>
        </a:xfrm>
      </p:grpSpPr>
      <p:sp>
        <p:nvSpPr>
          <p:cNvPr id="46" name="Slide Image Placeholder 1"/>
          <p:cNvSpPr>
            <a:spLocks noGrp="1"/>
          </p:cNvSpPr>
          <p:nvPr>
            <p:ph type="sldImg"/>
          </p:nvPr>
        </p:nvSpPr>
        <p:spPr/>
        <p:txBody>
          <a:bodyPr/>
          <a:p/>
        </p:txBody>
      </p:sp>
      <p:sp>
        <p:nvSpPr>
          <p:cNvPr id="47" name="Notes Placeholder 2"/>
          <p:cNvSpPr>
            <a:spLocks noGrp="1"/>
          </p:cNvSpPr>
          <p:nvPr>
            <p:ph type="body" idx="1"/>
          </p:nvPr>
        </p:nvSpPr>
        <p:spPr/>
        <p:txBody>
          <a:bodyPr/>
          <a:lstStyle/>
          <a:p>
            <a:pPr/>
            <a:r>
              <a:rPr/>
              <a:t>[Sources]</a:t>
            </a:r>
            <a:endParaRPr/>
          </a:p>
          <a:p>
            <a:pPr/>
            <a:r>
              <a:rPr/>
              <a:t>- https://github.com/Tencent/YOLO-Master/blob/main/ultralytics/vpeft/solver.py</a:t>
            </a:r>
            <a:endParaRPr/>
          </a:p>
          <a:p>
            <a:pPr/>
            <a:r>
              <a:rPr/>
              <a:t>- </a:t>
            </a:r>
            <a:r>
              <a:rPr>
                <a:hlinkClick r:id="rId2" action="ppaction://hlinkfile"/>
              </a:rPr>
              <a:t>https://github.com/Tencent/YOLO-Master/blob/main/ultralytics/utils/lora/planner.py</a:t>
            </a:r>
            <a:br>
              <a:rPr/>
            </a:br>
            <a:r>
              <a:rPr lang="en-US" altLang="zh-CN"/>
              <a:t>C3 </a:t>
            </a:r>
            <a:r>
              <a:rPr lang="zh-CN" altLang="en-US"/>
              <a:t>要展示 </a:t>
            </a:r>
            <a:r>
              <a:rPr lang="en-US" altLang="zh-CN"/>
              <a:t>YOLO-Master </a:t>
            </a:r>
            <a:r>
              <a:rPr lang="zh-CN" altLang="en-US"/>
              <a:t>的 </a:t>
            </a:r>
            <a:r>
              <a:rPr lang="en-US" altLang="zh-CN"/>
              <a:t>V-PEFT </a:t>
            </a:r>
            <a:r>
              <a:rPr lang="zh-CN" altLang="en-US"/>
              <a:t>和 </a:t>
            </a:r>
            <a:r>
              <a:rPr lang="en-US" altLang="zh-CN"/>
              <a:t>PEFTPlanner </a:t>
            </a:r>
            <a:r>
              <a:rPr lang="zh-CN" altLang="en-US"/>
              <a:t>在小样本工业场景中的价值。</a:t>
            </a:r>
            <a:br>
              <a:rPr lang="zh-CN" altLang="en-US"/>
            </a:br>
            <a:r>
              <a:rPr lang="zh-CN" altLang="en-US"/>
              <a:t>建议选 </a:t>
            </a:r>
            <a:r>
              <a:rPr lang="en-US" altLang="zh-CN"/>
              <a:t>DeepPCB </a:t>
            </a:r>
            <a:r>
              <a:rPr lang="zh-CN" altLang="en-US"/>
              <a:t>和 </a:t>
            </a:r>
            <a:r>
              <a:rPr lang="en-US" altLang="zh-CN"/>
              <a:t>NEU-DET </a:t>
            </a:r>
            <a:r>
              <a:rPr lang="zh-CN" altLang="en-US"/>
              <a:t>两个公开数据集。</a:t>
            </a:r>
            <a:br>
              <a:rPr lang="zh-CN" altLang="en-US"/>
            </a:br>
            <a:r>
              <a:rPr lang="en-US" altLang="zh-CN"/>
              <a:t>P0 </a:t>
            </a:r>
            <a:r>
              <a:rPr lang="zh-CN" altLang="en-US"/>
              <a:t>跑通 </a:t>
            </a:r>
            <a:r>
              <a:rPr lang="en-US" altLang="zh-CN"/>
              <a:t>V-PEFT </a:t>
            </a:r>
            <a:r>
              <a:rPr lang="zh-CN" altLang="en-US"/>
              <a:t>全流程，并记录 </a:t>
            </a:r>
            <a:r>
              <a:rPr lang="en-US" altLang="zh-CN"/>
              <a:t>AO、DCO、MIPR </a:t>
            </a:r>
            <a:r>
              <a:rPr lang="zh-CN" altLang="en-US"/>
              <a:t>等求解器选择、预算、目标模块和 </a:t>
            </a:r>
            <a:r>
              <a:rPr lang="en-US" altLang="zh-CN"/>
              <a:t>LOVO </a:t>
            </a:r>
            <a:r>
              <a:rPr lang="zh-CN" altLang="en-US"/>
              <a:t>预测。</a:t>
            </a:r>
            <a:br>
              <a:rPr lang="zh-CN" altLang="en-US"/>
            </a:br>
            <a:r>
              <a:rPr lang="en-US" altLang="zh-CN"/>
              <a:t>P1 </a:t>
            </a:r>
            <a:r>
              <a:rPr lang="zh-CN" altLang="en-US"/>
              <a:t>比较 </a:t>
            </a:r>
            <a:r>
              <a:rPr lang="en-US" altLang="zh-CN"/>
              <a:t>PEFT、</a:t>
            </a:r>
            <a:r>
              <a:rPr lang="zh-CN" altLang="en-US"/>
              <a:t>全量微调以及冻结主干只训检测头，统一记录精度、可训练参数、显存和时长。</a:t>
            </a:r>
            <a:br>
              <a:rPr lang="zh-CN" altLang="en-US"/>
            </a:br>
            <a:r>
              <a:rPr lang="en-US" altLang="zh-CN"/>
              <a:t>P2 </a:t>
            </a:r>
            <a:r>
              <a:rPr lang="zh-CN" altLang="en-US"/>
              <a:t>绘制十、五十、一百和五百张样本下的小样本曲线，或者发现并修复 </a:t>
            </a:r>
            <a:r>
              <a:rPr lang="en-US" altLang="zh-CN"/>
              <a:t>planner </a:t>
            </a:r>
            <a:r>
              <a:rPr lang="zh-CN" altLang="en-US"/>
              <a:t>的真实问题。</a:t>
            </a:r>
            <a:br>
              <a:rPr lang="zh-CN" altLang="en-US"/>
            </a:br>
            <a:r>
              <a:rPr lang="zh-CN" altLang="en-US"/>
              <a:t>若 </a:t>
            </a:r>
            <a:r>
              <a:rPr lang="en-US" altLang="zh-CN"/>
              <a:t>MIPR </a:t>
            </a:r>
            <a:r>
              <a:rPr lang="zh-CN" altLang="en-US"/>
              <a:t>缺少 </a:t>
            </a:r>
            <a:r>
              <a:rPr lang="en-US" altLang="zh-CN"/>
              <a:t>OR-Tools，</a:t>
            </a:r>
            <a:r>
              <a:rPr lang="zh-CN" altLang="en-US"/>
              <a:t>就按仓库提示切换 </a:t>
            </a:r>
            <a:r>
              <a:rPr lang="en-US" altLang="zh-CN"/>
              <a:t>AO，</a:t>
            </a:r>
            <a:r>
              <a:rPr lang="zh-CN" altLang="en-US"/>
              <a:t>并把 </a:t>
            </a:r>
            <a:r>
              <a:rPr lang="en-US" altLang="zh-CN"/>
              <a:t>solver fallback </a:t>
            </a:r>
            <a:r>
              <a:rPr lang="zh-CN" altLang="en-US"/>
              <a:t>作为正式日志，而不是静默跳过。</a:t>
            </a:r>
            <a:endParaRPr lang="zh-CN" altLang="en-US"/>
          </a:p>
        </p:txBody>
      </p:sp>
      <p:sp>
        <p:nvSpPr>
          <p:cNvPr id="48" name="Slide Number Placeholder 3"/>
          <p:cNvSpPr>
            <a:spLocks noGrp="1"/>
          </p:cNvSpPr>
          <p:nvPr>
            <p:ph type="sldNum" idx="5"/>
          </p:nvPr>
        </p:nvSpPr>
        <p:spPr/>
        <p:txBody>
          <a:bodyPr/>
          <a:lstStyle/>
          <a:p>
            <a:pPr/>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49" name=""/>
        <p:cNvGrpSpPr/>
        <p:nvPr/>
      </p:nvGrpSpPr>
      <p:grpSpPr>
        <a:xfrm>
          <a:off x="0" y="0"/>
          <a:ext cx="0" cy="0"/>
          <a:chOff x="0" y="0"/>
          <a:chExt cx="0" cy="0"/>
        </a:xfrm>
      </p:grpSpPr>
      <p:sp>
        <p:nvSpPr>
          <p:cNvPr id="50" name="Slide Image Placeholder 1"/>
          <p:cNvSpPr>
            <a:spLocks noGrp="1"/>
          </p:cNvSpPr>
          <p:nvPr>
            <p:ph type="sldImg"/>
          </p:nvPr>
        </p:nvSpPr>
        <p:spPr/>
        <p:txBody>
          <a:bodyPr/>
          <a:p/>
        </p:txBody>
      </p:sp>
      <p:sp>
        <p:nvSpPr>
          <p:cNvPr id="51"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https://github.com/Tencent/YOLO-Master/blob/main/ultralytics/nn/foundation_distill_model.py</a:t>
            </a:r>
            <a:br>
              <a:rPr/>
            </a:br>
            <a:br>
              <a:rPr/>
            </a:br>
            <a:r>
              <a:rPr lang="zh-CN" altLang="en-US"/>
              <a:t>主题 </a:t>
            </a:r>
            <a:r>
              <a:rPr lang="en-US" altLang="zh-CN"/>
              <a:t>D </a:t>
            </a:r>
            <a:r>
              <a:rPr lang="zh-CN" altLang="en-US"/>
              <a:t>不从零搭建基础模型，而是复用仓库现有 </a:t>
            </a:r>
            <a:r>
              <a:rPr lang="en-US" altLang="zh-CN"/>
              <a:t>foundation stack，</a:t>
            </a:r>
            <a:r>
              <a:rPr lang="zh-CN" altLang="en-US"/>
              <a:t>分别研究冻结特征适配、蒸馏能力复核和路由知识蒸馏。</a:t>
            </a:r>
            <a:endParaRPr lang="zh-CN" altLang="en-US"/>
          </a:p>
        </p:txBody>
      </p:sp>
      <p:sp>
        <p:nvSpPr>
          <p:cNvPr id="52" name="Slide Number Placeholder 3"/>
          <p:cNvSpPr>
            <a:spLocks noGrp="1"/>
          </p:cNvSpPr>
          <p:nvPr>
            <p:ph type="sldNum" idx="5"/>
          </p:nvPr>
        </p:nvSpPr>
        <p:spPr/>
        <p:txBody>
          <a:bodyPr/>
          <a:lstStyle/>
          <a:p>
            <a:pPr/>
            <a:endParaR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53" name=""/>
        <p:cNvGrpSpPr/>
        <p:nvPr/>
      </p:nvGrpSpPr>
      <p:grpSpPr>
        <a:xfrm>
          <a:off x="0" y="0"/>
          <a:ext cx="0" cy="0"/>
          <a:chOff x="0" y="0"/>
          <a:chExt cx="0" cy="0"/>
        </a:xfrm>
      </p:grpSpPr>
      <p:sp>
        <p:nvSpPr>
          <p:cNvPr id="54" name="Slide Image Placeholder 1"/>
          <p:cNvSpPr>
            <a:spLocks noGrp="1"/>
          </p:cNvSpPr>
          <p:nvPr>
            <p:ph type="sldImg"/>
          </p:nvPr>
        </p:nvSpPr>
        <p:spPr/>
        <p:txBody>
          <a:bodyPr/>
          <a:p/>
        </p:txBody>
      </p:sp>
      <p:sp>
        <p:nvSpPr>
          <p:cNvPr id="55" name="Notes Placeholder 2"/>
          <p:cNvSpPr>
            <a:spLocks noGrp="1"/>
          </p:cNvSpPr>
          <p:nvPr>
            <p:ph type="body" idx="1"/>
          </p:nvPr>
        </p:nvSpPr>
        <p:spPr/>
        <p:txBody>
          <a:bodyPr/>
          <a:lstStyle/>
          <a:p>
            <a:pPr/>
            <a:r>
              <a:rPr/>
              <a:t>[Sources]</a:t>
            </a:r>
            <a:endParaRPr/>
          </a:p>
          <a:p>
            <a:pPr/>
            <a:r>
              <a:rPr/>
              <a:t>- https://github.com/Tencent/YOLO-Master/tree/main/ultralytics/nn/foundation</a:t>
            </a:r>
            <a:endParaRPr/>
          </a:p>
          <a:p>
            <a:pPr/>
            <a:r>
              <a:rPr/>
              <a:t>- https://github.com/Tencent/YOLO-Master/blob/main/ultralytics/nn/modules/latent_mixture.py</a:t>
            </a:r>
            <a:endParaRPr/>
          </a:p>
          <a:p>
            <a:pPr/>
            <a:r>
              <a:rPr/>
              <a:t>- </a:t>
            </a:r>
            <a:r>
              <a:rPr>
                <a:hlinkClick r:id="rId2" action="ppaction://hlinkfile"/>
              </a:rPr>
              <a:t>https://github.com/Tencent/YOLO-Master/blob/main/ultralytics/nn/modules/routing_protocol.py</a:t>
            </a:r>
            <a:br>
              <a:rPr/>
            </a:br>
            <a:br>
              <a:rPr/>
            </a:br>
            <a:r>
              <a:rPr lang="en-US" altLang="zh-CN"/>
              <a:t>D1 </a:t>
            </a:r>
            <a:r>
              <a:rPr lang="zh-CN" altLang="en-US"/>
              <a:t>要回答的是：不微调 </a:t>
            </a:r>
            <a:r>
              <a:rPr lang="en-US" altLang="zh-CN"/>
              <a:t>foundation backbone，</a:t>
            </a:r>
            <a:r>
              <a:rPr lang="zh-CN" altLang="en-US"/>
              <a:t>只训练 </a:t>
            </a:r>
            <a:r>
              <a:rPr lang="en-US" altLang="zh-CN"/>
              <a:t>LatentMixture </a:t>
            </a:r>
            <a:r>
              <a:rPr lang="zh-CN" altLang="en-US"/>
              <a:t>适配层和检测头，能够保留多少精度，又能节省多少 </a:t>
            </a:r>
            <a:r>
              <a:rPr lang="en-US" altLang="zh-CN"/>
              <a:t>GPU </a:t>
            </a:r>
            <a:r>
              <a:rPr lang="zh-CN" altLang="en-US"/>
              <a:t>时间。</a:t>
            </a:r>
            <a:br>
              <a:rPr lang="zh-CN" altLang="en-US"/>
            </a:br>
            <a:r>
              <a:rPr lang="en-US" altLang="zh-CN"/>
              <a:t>P0 </a:t>
            </a:r>
            <a:r>
              <a:rPr lang="zh-CN" altLang="en-US"/>
              <a:t>复用 </a:t>
            </a:r>
            <a:r>
              <a:rPr lang="en-US" altLang="zh-CN"/>
              <a:t>DINOv3 teacher adapter </a:t>
            </a:r>
            <a:r>
              <a:rPr lang="zh-CN" altLang="en-US"/>
              <a:t>抽取特征，接入 </a:t>
            </a:r>
            <a:r>
              <a:rPr lang="en-US" altLang="zh-CN"/>
              <a:t>LatentMixture </a:t>
            </a:r>
            <a:r>
              <a:rPr lang="zh-CN" altLang="en-US"/>
              <a:t>和检测头，跑通训练评测。</a:t>
            </a:r>
            <a:br>
              <a:rPr lang="zh-CN" altLang="en-US"/>
            </a:br>
            <a:r>
              <a:rPr lang="en-US" altLang="zh-CN"/>
              <a:t>P1 </a:t>
            </a:r>
            <a:r>
              <a:rPr lang="zh-CN" altLang="en-US"/>
              <a:t>与同参数量、从零训练的检测器，在至少两个数据集上比较精度、显存和时长。</a:t>
            </a:r>
            <a:br>
              <a:rPr lang="zh-CN" altLang="en-US"/>
            </a:br>
            <a:r>
              <a:rPr lang="en-US" altLang="zh-CN"/>
              <a:t>P2 </a:t>
            </a:r>
            <a:r>
              <a:rPr lang="zh-CN" altLang="en-US"/>
              <a:t>显式注册 </a:t>
            </a:r>
            <a:r>
              <a:rPr lang="en-US" altLang="zh-CN"/>
              <a:t>latent </a:t>
            </a:r>
            <a:r>
              <a:rPr lang="zh-CN" altLang="en-US"/>
              <a:t>辅助损失，扫描 </a:t>
            </a:r>
            <a:r>
              <a:rPr lang="en-US" altLang="zh-CN"/>
              <a:t>balance </a:t>
            </a:r>
            <a:r>
              <a:rPr lang="zh-CN" altLang="en-US"/>
              <a:t>或 </a:t>
            </a:r>
            <a:r>
              <a:rPr lang="en-US" altLang="zh-CN"/>
              <a:t>z-loss，</a:t>
            </a:r>
            <a:r>
              <a:rPr lang="zh-CN" altLang="en-US"/>
              <a:t>或者比较 </a:t>
            </a:r>
            <a:r>
              <a:rPr lang="en-US" altLang="zh-CN"/>
              <a:t>DINOv3 </a:t>
            </a:r>
            <a:r>
              <a:rPr lang="zh-CN" altLang="en-US"/>
              <a:t>与 </a:t>
            </a:r>
            <a:r>
              <a:rPr lang="en-US" altLang="zh-CN"/>
              <a:t>SigLIP2。</a:t>
            </a:r>
            <a:br>
              <a:rPr lang="en-US" altLang="zh-CN"/>
            </a:br>
            <a:r>
              <a:rPr lang="zh-CN" altLang="en-US"/>
              <a:t>验收至少要在一个数据集上给出明确的精度保留比例，并证明 </a:t>
            </a:r>
            <a:r>
              <a:rPr lang="en-US" altLang="zh-CN"/>
              <a:t>GPU </a:t>
            </a:r>
            <a:r>
              <a:rPr lang="zh-CN" altLang="en-US"/>
              <a:t>时间降低百分之五十以上。缓存开销过大时，先降到 </a:t>
            </a:r>
            <a:r>
              <a:rPr lang="en-US" altLang="zh-CN"/>
              <a:t>COCO-mini </a:t>
            </a:r>
            <a:r>
              <a:rPr lang="zh-CN" altLang="en-US"/>
              <a:t>或 </a:t>
            </a:r>
            <a:r>
              <a:rPr lang="en-US" altLang="zh-CN"/>
              <a:t>VisDrone </a:t>
            </a:r>
            <a:r>
              <a:rPr lang="zh-CN" altLang="en-US"/>
              <a:t>子集。</a:t>
            </a:r>
            <a:endParaRPr lang="zh-CN" altLang="en-US"/>
          </a:p>
        </p:txBody>
      </p:sp>
      <p:sp>
        <p:nvSpPr>
          <p:cNvPr id="56" name="Slide Number Placeholder 3"/>
          <p:cNvSpPr>
            <a:spLocks noGrp="1"/>
          </p:cNvSpPr>
          <p:nvPr>
            <p:ph type="sldNum" idx="5"/>
          </p:nvPr>
        </p:nvSpPr>
        <p:spPr/>
        <p:txBody>
          <a:bodyPr/>
          <a:lstStyle/>
          <a:p>
            <a:pPr/>
            <a:endParaR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57" name=""/>
        <p:cNvGrpSpPr/>
        <p:nvPr/>
      </p:nvGrpSpPr>
      <p:grpSpPr>
        <a:xfrm>
          <a:off x="0" y="0"/>
          <a:ext cx="0" cy="0"/>
          <a:chOff x="0" y="0"/>
          <a:chExt cx="0" cy="0"/>
        </a:xfrm>
      </p:grpSpPr>
      <p:sp>
        <p:nvSpPr>
          <p:cNvPr id="58" name="Slide Image Placeholder 1"/>
          <p:cNvSpPr>
            <a:spLocks noGrp="1"/>
          </p:cNvSpPr>
          <p:nvPr>
            <p:ph type="sldImg"/>
          </p:nvPr>
        </p:nvSpPr>
        <p:spPr/>
        <p:txBody>
          <a:bodyPr/>
          <a:p/>
        </p:txBody>
      </p:sp>
      <p:sp>
        <p:nvSpPr>
          <p:cNvPr id="59"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https://github.com/Tencent/YOLO-Master/blob/main/ultralytics/nn/foundation_distill_model.py</a:t>
            </a:r>
            <a:br>
              <a:rPr/>
            </a:br>
            <a:r>
              <a:rPr lang="en-US" altLang="zh-CN"/>
              <a:t>D2 </a:t>
            </a:r>
            <a:r>
              <a:rPr lang="zh-CN" altLang="en-US"/>
              <a:t>的任务是把仓库已经实现的 </a:t>
            </a:r>
            <a:r>
              <a:rPr lang="en-US" altLang="zh-CN"/>
              <a:t>DINOv3、SigLIP2、</a:t>
            </a:r>
            <a:r>
              <a:rPr lang="zh-CN" altLang="en-US"/>
              <a:t>多尺度、语义和路由蒸馏能力，跑出可信结论。第一步不是写新代码，而是建立配置、代码和测试的能力地图。</a:t>
            </a:r>
            <a:br>
              <a:rPr lang="zh-CN" altLang="en-US"/>
            </a:br>
            <a:r>
              <a:rPr lang="en-US" altLang="zh-CN"/>
              <a:t>P0 </a:t>
            </a:r>
            <a:r>
              <a:rPr lang="zh-CN" altLang="en-US"/>
              <a:t>跑通当前 </a:t>
            </a:r>
            <a:r>
              <a:rPr lang="en-US" altLang="zh-CN"/>
              <a:t>foundation distill </a:t>
            </a:r>
            <a:r>
              <a:rPr lang="zh-CN" altLang="en-US"/>
              <a:t>路径，核对 </a:t>
            </a:r>
            <a:r>
              <a:rPr lang="en-US" altLang="zh-CN"/>
              <a:t>teacher、</a:t>
            </a:r>
            <a:r>
              <a:rPr lang="zh-CN" altLang="en-US"/>
              <a:t>特征 </a:t>
            </a:r>
            <a:r>
              <a:rPr lang="en-US" altLang="zh-CN"/>
              <a:t>tap、projector、loss </a:t>
            </a:r>
            <a:r>
              <a:rPr lang="zh-CN" altLang="en-US"/>
              <a:t>和日志。</a:t>
            </a:r>
            <a:br>
              <a:rPr lang="zh-CN" altLang="en-US"/>
            </a:br>
            <a:r>
              <a:rPr lang="en-US" altLang="zh-CN"/>
              <a:t>P1 </a:t>
            </a:r>
            <a:r>
              <a:rPr lang="zh-CN" altLang="en-US"/>
              <a:t>选择 </a:t>
            </a:r>
            <a:r>
              <a:rPr lang="en-US" altLang="zh-CN"/>
              <a:t>teacher </a:t>
            </a:r>
            <a:r>
              <a:rPr lang="zh-CN" altLang="en-US"/>
              <a:t>类型或者 </a:t>
            </a:r>
            <a:r>
              <a:rPr lang="en-US" altLang="zh-CN"/>
              <a:t>P4 </a:t>
            </a:r>
            <a:r>
              <a:rPr lang="zh-CN" altLang="en-US"/>
              <a:t>与 </a:t>
            </a:r>
            <a:r>
              <a:rPr lang="en-US" altLang="zh-CN"/>
              <a:t>multiscale </a:t>
            </a:r>
            <a:r>
              <a:rPr lang="zh-CN" altLang="en-US"/>
              <a:t>形成二乘二矩阵，至少完成三个格子，并保证预算和增广一致。</a:t>
            </a:r>
            <a:r>
              <a:rPr lang="en-US" altLang="zh-CN"/>
              <a:t>P2 </a:t>
            </a:r>
            <a:r>
              <a:rPr lang="zh-CN" altLang="en-US"/>
              <a:t>可以扩展 </a:t>
            </a:r>
            <a:r>
              <a:rPr lang="en-US" altLang="zh-CN"/>
              <a:t>semantic </a:t>
            </a:r>
            <a:r>
              <a:rPr lang="zh-CN" altLang="en-US"/>
              <a:t>或 </a:t>
            </a:r>
            <a:r>
              <a:rPr lang="en-US" altLang="zh-CN"/>
              <a:t>multi-teacher，</a:t>
            </a:r>
            <a:r>
              <a:rPr lang="zh-CN" altLang="en-US"/>
              <a:t>或者提交配置和测试修复。组合太多时锁定 </a:t>
            </a:r>
            <a:r>
              <a:rPr lang="en-US" altLang="zh-CN"/>
              <a:t>DINOv3 </a:t>
            </a:r>
            <a:r>
              <a:rPr lang="zh-CN" altLang="en-US"/>
              <a:t>的 </a:t>
            </a:r>
            <a:r>
              <a:rPr lang="en-US" altLang="zh-CN"/>
              <a:t>P4 </a:t>
            </a:r>
            <a:r>
              <a:rPr lang="zh-CN" altLang="en-US"/>
              <a:t>单教师。若多 </a:t>
            </a:r>
            <a:r>
              <a:rPr lang="en-US" altLang="zh-CN"/>
              <a:t>seed </a:t>
            </a:r>
            <a:r>
              <a:rPr lang="zh-CN" altLang="en-US"/>
              <a:t>下变化小于零点三 </a:t>
            </a:r>
            <a:r>
              <a:rPr lang="en-US" altLang="zh-CN"/>
              <a:t>mAP </a:t>
            </a:r>
            <a:r>
              <a:rPr lang="zh-CN" altLang="en-US"/>
              <a:t>且置信区间包含零，就明确给出 </a:t>
            </a:r>
            <a:r>
              <a:rPr lang="en-US" altLang="zh-CN"/>
              <a:t>no-go，</a:t>
            </a:r>
            <a:r>
              <a:rPr lang="zh-CN" altLang="en-US"/>
              <a:t>而不是强行解释成有效。</a:t>
            </a:r>
            <a:endParaRPr lang="zh-CN" altLang="en-US"/>
          </a:p>
        </p:txBody>
      </p:sp>
      <p:sp>
        <p:nvSpPr>
          <p:cNvPr id="60" name="Slide Number Placeholder 3"/>
          <p:cNvSpPr>
            <a:spLocks noGrp="1"/>
          </p:cNvSpPr>
          <p:nvPr>
            <p:ph type="sldNum" idx="5"/>
          </p:nvPr>
        </p:nvSpPr>
        <p:spPr/>
        <p:txBody>
          <a:bodyPr/>
          <a:lstStyle/>
          <a:p>
            <a:pPr/>
            <a:endParaR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61" name=""/>
        <p:cNvGrpSpPr/>
        <p:nvPr/>
      </p:nvGrpSpPr>
      <p:grpSpPr>
        <a:xfrm>
          <a:off x="0" y="0"/>
          <a:ext cx="0" cy="0"/>
          <a:chOff x="0" y="0"/>
          <a:chExt cx="0" cy="0"/>
        </a:xfrm>
      </p:grpSpPr>
      <p:sp>
        <p:nvSpPr>
          <p:cNvPr id="62" name="Slide Image Placeholder 1"/>
          <p:cNvSpPr>
            <a:spLocks noGrp="1"/>
          </p:cNvSpPr>
          <p:nvPr>
            <p:ph type="sldImg"/>
          </p:nvPr>
        </p:nvSpPr>
        <p:spPr/>
        <p:txBody>
          <a:bodyPr/>
          <a:p/>
        </p:txBody>
      </p:sp>
      <p:sp>
        <p:nvSpPr>
          <p:cNvPr id="63"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https://github.com/Tencent/YOLO-Master/blob/main/ultralytics/nn/foundation_distill_model.py</a:t>
            </a:r>
            <a:br>
              <a:rPr/>
            </a:br>
            <a:br>
              <a:rPr/>
            </a:br>
            <a:r>
              <a:rPr lang="en-US" altLang="zh-CN"/>
              <a:t>F11 </a:t>
            </a:r>
            <a:r>
              <a:rPr lang="zh-CN" altLang="en-US"/>
              <a:t>关注 </a:t>
            </a:r>
            <a:r>
              <a:rPr lang="en-US" altLang="zh-CN"/>
              <a:t>foundation teacher </a:t>
            </a:r>
            <a:r>
              <a:rPr lang="zh-CN" altLang="en-US"/>
              <a:t>对路由器的知识蒸馏。当前代码已经包含 </a:t>
            </a:r>
            <a:r>
              <a:rPr lang="en-US" altLang="zh-CN"/>
              <a:t>FoundationTeacherRouter </a:t>
            </a:r>
            <a:r>
              <a:rPr lang="zh-CN" altLang="en-US"/>
              <a:t>和 </a:t>
            </a:r>
            <a:r>
              <a:rPr lang="en-US" altLang="zh-CN"/>
              <a:t>routing KD，</a:t>
            </a:r>
            <a:r>
              <a:rPr lang="zh-CN" altLang="en-US"/>
              <a:t>因此目标是验证机制，而不是从零实现。</a:t>
            </a:r>
            <a:br>
              <a:rPr lang="zh-CN" altLang="en-US"/>
            </a:br>
            <a:r>
              <a:rPr lang="en-US" altLang="zh-CN"/>
              <a:t>P0 </a:t>
            </a:r>
            <a:r>
              <a:rPr lang="zh-CN" altLang="en-US"/>
              <a:t>跑通 </a:t>
            </a:r>
            <a:r>
              <a:rPr lang="en-US" altLang="zh-CN"/>
              <a:t>foundation router distill，</a:t>
            </a:r>
            <a:r>
              <a:rPr lang="zh-CN" altLang="en-US"/>
              <a:t>确认 </a:t>
            </a:r>
            <a:r>
              <a:rPr lang="en-US" altLang="zh-CN"/>
              <a:t>teacher router、</a:t>
            </a:r>
            <a:r>
              <a:rPr lang="zh-CN" altLang="en-US"/>
              <a:t>温度、损失权重和日志真实生效。</a:t>
            </a:r>
            <a:br>
              <a:rPr lang="zh-CN" altLang="en-US"/>
            </a:br>
            <a:r>
              <a:rPr lang="en-US" altLang="zh-CN"/>
              <a:t>P1 </a:t>
            </a:r>
            <a:r>
              <a:rPr lang="zh-CN" altLang="en-US"/>
              <a:t>做路由 </a:t>
            </a:r>
            <a:r>
              <a:rPr lang="en-US" altLang="zh-CN"/>
              <a:t>KD </a:t>
            </a:r>
            <a:r>
              <a:rPr lang="zh-CN" altLang="en-US"/>
              <a:t>开关的三 </a:t>
            </a:r>
            <a:r>
              <a:rPr lang="en-US" altLang="zh-CN"/>
              <a:t>seed </a:t>
            </a:r>
            <a:r>
              <a:rPr lang="zh-CN" altLang="en-US"/>
              <a:t>对照，同时报告 </a:t>
            </a:r>
            <a:r>
              <a:rPr lang="en-US" altLang="zh-CN"/>
              <a:t>mAP、</a:t>
            </a:r>
            <a:r>
              <a:rPr lang="zh-CN" altLang="en-US"/>
              <a:t>路由一致率、路由熵和专家负载。</a:t>
            </a:r>
            <a:br>
              <a:rPr lang="zh-CN" altLang="en-US"/>
            </a:br>
            <a:r>
              <a:rPr lang="en-US" altLang="zh-CN"/>
              <a:t>P2 </a:t>
            </a:r>
            <a:r>
              <a:rPr lang="zh-CN" altLang="en-US"/>
              <a:t>可以比较 </a:t>
            </a:r>
            <a:r>
              <a:rPr lang="en-US" altLang="zh-CN"/>
              <a:t>DINOv3 </a:t>
            </a:r>
            <a:r>
              <a:rPr lang="zh-CN" altLang="en-US"/>
              <a:t>与 </a:t>
            </a:r>
            <a:r>
              <a:rPr lang="en-US" altLang="zh-CN"/>
              <a:t>SigLIP2，</a:t>
            </a:r>
            <a:r>
              <a:rPr lang="zh-CN" altLang="en-US"/>
              <a:t>或者探索跨任务泛化。若任务精度不涨，也不能只报负结果；</a:t>
            </a:r>
            <a:br>
              <a:rPr lang="zh-CN" altLang="en-US"/>
            </a:br>
            <a:r>
              <a:rPr lang="zh-CN" altLang="en-US"/>
              <a:t>需要证明路由行为是否发生了变化，以及变化为什么没有转化为任务收益。扩展到 </a:t>
            </a:r>
            <a:r>
              <a:rPr lang="en-US" altLang="zh-CN"/>
              <a:t>MoT </a:t>
            </a:r>
            <a:r>
              <a:rPr lang="zh-CN" altLang="en-US"/>
              <a:t>或 </a:t>
            </a:r>
            <a:r>
              <a:rPr lang="en-US" altLang="zh-CN"/>
              <a:t>TaskRouter </a:t>
            </a:r>
            <a:r>
              <a:rPr lang="zh-CN" altLang="en-US"/>
              <a:t>属于新设计，必须单独标注。</a:t>
            </a:r>
            <a:endParaRPr lang="zh-CN" altLang="en-US"/>
          </a:p>
        </p:txBody>
      </p:sp>
      <p:sp>
        <p:nvSpPr>
          <p:cNvPr id="64" name="Slide Number Placeholder 3"/>
          <p:cNvSpPr>
            <a:spLocks noGrp="1"/>
          </p:cNvSpPr>
          <p:nvPr>
            <p:ph type="sldNum" idx="5"/>
          </p:nvPr>
        </p:nvSpPr>
        <p:spPr/>
        <p:txBody>
          <a:bodyPr/>
          <a:lstStyle/>
          <a:p>
            <a:pPr/>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65" name=""/>
        <p:cNvGrpSpPr/>
        <p:nvPr/>
      </p:nvGrpSpPr>
      <p:grpSpPr>
        <a:xfrm>
          <a:off x="0" y="0"/>
          <a:ext cx="0" cy="0"/>
          <a:chOff x="0" y="0"/>
          <a:chExt cx="0" cy="0"/>
        </a:xfrm>
      </p:grpSpPr>
      <p:sp>
        <p:nvSpPr>
          <p:cNvPr id="66" name="Slide Image Placeholder 1"/>
          <p:cNvSpPr>
            <a:spLocks noGrp="1"/>
          </p:cNvSpPr>
          <p:nvPr>
            <p:ph type="sldImg"/>
          </p:nvPr>
        </p:nvSpPr>
        <p:spPr/>
        <p:txBody>
          <a:bodyPr/>
          <a:p/>
        </p:txBody>
      </p:sp>
      <p:sp>
        <p:nvSpPr>
          <p:cNvPr id="67"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endParaRPr/>
          </a:p>
          <a:p>
            <a:pPr/>
            <a:r>
              <a:rPr/>
              <a:t>- 章节背景复用封面生成主视觉。 </a:t>
            </a:r>
            <a:endParaRPr/>
          </a:p>
        </p:txBody>
      </p:sp>
      <p:sp>
        <p:nvSpPr>
          <p:cNvPr id="68" name="Slide Number Placeholder 3"/>
          <p:cNvSpPr>
            <a:spLocks noGrp="1"/>
          </p:cNvSpPr>
          <p:nvPr>
            <p:ph type="sldNum" idx="5"/>
          </p:nvPr>
        </p:nvSpPr>
        <p:spPr/>
        <p:txBody>
          <a:bodyPr/>
          <a:lstStyle/>
          <a:p>
            <a:pPr/>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69" name=""/>
        <p:cNvGrpSpPr/>
        <p:nvPr/>
      </p:nvGrpSpPr>
      <p:grpSpPr>
        <a:xfrm>
          <a:off x="0" y="0"/>
          <a:ext cx="0" cy="0"/>
          <a:chOff x="0" y="0"/>
          <a:chExt cx="0" cy="0"/>
        </a:xfrm>
      </p:grpSpPr>
      <p:sp>
        <p:nvSpPr>
          <p:cNvPr id="70" name="Slide Image Placeholder 1"/>
          <p:cNvSpPr>
            <a:spLocks noGrp="1"/>
          </p:cNvSpPr>
          <p:nvPr>
            <p:ph type="sldImg"/>
          </p:nvPr>
        </p:nvSpPr>
        <p:spPr/>
        <p:txBody>
          <a:bodyPr/>
          <a:p/>
        </p:txBody>
      </p:sp>
      <p:sp>
        <p:nvSpPr>
          <p:cNvPr id="71"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https://github.com/Tencent/YOLO-Master/blob/main/README.md</a:t>
            </a:r>
            <a:br>
              <a:rPr/>
            </a:br>
            <a:r>
              <a:rPr lang="en-US" altLang="zh-CN"/>
              <a:t>E1 </a:t>
            </a:r>
            <a:r>
              <a:rPr lang="zh-CN" altLang="en-US"/>
              <a:t>要把社区中单 </a:t>
            </a:r>
            <a:r>
              <a:rPr lang="en-US" altLang="zh-CN"/>
              <a:t>seed </a:t>
            </a:r>
            <a:r>
              <a:rPr lang="zh-CN" altLang="en-US"/>
              <a:t>的‘民间涨点’做成官方、严谨、可复用的能力。</a:t>
            </a:r>
            <a:r>
              <a:rPr lang="en-US" altLang="zh-CN"/>
              <a:t>P0 </a:t>
            </a:r>
            <a:r>
              <a:rPr lang="zh-CN" altLang="en-US"/>
              <a:t>以 </a:t>
            </a:r>
            <a:r>
              <a:rPr lang="en-US" altLang="zh-CN"/>
              <a:t>README </a:t>
            </a:r>
            <a:r>
              <a:rPr lang="zh-CN" altLang="en-US"/>
              <a:t>的 </a:t>
            </a:r>
            <a:r>
              <a:rPr lang="en-US" altLang="zh-CN"/>
              <a:t>ES-MoE-N </a:t>
            </a:r>
            <a:r>
              <a:rPr lang="zh-CN" altLang="en-US"/>
              <a:t>数字为锚，在统一硬件和评测口径下做三个 </a:t>
            </a:r>
            <a:r>
              <a:rPr lang="en-US" altLang="zh-CN"/>
              <a:t>seed </a:t>
            </a:r>
            <a:r>
              <a:rPr lang="zh-CN" altLang="en-US"/>
              <a:t>的复核。</a:t>
            </a:r>
            <a:r>
              <a:rPr lang="en-US" altLang="zh-CN"/>
              <a:t>P1 </a:t>
            </a:r>
            <a:r>
              <a:rPr lang="zh-CN" altLang="en-US"/>
              <a:t>完成 </a:t>
            </a:r>
            <a:r>
              <a:rPr lang="en-US" altLang="zh-CN"/>
              <a:t>pip </a:t>
            </a:r>
            <a:r>
              <a:rPr lang="zh-CN" altLang="en-US"/>
              <a:t>或配置注入式插件，兼容 </a:t>
            </a:r>
            <a:r>
              <a:rPr lang="en-US" altLang="zh-CN"/>
              <a:t>YOLOv8、YOLO11 </a:t>
            </a:r>
            <a:r>
              <a:rPr lang="zh-CN" altLang="en-US"/>
              <a:t>和 </a:t>
            </a:r>
            <a:r>
              <a:rPr lang="en-US" altLang="zh-CN"/>
              <a:t>YOLOv12，</a:t>
            </a:r>
            <a:r>
              <a:rPr lang="zh-CN" altLang="en-US"/>
              <a:t>并提供 </a:t>
            </a:r>
            <a:r>
              <a:rPr lang="en-US" altLang="zh-CN"/>
              <a:t>README </a:t>
            </a:r>
            <a:r>
              <a:rPr lang="zh-CN" altLang="en-US"/>
              <a:t>与 </a:t>
            </a:r>
            <a:r>
              <a:rPr lang="en-US" altLang="zh-CN"/>
              <a:t>Colab。</a:t>
            </a:r>
            <a:r>
              <a:rPr lang="zh-CN" altLang="en-US"/>
              <a:t>插件化最大的难点不是打包，而是让宿主项目正确接收 </a:t>
            </a:r>
            <a:r>
              <a:rPr lang="en-US" altLang="zh-CN"/>
              <a:t>collect_aux_loss，</a:t>
            </a:r>
            <a:r>
              <a:rPr lang="zh-CN" altLang="en-US"/>
              <a:t>不能只把模块复制过去。</a:t>
            </a:r>
            <a:r>
              <a:rPr lang="en-US" altLang="zh-CN"/>
              <a:t>P2 </a:t>
            </a:r>
            <a:r>
              <a:rPr lang="zh-CN" altLang="en-US"/>
              <a:t>再发布 </a:t>
            </a:r>
            <a:r>
              <a:rPr lang="en-US" altLang="zh-CN"/>
              <a:t>PyPI </a:t>
            </a:r>
            <a:r>
              <a:rPr lang="zh-CN" altLang="en-US"/>
              <a:t>或独立包，产出中英文教程，并根据首轮社区反馈迭代。算力不足时，可以缩到两代和单主干，但必须明确局限。</a:t>
            </a:r>
            <a:endParaRPr lang="zh-CN" altLang="en-US"/>
          </a:p>
        </p:txBody>
      </p:sp>
      <p:sp>
        <p:nvSpPr>
          <p:cNvPr id="72" name="Slide Number Placeholder 3"/>
          <p:cNvSpPr>
            <a:spLocks noGrp="1"/>
          </p:cNvSpPr>
          <p:nvPr>
            <p:ph type="sldNum" idx="5"/>
          </p:nvPr>
        </p:nvSpPr>
        <p:spPr/>
        <p:txBody>
          <a:bodyPr/>
          <a:lstStyle/>
          <a:p>
            <a:pPr/>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73" name=""/>
        <p:cNvGrpSpPr/>
        <p:nvPr/>
      </p:nvGrpSpPr>
      <p:grpSpPr>
        <a:xfrm>
          <a:off x="0" y="0"/>
          <a:ext cx="0" cy="0"/>
          <a:chOff x="0" y="0"/>
          <a:chExt cx="0" cy="0"/>
        </a:xfrm>
      </p:grpSpPr>
      <p:sp>
        <p:nvSpPr>
          <p:cNvPr id="74" name="Slide Image Placeholder 1"/>
          <p:cNvSpPr>
            <a:spLocks noGrp="1"/>
          </p:cNvSpPr>
          <p:nvPr>
            <p:ph type="sldImg"/>
          </p:nvPr>
        </p:nvSpPr>
        <p:spPr/>
        <p:txBody>
          <a:bodyPr/>
          <a:p/>
        </p:txBody>
      </p:sp>
      <p:sp>
        <p:nvSpPr>
          <p:cNvPr id="75"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br>
              <a:rPr/>
            </a:br>
            <a:r>
              <a:rPr lang="en-US" altLang="zh-CN"/>
              <a:t>E2 </a:t>
            </a:r>
            <a:r>
              <a:rPr lang="zh-CN" altLang="en-US"/>
              <a:t>不是针对作者，而是针对不严谨的实验方法。我们要在固定 </a:t>
            </a:r>
            <a:r>
              <a:rPr lang="en-US" altLang="zh-CN"/>
              <a:t>seed、</a:t>
            </a:r>
            <a:r>
              <a:rPr lang="zh-CN" altLang="en-US"/>
              <a:t>统一预算、统一数据和增广下，复测注意力、特征融合、卷积变体以及 </a:t>
            </a:r>
            <a:r>
              <a:rPr lang="en-US" altLang="zh-CN"/>
              <a:t>ES-MoE。P0 </a:t>
            </a:r>
            <a:r>
              <a:rPr lang="zh-CN" altLang="en-US"/>
              <a:t>先搭建自动统计脚手架并完成三个模块。</a:t>
            </a:r>
            <a:r>
              <a:rPr lang="en-US" altLang="zh-CN"/>
              <a:t>P1 </a:t>
            </a:r>
            <a:r>
              <a:rPr lang="zh-CN" altLang="en-US"/>
              <a:t>扩展到六到八个模块，给出真涨、噪声级和需要更多证据三类结论。</a:t>
            </a:r>
            <a:r>
              <a:rPr lang="en-US" altLang="zh-CN"/>
              <a:t>P2 </a:t>
            </a:r>
            <a:r>
              <a:rPr lang="zh-CN" altLang="en-US"/>
              <a:t>增加同 </a:t>
            </a:r>
            <a:r>
              <a:rPr lang="en-US" altLang="zh-CN"/>
              <a:t>FLOPs </a:t>
            </a:r>
            <a:r>
              <a:rPr lang="zh-CN" altLang="en-US"/>
              <a:t>的预算公平对照并公开报告。报告里每一句‘显著提升’都必须附配对 </a:t>
            </a:r>
            <a:r>
              <a:rPr lang="en-US" altLang="zh-CN"/>
              <a:t>t </a:t>
            </a:r>
            <a:r>
              <a:rPr lang="zh-CN" altLang="en-US"/>
              <a:t>检验或者 </a:t>
            </a:r>
            <a:r>
              <a:rPr lang="en-US" altLang="zh-CN"/>
              <a:t>bootstrap </a:t>
            </a:r>
            <a:r>
              <a:rPr lang="zh-CN" altLang="en-US"/>
              <a:t>置信区间，并限定为‘在本次复现条件下’。优先选择有官方实现的模块，避免把大量时间耗在猜测不完整的社区代码上。</a:t>
            </a:r>
            <a:endParaRPr lang="zh-CN" altLang="en-US"/>
          </a:p>
        </p:txBody>
      </p:sp>
      <p:sp>
        <p:nvSpPr>
          <p:cNvPr id="76" name="Slide Number Placeholder 3"/>
          <p:cNvSpPr>
            <a:spLocks noGrp="1"/>
          </p:cNvSpPr>
          <p:nvPr>
            <p:ph type="sldNum" idx="5"/>
          </p:nvPr>
        </p:nvSpPr>
        <p:spPr/>
        <p:txBody>
          <a:bodyPr/>
          <a:lstStyle/>
          <a:p>
            <a:pPr/>
            <a:endParaR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77" name=""/>
        <p:cNvGrpSpPr/>
        <p:nvPr/>
      </p:nvGrpSpPr>
      <p:grpSpPr>
        <a:xfrm>
          <a:off x="0" y="0"/>
          <a:ext cx="0" cy="0"/>
          <a:chOff x="0" y="0"/>
          <a:chExt cx="0" cy="0"/>
        </a:xfrm>
      </p:grpSpPr>
      <p:sp>
        <p:nvSpPr>
          <p:cNvPr id="78" name="Slide Image Placeholder 1"/>
          <p:cNvSpPr>
            <a:spLocks noGrp="1"/>
          </p:cNvSpPr>
          <p:nvPr>
            <p:ph type="sldImg"/>
          </p:nvPr>
        </p:nvSpPr>
        <p:spPr/>
        <p:txBody>
          <a:bodyPr/>
          <a:p/>
        </p:txBody>
      </p:sp>
      <p:sp>
        <p:nvSpPr>
          <p:cNvPr id="79" name="Notes Placeholder 2"/>
          <p:cNvSpPr>
            <a:spLocks noGrp="1"/>
          </p:cNvSpPr>
          <p:nvPr>
            <p:ph type="body" idx="1"/>
          </p:nvPr>
        </p:nvSpPr>
        <p:spPr/>
        <p:txBody>
          <a:bodyPr/>
          <a:lstStyle/>
          <a:p>
            <a:pPr/>
            <a:r>
              <a:rPr/>
              <a:t>[Sources]</a:t>
            </a:r>
            <a:endParaRPr/>
          </a:p>
          <a:p>
            <a:pPr/>
            <a:r>
              <a:rPr/>
              <a:t>- https://github.com/Tencent/YOLO-Master/blob/main/ultralytics/nn/modules/moe/diagnostics.py</a:t>
            </a:r>
            <a:endParaRPr/>
          </a:p>
          <a:p>
            <a:pPr/>
            <a:r>
              <a:rPr/>
              <a:t>- https://github.com/Tencent/YOLO-Master/blob/main/ultralytics/utils/routing_interpreter.py</a:t>
            </a:r>
            <a:endParaRPr/>
          </a:p>
          <a:p>
            <a:pPr/>
            <a:r>
              <a:rPr/>
              <a:t>- </a:t>
            </a:r>
            <a:r>
              <a:rPr>
                <a:hlinkClick r:id="rId2" action="ppaction://hlinkfile"/>
              </a:rPr>
              <a:t>https://github.com/Tencent/YOLO-Master/blob/main/ultralytics/nn/modules/routing_protocol.py</a:t>
            </a:r>
            <a:br>
              <a:rPr/>
            </a:br>
            <a:r>
              <a:rPr lang="en-US" altLang="zh-CN"/>
              <a:t>E3 </a:t>
            </a:r>
            <a:r>
              <a:rPr lang="zh-CN" altLang="en-US"/>
              <a:t>不需要从零发明 </a:t>
            </a:r>
            <a:r>
              <a:rPr lang="en-US" altLang="zh-CN"/>
              <a:t>diagnostics，</a:t>
            </a:r>
            <a:r>
              <a:rPr lang="zh-CN" altLang="en-US"/>
              <a:t>而是把仓库已有的 </a:t>
            </a:r>
            <a:r>
              <a:rPr lang="en-US" altLang="zh-CN"/>
              <a:t>hooks、routing snapshot </a:t>
            </a:r>
            <a:r>
              <a:rPr lang="zh-CN" altLang="en-US"/>
              <a:t>和解释器扩展为统一 </a:t>
            </a:r>
            <a:r>
              <a:rPr lang="en-US" altLang="zh-CN"/>
              <a:t>schema。</a:t>
            </a:r>
            <a:br>
              <a:rPr lang="en-US" altLang="zh-CN"/>
            </a:br>
            <a:r>
              <a:rPr lang="en-US" altLang="zh-CN"/>
              <a:t>P0 </a:t>
            </a:r>
            <a:r>
              <a:rPr lang="zh-CN" altLang="en-US"/>
              <a:t>至少支持 </a:t>
            </a:r>
            <a:r>
              <a:rPr lang="en-US" altLang="zh-CN"/>
              <a:t>MoE、MoT </a:t>
            </a:r>
            <a:r>
              <a:rPr lang="zh-CN" altLang="en-US"/>
              <a:t>和 </a:t>
            </a:r>
            <a:r>
              <a:rPr lang="en-US" altLang="zh-CN"/>
              <a:t>Latent </a:t>
            </a:r>
            <a:r>
              <a:rPr lang="zh-CN" altLang="en-US"/>
              <a:t>的路由日志与静态图，采集专家负载、路由熵和混合权重，并明确提示 </a:t>
            </a:r>
            <a:r>
              <a:rPr lang="en-US" altLang="zh-CN"/>
              <a:t>latent aux </a:t>
            </a:r>
            <a:r>
              <a:rPr lang="zh-CN" altLang="en-US"/>
              <a:t>是否生效。</a:t>
            </a:r>
            <a:br>
              <a:rPr lang="zh-CN" altLang="en-US"/>
            </a:br>
            <a:r>
              <a:rPr lang="en-US" altLang="zh-CN"/>
              <a:t>P1 </a:t>
            </a:r>
            <a:r>
              <a:rPr lang="zh-CN" altLang="en-US"/>
              <a:t>接入 </a:t>
            </a:r>
            <a:r>
              <a:rPr lang="en-US" altLang="zh-CN"/>
              <a:t>TensorBoard、W&amp;B </a:t>
            </a:r>
            <a:r>
              <a:rPr lang="zh-CN" altLang="en-US"/>
              <a:t>或实时面板，要求至少覆盖三类路由模块，训练减速低于百分之十。</a:t>
            </a:r>
            <a:br>
              <a:rPr lang="zh-CN" altLang="en-US"/>
            </a:br>
            <a:r>
              <a:rPr lang="en-US" altLang="zh-CN"/>
              <a:t>P2 </a:t>
            </a:r>
            <a:r>
              <a:rPr lang="zh-CN" altLang="en-US"/>
              <a:t>做 </a:t>
            </a:r>
            <a:r>
              <a:rPr lang="en-US" altLang="zh-CN"/>
              <a:t>token </a:t>
            </a:r>
            <a:r>
              <a:rPr lang="zh-CN" altLang="en-US"/>
              <a:t>路由与原图空间区域的热图叠加，并产出两分钟演示。若五族字段无法一次统一，可以先交付三类，但必须把缺口写入 </a:t>
            </a:r>
            <a:r>
              <a:rPr lang="en-US" altLang="zh-CN"/>
              <a:t>schema </a:t>
            </a:r>
            <a:r>
              <a:rPr lang="zh-CN" altLang="en-US"/>
              <a:t>文档。这个工具会直接服务 </a:t>
            </a:r>
            <a:r>
              <a:rPr lang="en-US" altLang="zh-CN"/>
              <a:t>B1、D1、A3 </a:t>
            </a:r>
            <a:r>
              <a:rPr lang="zh-CN" altLang="en-US"/>
              <a:t>和新的 </a:t>
            </a:r>
            <a:r>
              <a:rPr lang="en-US" altLang="zh-CN"/>
              <a:t>WebUI。</a:t>
            </a:r>
            <a:endParaRPr lang="en-US" altLang="zh-CN"/>
          </a:p>
        </p:txBody>
      </p:sp>
      <p:sp>
        <p:nvSpPr>
          <p:cNvPr id="80" name="Slide Number Placeholder 3"/>
          <p:cNvSpPr>
            <a:spLocks noGrp="1"/>
          </p:cNvSpPr>
          <p:nvPr>
            <p:ph type="sldNum" idx="5"/>
          </p:nvPr>
        </p:nvSpPr>
        <p:spPr/>
        <p:txBody>
          <a:bodyPr/>
          <a:lstStyle/>
          <a:p>
            <a:pPr/>
            <a:endParaR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81" name=""/>
        <p:cNvGrpSpPr/>
        <p:nvPr/>
      </p:nvGrpSpPr>
      <p:grpSpPr>
        <a:xfrm>
          <a:off x="0" y="0"/>
          <a:ext cx="0" cy="0"/>
          <a:chOff x="0" y="0"/>
          <a:chExt cx="0" cy="0"/>
        </a:xfrm>
      </p:grpSpPr>
      <p:sp>
        <p:nvSpPr>
          <p:cNvPr id="82" name="Slide Image Placeholder 1"/>
          <p:cNvSpPr>
            <a:spLocks noGrp="1"/>
          </p:cNvSpPr>
          <p:nvPr>
            <p:ph type="sldImg"/>
          </p:nvPr>
        </p:nvSpPr>
        <p:spPr/>
        <p:txBody>
          <a:bodyPr/>
          <a:p/>
        </p:txBody>
      </p:sp>
      <p:sp>
        <p:nvSpPr>
          <p:cNvPr id="83" name="Notes Placeholder 2"/>
          <p:cNvSpPr>
            <a:spLocks noGrp="1"/>
          </p:cNvSpPr>
          <p:nvPr>
            <p:ph type="body" idx="1"/>
          </p:nvPr>
        </p:nvSpPr>
        <p:spPr/>
        <p:txBody>
          <a:bodyPr/>
          <a:lstStyle/>
          <a:p>
            <a:pPr/>
            <a:r>
              <a:rPr/>
              <a:t>[Sources]</a:t>
            </a:r>
            <a:endParaRPr/>
          </a:p>
          <a:p>
            <a:pPr/>
            <a:r>
              <a:rPr/>
              <a:t>- https://github.com/Tencent/YOLO-Master</a:t>
            </a:r>
            <a:endParaRPr/>
          </a:p>
          <a:p>
            <a:pPr/>
            <a:r>
              <a:rPr/>
              <a:t>- https://github.com/Tencent/YOLO-Master/blob/main/app.py</a:t>
            </a:r>
            <a:endParaRPr/>
          </a:p>
          <a:p>
            <a:pPr/>
            <a:r>
              <a:rPr/>
              <a:t>- </a:t>
            </a:r>
            <a:r>
              <a:rPr>
                <a:hlinkClick r:id="rId2" action="ppaction://hlinkfile"/>
              </a:rPr>
              <a:t>https://github.com/Tencent/YOLO-Master/blob/main/agent/SKILL.md</a:t>
            </a:r>
            <a:br>
              <a:rPr/>
            </a:br>
            <a:r>
              <a:rPr lang="zh-CN" altLang="en-US">
                <a:sym typeface="+mn-ea"/>
              </a:rPr>
              <a:t>主题 </a:t>
            </a:r>
            <a:r>
              <a:rPr lang="en-US" altLang="zh-CN">
                <a:sym typeface="+mn-ea"/>
              </a:rPr>
              <a:t>F </a:t>
            </a:r>
            <a:r>
              <a:rPr lang="zh-CN" altLang="en-US">
                <a:sym typeface="+mn-ea"/>
              </a:rPr>
              <a:t>共建一个训练、推理和部署一体化的 </a:t>
            </a:r>
            <a:r>
              <a:rPr lang="en-US" altLang="zh-CN">
                <a:sym typeface="+mn-ea"/>
              </a:rPr>
              <a:t>YOLO-Master Studio，</a:t>
            </a:r>
            <a:r>
              <a:rPr lang="zh-CN" altLang="en-US">
                <a:sym typeface="+mn-ea"/>
              </a:rPr>
              <a:t>拆成平台内核、训练中心和部署中心三个工作包。它们不是三套互不相干的 </a:t>
            </a:r>
            <a:r>
              <a:rPr lang="en-US" altLang="zh-CN">
                <a:sym typeface="+mn-ea"/>
              </a:rPr>
              <a:t>WebUI。</a:t>
            </a:r>
            <a:endParaRPr lang="en-US" altLang="zh-CN"/>
          </a:p>
          <a:p>
            <a:pPr/>
            <a:endParaRPr/>
          </a:p>
        </p:txBody>
      </p:sp>
      <p:sp>
        <p:nvSpPr>
          <p:cNvPr id="84" name="Slide Number Placeholder 3"/>
          <p:cNvSpPr>
            <a:spLocks noGrp="1"/>
          </p:cNvSpPr>
          <p:nvPr>
            <p:ph type="sldNum" idx="5"/>
          </p:nvPr>
        </p:nvSpPr>
        <p:spPr/>
        <p:txBody>
          <a:bodyPr/>
          <a:lstStyle/>
          <a:p>
            <a:pPr/>
            <a:endParaR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85" name=""/>
        <p:cNvGrpSpPr/>
        <p:nvPr/>
      </p:nvGrpSpPr>
      <p:grpSpPr>
        <a:xfrm>
          <a:off x="0" y="0"/>
          <a:ext cx="0" cy="0"/>
          <a:chOff x="0" y="0"/>
          <a:chExt cx="0" cy="0"/>
        </a:xfrm>
      </p:grpSpPr>
      <p:sp>
        <p:nvSpPr>
          <p:cNvPr id="86" name="Slide Image Placeholder 1"/>
          <p:cNvSpPr>
            <a:spLocks noGrp="1"/>
          </p:cNvSpPr>
          <p:nvPr>
            <p:ph type="sldImg"/>
          </p:nvPr>
        </p:nvSpPr>
        <p:spPr/>
        <p:txBody>
          <a:bodyPr/>
          <a:p/>
        </p:txBody>
      </p:sp>
      <p:sp>
        <p:nvSpPr>
          <p:cNvPr id="87" name="Notes Placeholder 2"/>
          <p:cNvSpPr>
            <a:spLocks noGrp="1"/>
          </p:cNvSpPr>
          <p:nvPr>
            <p:ph type="body" idx="1"/>
          </p:nvPr>
        </p:nvSpPr>
        <p:spPr/>
        <p:txBody>
          <a:bodyPr/>
          <a:lstStyle/>
          <a:p>
            <a:pPr/>
            <a:r>
              <a:rPr/>
              <a:t>[Sources]</a:t>
            </a:r>
            <a:endParaRPr/>
          </a:p>
          <a:p>
            <a:pPr/>
            <a:r>
              <a:rPr/>
              <a:t>- https://github.com/Tencent/YOLO-Master/blob/main/app.py</a:t>
            </a:r>
            <a:endParaRPr/>
          </a:p>
          <a:p>
            <a:pPr/>
            <a:r>
              <a:rPr/>
              <a:t>- https://github.com/Tencent/YOLO-Master/blob/main/agent/SKILL.md</a:t>
            </a:r>
            <a:endParaRPr/>
          </a:p>
          <a:p>
            <a:pPr/>
            <a:r>
              <a:rPr/>
              <a:t>- https://github.com/Tencent/YOLO-Master/blob/main/agent/runtime/cli/async_jobs.py</a:t>
            </a:r>
            <a:endParaRPr/>
          </a:p>
          <a:p>
            <a:pPr/>
            <a:r>
              <a:rPr/>
              <a:t>- </a:t>
            </a:r>
            <a:r>
              <a:rPr>
                <a:hlinkClick r:id="rId2" action="ppaction://hlinkfile"/>
              </a:rPr>
              <a:t>https://github.com/Tencent/YOLO-Master/blob/main/agent/runtime/cli/job_handlers.py</a:t>
            </a:r>
            <a:br>
              <a:rPr/>
            </a:br>
            <a:r>
              <a:rPr lang="en-US" altLang="zh-CN"/>
              <a:t>F1 </a:t>
            </a:r>
            <a:r>
              <a:rPr lang="zh-CN" altLang="en-US"/>
              <a:t>从现有 </a:t>
            </a:r>
            <a:r>
              <a:rPr lang="en-US" altLang="zh-CN"/>
              <a:t>app.py </a:t>
            </a:r>
            <a:r>
              <a:rPr lang="zh-CN" altLang="en-US"/>
              <a:t>出发。当前 </a:t>
            </a:r>
            <a:r>
              <a:rPr lang="en-US" altLang="zh-CN"/>
              <a:t>Gradio </a:t>
            </a:r>
            <a:r>
              <a:rPr lang="zh-CN" altLang="en-US"/>
              <a:t>页面主要承担推理展示，而 </a:t>
            </a:r>
            <a:r>
              <a:rPr lang="en-US" altLang="zh-CN"/>
              <a:t>Agent Skill </a:t>
            </a:r>
            <a:r>
              <a:rPr lang="zh-CN" altLang="en-US"/>
              <a:t>已经提供结构化任务接口，所以正确做法不是在 </a:t>
            </a:r>
            <a:r>
              <a:rPr lang="en-US" altLang="zh-CN"/>
              <a:t>WebUI </a:t>
            </a:r>
            <a:r>
              <a:rPr lang="zh-CN" altLang="en-US"/>
              <a:t>里复制训练和导出逻辑，而是让页面只负责提交、观察和管理任务，执行统一交给 </a:t>
            </a:r>
            <a:r>
              <a:rPr lang="en-US" altLang="zh-CN"/>
              <a:t>dispatcher。</a:t>
            </a:r>
            <a:br>
              <a:rPr lang="en-US" altLang="zh-CN"/>
            </a:br>
            <a:r>
              <a:rPr lang="en-US" altLang="zh-CN"/>
              <a:t>P0 </a:t>
            </a:r>
            <a:r>
              <a:rPr lang="zh-CN" altLang="en-US"/>
              <a:t>保留现有推理能力，新增任务列表、状态、日志和产物页，并接入 </a:t>
            </a:r>
            <a:r>
              <a:rPr lang="en-US" altLang="zh-CN"/>
              <a:t>predict </a:t>
            </a:r>
            <a:r>
              <a:rPr lang="zh-CN" altLang="en-US"/>
              <a:t>与 </a:t>
            </a:r>
            <a:r>
              <a:rPr lang="en-US" altLang="zh-CN"/>
              <a:t>system doctor。</a:t>
            </a:r>
            <a:br>
              <a:rPr lang="en-US" altLang="zh-CN"/>
            </a:br>
            <a:r>
              <a:rPr lang="en-US" altLang="zh-CN"/>
              <a:t>P1 </a:t>
            </a:r>
            <a:r>
              <a:rPr lang="zh-CN" altLang="en-US"/>
              <a:t>统一 </a:t>
            </a:r>
            <a:r>
              <a:rPr lang="en-US" altLang="zh-CN"/>
              <a:t>train、val、predict </a:t>
            </a:r>
            <a:r>
              <a:rPr lang="zh-CN" altLang="en-US"/>
              <a:t>和 </a:t>
            </a:r>
            <a:r>
              <a:rPr lang="en-US" altLang="zh-CN"/>
              <a:t>export </a:t>
            </a:r>
            <a:r>
              <a:rPr lang="zh-CN" altLang="en-US"/>
              <a:t>的任务协议，支持取消、超时、路径白名单和批量推理。</a:t>
            </a:r>
            <a:br>
              <a:rPr lang="zh-CN" altLang="en-US"/>
            </a:br>
            <a:r>
              <a:rPr lang="en-US" altLang="zh-CN"/>
              <a:t>P2 </a:t>
            </a:r>
            <a:r>
              <a:rPr lang="zh-CN" altLang="en-US"/>
              <a:t>再接入 </a:t>
            </a:r>
            <a:r>
              <a:rPr lang="en-US" altLang="zh-CN"/>
              <a:t>E3 </a:t>
            </a:r>
            <a:r>
              <a:rPr lang="zh-CN" altLang="en-US"/>
              <a:t>路由诊断，或者做 </a:t>
            </a:r>
            <a:r>
              <a:rPr lang="en-US" altLang="zh-CN"/>
              <a:t>FastAPI </a:t>
            </a:r>
            <a:r>
              <a:rPr lang="zh-CN" altLang="en-US"/>
              <a:t>与 </a:t>
            </a:r>
            <a:r>
              <a:rPr lang="en-US" altLang="zh-CN"/>
              <a:t>React </a:t>
            </a:r>
            <a:r>
              <a:rPr lang="zh-CN" altLang="en-US"/>
              <a:t>分离。安全底线是禁止任意 </a:t>
            </a:r>
            <a:r>
              <a:rPr lang="en-US" altLang="zh-CN"/>
              <a:t>shell，</a:t>
            </a:r>
            <a:r>
              <a:rPr lang="zh-CN" altLang="en-US"/>
              <a:t>只允许白名单模型和数据根目录。</a:t>
            </a:r>
            <a:br>
              <a:rPr/>
            </a:br>
            <a:endParaRPr lang="en-US" altLang="zh-CN"/>
          </a:p>
        </p:txBody>
      </p:sp>
      <p:sp>
        <p:nvSpPr>
          <p:cNvPr id="88" name="Slide Number Placeholder 3"/>
          <p:cNvSpPr>
            <a:spLocks noGrp="1"/>
          </p:cNvSpPr>
          <p:nvPr>
            <p:ph type="sldNum" idx="5"/>
          </p:nvPr>
        </p:nvSpPr>
        <p:spPr/>
        <p:txBody>
          <a:bodyPr/>
          <a:lstStyle/>
          <a:p>
            <a:pPr/>
            <a:endParaR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89" name=""/>
        <p:cNvGrpSpPr/>
        <p:nvPr/>
      </p:nvGrpSpPr>
      <p:grpSpPr>
        <a:xfrm>
          <a:off x="0" y="0"/>
          <a:ext cx="0" cy="0"/>
          <a:chOff x="0" y="0"/>
          <a:chExt cx="0" cy="0"/>
        </a:xfrm>
      </p:grpSpPr>
      <p:sp>
        <p:nvSpPr>
          <p:cNvPr id="90" name="Slide Image Placeholder 1"/>
          <p:cNvSpPr>
            <a:spLocks noGrp="1"/>
          </p:cNvSpPr>
          <p:nvPr>
            <p:ph type="sldImg"/>
          </p:nvPr>
        </p:nvSpPr>
        <p:spPr/>
        <p:txBody>
          <a:bodyPr/>
          <a:p/>
        </p:txBody>
      </p:sp>
      <p:sp>
        <p:nvSpPr>
          <p:cNvPr id="91" name="Notes Placeholder 2"/>
          <p:cNvSpPr>
            <a:spLocks noGrp="1"/>
          </p:cNvSpPr>
          <p:nvPr>
            <p:ph type="body" idx="1"/>
          </p:nvPr>
        </p:nvSpPr>
        <p:spPr/>
        <p:txBody>
          <a:bodyPr/>
          <a:lstStyle/>
          <a:p>
            <a:pPr/>
            <a:r>
              <a:rPr/>
              <a:t>[Sources]</a:t>
            </a:r>
            <a:endParaRPr/>
          </a:p>
          <a:p>
            <a:pPr/>
            <a:r>
              <a:rPr/>
              <a:t>- https://github.com/Tencent/YOLO-Master/blob/main/agent/SKILL.md</a:t>
            </a:r>
            <a:endParaRPr/>
          </a:p>
          <a:p>
            <a:pPr/>
            <a:r>
              <a:rPr/>
              <a:t>- https://github.com/Tencent/YOLO-Master/blob/main/agent/runtime/cli/async_jobs.py</a:t>
            </a:r>
            <a:endParaRPr/>
          </a:p>
          <a:p>
            <a:pPr/>
            <a:r>
              <a:rPr/>
              <a:t>- </a:t>
            </a:r>
            <a:r>
              <a:rPr>
                <a:hlinkClick r:id="rId2" action="ppaction://hlinkfile"/>
              </a:rPr>
              <a:t>https://github.com/Tencent/YOLO-Master/blob/main/agent/runtime/cli/job_handlers.py</a:t>
            </a:r>
            <a:br>
              <a:rPr/>
            </a:br>
            <a:r>
              <a:rPr lang="en-US" altLang="zh-CN"/>
              <a:t>F2 </a:t>
            </a:r>
            <a:r>
              <a:rPr lang="zh-CN" altLang="en-US"/>
              <a:t>要把训练从一次性的命令行操作，变成可追踪、可恢复的实验任务。</a:t>
            </a:r>
            <a:br>
              <a:rPr lang="zh-CN" altLang="en-US"/>
            </a:br>
            <a:r>
              <a:rPr lang="en-US" altLang="zh-CN"/>
              <a:t>P0 </a:t>
            </a:r>
            <a:r>
              <a:rPr lang="zh-CN" altLang="en-US"/>
              <a:t>提供模型、数据、</a:t>
            </a:r>
            <a:r>
              <a:rPr lang="en-US" altLang="zh-CN"/>
              <a:t>epochs、imgsz、batch </a:t>
            </a:r>
            <a:r>
              <a:rPr lang="zh-CN" altLang="en-US"/>
              <a:t>和 </a:t>
            </a:r>
            <a:r>
              <a:rPr lang="en-US" altLang="zh-CN"/>
              <a:t>device </a:t>
            </a:r>
            <a:r>
              <a:rPr lang="zh-CN" altLang="en-US"/>
              <a:t>等表单，先预览结构化 </a:t>
            </a:r>
            <a:r>
              <a:rPr lang="en-US" altLang="zh-CN"/>
              <a:t>request，</a:t>
            </a:r>
            <a:r>
              <a:rPr lang="zh-CN" altLang="en-US"/>
              <a:t>再跑通 </a:t>
            </a:r>
            <a:r>
              <a:rPr lang="en-US" altLang="zh-CN"/>
              <a:t>coco128 </a:t>
            </a:r>
            <a:r>
              <a:rPr lang="zh-CN" altLang="en-US"/>
              <a:t>一个 </a:t>
            </a:r>
            <a:r>
              <a:rPr lang="en-US" altLang="zh-CN"/>
              <a:t>epoch，</a:t>
            </a:r>
            <a:r>
              <a:rPr lang="zh-CN" altLang="en-US"/>
              <a:t>并实时显示进度。</a:t>
            </a:r>
            <a:br>
              <a:rPr lang="zh-CN" altLang="en-US"/>
            </a:br>
            <a:r>
              <a:rPr lang="en-US" altLang="zh-CN"/>
              <a:t>P1 </a:t>
            </a:r>
            <a:r>
              <a:rPr lang="zh-CN" altLang="en-US"/>
              <a:t>支持停止和续训、训练曲线、显存监控、</a:t>
            </a:r>
            <a:r>
              <a:rPr lang="en-US" altLang="zh-CN"/>
              <a:t>checkpoint </a:t>
            </a:r>
            <a:r>
              <a:rPr lang="zh-CN" altLang="en-US"/>
              <a:t>管理、两次实验对比以及复现包导出。</a:t>
            </a:r>
            <a:br>
              <a:rPr lang="zh-CN" altLang="en-US"/>
            </a:br>
            <a:r>
              <a:rPr lang="en-US" altLang="zh-CN"/>
              <a:t>P2 </a:t>
            </a:r>
            <a:r>
              <a:rPr lang="zh-CN" altLang="en-US"/>
              <a:t>扩展到多 </a:t>
            </a:r>
            <a:r>
              <a:rPr lang="en-US" altLang="zh-CN"/>
              <a:t>GPU </a:t>
            </a:r>
            <a:r>
              <a:rPr lang="zh-CN" altLang="en-US"/>
              <a:t>调度，或者增加 </a:t>
            </a:r>
            <a:r>
              <a:rPr lang="en-US" altLang="zh-CN"/>
              <a:t>V-PEFT </a:t>
            </a:r>
            <a:r>
              <a:rPr lang="zh-CN" altLang="en-US"/>
              <a:t>与全量微调对比。实现上复用 </a:t>
            </a:r>
            <a:r>
              <a:rPr lang="en-US" altLang="zh-CN"/>
              <a:t>yolo.train、pipeline experiment、progress.jsonl </a:t>
            </a:r>
            <a:r>
              <a:rPr lang="zh-CN" altLang="en-US"/>
              <a:t>和 </a:t>
            </a:r>
            <a:r>
              <a:rPr lang="en-US" altLang="zh-CN"/>
              <a:t>skill manifest。</a:t>
            </a:r>
            <a:br>
              <a:rPr lang="en-US" altLang="zh-CN"/>
            </a:br>
            <a:r>
              <a:rPr lang="en-US" altLang="zh-CN"/>
              <a:t>GPU </a:t>
            </a:r>
            <a:r>
              <a:rPr lang="zh-CN" altLang="en-US"/>
              <a:t>任务必须走独占队列，状态要落盘；验收要求连续三个任务运行后，即使 </a:t>
            </a:r>
            <a:r>
              <a:rPr lang="en-US" altLang="zh-CN"/>
              <a:t>UI </a:t>
            </a:r>
            <a:r>
              <a:rPr lang="zh-CN" altLang="en-US"/>
              <a:t>重启，</a:t>
            </a:r>
            <a:r>
              <a:rPr lang="en-US" altLang="zh-CN"/>
              <a:t>request hash、</a:t>
            </a:r>
            <a:r>
              <a:rPr lang="zh-CN" altLang="en-US"/>
              <a:t>日志、</a:t>
            </a:r>
            <a:r>
              <a:rPr lang="en-US" altLang="zh-CN"/>
              <a:t>manifest </a:t>
            </a:r>
            <a:r>
              <a:rPr lang="zh-CN" altLang="en-US"/>
              <a:t>和权重仍然可查。</a:t>
            </a:r>
            <a:endParaRPr lang="zh-CN" altLang="en-US"/>
          </a:p>
        </p:txBody>
      </p:sp>
      <p:sp>
        <p:nvSpPr>
          <p:cNvPr id="92" name="Slide Number Placeholder 3"/>
          <p:cNvSpPr>
            <a:spLocks noGrp="1"/>
          </p:cNvSpPr>
          <p:nvPr>
            <p:ph type="sldNum" idx="5"/>
          </p:nvPr>
        </p:nvSpPr>
        <p:spPr/>
        <p:txBody>
          <a:bodyPr/>
          <a:lstStyle/>
          <a:p>
            <a:pPr/>
            <a:endParaR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93" name=""/>
        <p:cNvGrpSpPr/>
        <p:nvPr/>
      </p:nvGrpSpPr>
      <p:grpSpPr>
        <a:xfrm>
          <a:off x="0" y="0"/>
          <a:ext cx="0" cy="0"/>
          <a:chOff x="0" y="0"/>
          <a:chExt cx="0" cy="0"/>
        </a:xfrm>
      </p:grpSpPr>
      <p:sp>
        <p:nvSpPr>
          <p:cNvPr id="94" name="Slide Image Placeholder 1"/>
          <p:cNvSpPr>
            <a:spLocks noGrp="1"/>
          </p:cNvSpPr>
          <p:nvPr>
            <p:ph type="sldImg"/>
          </p:nvPr>
        </p:nvSpPr>
        <p:spPr/>
        <p:txBody>
          <a:bodyPr/>
          <a:p/>
        </p:txBody>
      </p:sp>
      <p:sp>
        <p:nvSpPr>
          <p:cNvPr id="95" name="Notes Placeholder 2"/>
          <p:cNvSpPr>
            <a:spLocks noGrp="1"/>
          </p:cNvSpPr>
          <p:nvPr>
            <p:ph type="body" idx="1"/>
          </p:nvPr>
        </p:nvSpPr>
        <p:spPr/>
        <p:txBody>
          <a:bodyPr/>
          <a:lstStyle/>
          <a:p>
            <a:pPr/>
            <a:r>
              <a:rPr/>
              <a:t>[Sources]</a:t>
            </a:r>
            <a:endParaRPr/>
          </a:p>
          <a:p>
            <a:pPr/>
            <a:r>
              <a:rPr/>
              <a:t>- https://github.com/Tencent/YOLO-Master/blob/main/agent/SKILL.md</a:t>
            </a:r>
            <a:endParaRPr/>
          </a:p>
          <a:p>
            <a:pPr/>
            <a:r>
              <a:rPr/>
              <a:t>- </a:t>
            </a:r>
            <a:r>
              <a:rPr>
                <a:hlinkClick r:id="rId2" action="ppaction://hlinkfile"/>
              </a:rPr>
              <a:t>https://github.com/Tencent/YOLO-Master/blob/main/docs/en/guides/yolo26-mixture-compatibility.md</a:t>
            </a:r>
            <a:br>
              <a:rPr/>
            </a:br>
            <a:r>
              <a:rPr lang="en-US" altLang="zh-CN"/>
              <a:t>F3 </a:t>
            </a:r>
            <a:r>
              <a:rPr lang="zh-CN" altLang="en-US"/>
              <a:t>要把复杂的导出过程做成带护栏的向导。用户选择 </a:t>
            </a:r>
            <a:r>
              <a:rPr lang="en-US" altLang="zh-CN"/>
              <a:t>checkpoint </a:t>
            </a:r>
            <a:r>
              <a:rPr lang="zh-CN" altLang="en-US"/>
              <a:t>和后端后，系统先运行 </a:t>
            </a:r>
            <a:r>
              <a:rPr lang="en-US" altLang="zh-CN"/>
              <a:t>preflight，</a:t>
            </a:r>
            <a:r>
              <a:rPr lang="zh-CN" altLang="en-US"/>
              <a:t>明确展示支持、拒绝以及 </a:t>
            </a:r>
            <a:r>
              <a:rPr lang="en-US" altLang="zh-CN"/>
              <a:t>sparse </a:t>
            </a:r>
            <a:r>
              <a:rPr lang="zh-CN" altLang="en-US"/>
              <a:t>到 </a:t>
            </a:r>
            <a:r>
              <a:rPr lang="en-US" altLang="zh-CN"/>
              <a:t>dense </a:t>
            </a:r>
            <a:r>
              <a:rPr lang="zh-CN" altLang="en-US"/>
              <a:t>的 </a:t>
            </a:r>
            <a:r>
              <a:rPr lang="en-US" altLang="zh-CN"/>
              <a:t>fallback，</a:t>
            </a:r>
            <a:r>
              <a:rPr lang="zh-CN" altLang="en-US"/>
              <a:t>再允许执行导出。</a:t>
            </a:r>
            <a:br>
              <a:rPr lang="zh-CN" altLang="en-US"/>
            </a:br>
            <a:r>
              <a:rPr lang="en-US" altLang="zh-CN"/>
              <a:t>P0 </a:t>
            </a:r>
            <a:r>
              <a:rPr lang="zh-CN" altLang="en-US"/>
              <a:t>完成 </a:t>
            </a:r>
            <a:r>
              <a:rPr lang="en-US" altLang="zh-CN"/>
              <a:t>ONNX FP32 </a:t>
            </a:r>
            <a:r>
              <a:rPr lang="zh-CN" altLang="en-US"/>
              <a:t>和 </a:t>
            </a:r>
            <a:r>
              <a:rPr lang="en-US" altLang="zh-CN"/>
              <a:t>FP16。</a:t>
            </a:r>
            <a:br>
              <a:rPr lang="en-US" altLang="zh-CN"/>
            </a:br>
            <a:r>
              <a:rPr lang="en-US" altLang="zh-CN"/>
              <a:t>P1 </a:t>
            </a:r>
            <a:r>
              <a:rPr lang="zh-CN" altLang="en-US"/>
              <a:t>在硬件条件允许时完成 </a:t>
            </a:r>
            <a:r>
              <a:rPr lang="en-US" altLang="zh-CN"/>
              <a:t>TensorRT FP16 </a:t>
            </a:r>
            <a:r>
              <a:rPr lang="zh-CN" altLang="en-US"/>
              <a:t>和 </a:t>
            </a:r>
            <a:r>
              <a:rPr lang="en-US" altLang="zh-CN"/>
              <a:t>INT8 PTQ，</a:t>
            </a:r>
            <a:r>
              <a:rPr lang="zh-CN" altLang="en-US"/>
              <a:t>并按同一数据口径比较精度、时延、体积，同时记录产物校验和。</a:t>
            </a:r>
            <a:br>
              <a:rPr lang="zh-CN" altLang="en-US"/>
            </a:br>
            <a:r>
              <a:rPr lang="en-US" altLang="zh-CN"/>
              <a:t>P2 </a:t>
            </a:r>
            <a:r>
              <a:rPr lang="zh-CN" altLang="en-US"/>
              <a:t>可以尝试 </a:t>
            </a:r>
            <a:r>
              <a:rPr lang="en-US" altLang="zh-CN"/>
              <a:t>QAT、</a:t>
            </a:r>
            <a:r>
              <a:rPr lang="zh-CN" altLang="en-US"/>
              <a:t>远端设备插件，或者接入 </a:t>
            </a:r>
            <a:r>
              <a:rPr lang="en-US" altLang="zh-CN"/>
              <a:t>A3 </a:t>
            </a:r>
            <a:r>
              <a:rPr lang="zh-CN" altLang="en-US"/>
              <a:t>的路由一致率分析。没有 </a:t>
            </a:r>
            <a:r>
              <a:rPr lang="en-US" altLang="zh-CN"/>
              <a:t>TensorRT </a:t>
            </a:r>
            <a:r>
              <a:rPr lang="zh-CN" altLang="en-US"/>
              <a:t>或 </a:t>
            </a:r>
            <a:r>
              <a:rPr lang="en-US" altLang="zh-CN"/>
              <a:t>INT8 </a:t>
            </a:r>
            <a:r>
              <a:rPr lang="zh-CN" altLang="en-US"/>
              <a:t>环境时，可以降级 </a:t>
            </a:r>
            <a:r>
              <a:rPr lang="en-US" altLang="zh-CN"/>
              <a:t>ONNX Runtime，</a:t>
            </a:r>
            <a:r>
              <a:rPr lang="zh-CN" altLang="en-US"/>
              <a:t>但绝不能伪造结果。每个产物必须记录源权重、配置、后端、校准数据和 </a:t>
            </a:r>
            <a:r>
              <a:rPr lang="en-US" altLang="zh-CN"/>
              <a:t>checksum。</a:t>
            </a:r>
            <a:endParaRPr lang="en-US" altLang="zh-CN"/>
          </a:p>
        </p:txBody>
      </p:sp>
      <p:sp>
        <p:nvSpPr>
          <p:cNvPr id="96" name="Slide Number Placeholder 3"/>
          <p:cNvSpPr>
            <a:spLocks noGrp="1"/>
          </p:cNvSpPr>
          <p:nvPr>
            <p:ph type="sldNum" idx="5"/>
          </p:nvPr>
        </p:nvSpPr>
        <p:spPr/>
        <p:txBody>
          <a:bodyPr/>
          <a:lstStyle/>
          <a:p>
            <a:pPr/>
            <a:endParaR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97" name=""/>
        <p:cNvGrpSpPr/>
        <p:nvPr/>
      </p:nvGrpSpPr>
      <p:grpSpPr>
        <a:xfrm>
          <a:off x="0" y="0"/>
          <a:ext cx="0" cy="0"/>
          <a:chOff x="0" y="0"/>
          <a:chExt cx="0" cy="0"/>
        </a:xfrm>
      </p:grpSpPr>
      <p:sp>
        <p:nvSpPr>
          <p:cNvPr id="98" name="Slide Image Placeholder 1"/>
          <p:cNvSpPr>
            <a:spLocks noGrp="1"/>
          </p:cNvSpPr>
          <p:nvPr>
            <p:ph type="sldImg"/>
          </p:nvPr>
        </p:nvSpPr>
        <p:spPr/>
        <p:txBody>
          <a:bodyPr/>
          <a:p/>
        </p:txBody>
      </p:sp>
      <p:sp>
        <p:nvSpPr>
          <p:cNvPr id="99" name="Notes Placeholder 2"/>
          <p:cNvSpPr>
            <a:spLocks noGrp="1"/>
          </p:cNvSpPr>
          <p:nvPr>
            <p:ph type="body" idx="1"/>
          </p:nvPr>
        </p:nvSpPr>
        <p:spPr/>
        <p:txBody>
          <a:bodyPr/>
          <a:lstStyle/>
          <a:p>
            <a:pPr/>
            <a:r>
              <a:rPr/>
              <a:t>[Sources]</a:t>
            </a:r>
            <a:endParaRPr/>
          </a:p>
          <a:p>
            <a:pPr/>
            <a:r>
              <a:rPr/>
              <a:t>- https://github.com/Tencent/YOLO-Master/blob/main/agent/SKILL.md</a:t>
            </a:r>
            <a:endParaRPr/>
          </a:p>
          <a:p>
            <a:pPr/>
            <a:r>
              <a:rPr/>
              <a:t>- https://github.com/Tencent/YOLO-Master/blob/main/agent/runtime/cli/async_jobs.py</a:t>
            </a:r>
            <a:endParaRPr/>
          </a:p>
          <a:p>
            <a:pPr/>
            <a:r>
              <a:rPr/>
              <a:t>- </a:t>
            </a:r>
            <a:r>
              <a:rPr>
                <a:hlinkClick r:id="rId2" action="ppaction://hlinkfile"/>
              </a:rPr>
              <a:t>https://github.com/Tencent/YOLO-Master/blob/main/agent/runtime/cli/job_handlers.py</a:t>
            </a:r>
            <a:br>
              <a:rPr/>
            </a:br>
            <a:r>
              <a:rPr lang="en-US" altLang="zh-CN"/>
              <a:t>F3 </a:t>
            </a:r>
            <a:r>
              <a:rPr lang="zh-CN" altLang="en-US"/>
              <a:t>要把复杂的导出过程做成带护栏的向导。用户选择 </a:t>
            </a:r>
            <a:r>
              <a:rPr lang="en-US" altLang="zh-CN"/>
              <a:t>checkpoint </a:t>
            </a:r>
            <a:r>
              <a:rPr lang="zh-CN" altLang="en-US"/>
              <a:t>和后端后，系统先运行 </a:t>
            </a:r>
            <a:r>
              <a:rPr lang="en-US" altLang="zh-CN"/>
              <a:t>preflight，</a:t>
            </a:r>
            <a:r>
              <a:rPr lang="zh-CN" altLang="en-US"/>
              <a:t>明确展示支持、拒绝以及 </a:t>
            </a:r>
            <a:r>
              <a:rPr lang="en-US" altLang="zh-CN"/>
              <a:t>sparse </a:t>
            </a:r>
            <a:r>
              <a:rPr lang="zh-CN" altLang="en-US"/>
              <a:t>到 </a:t>
            </a:r>
            <a:r>
              <a:rPr lang="en-US" altLang="zh-CN"/>
              <a:t>dense </a:t>
            </a:r>
            <a:r>
              <a:rPr lang="zh-CN" altLang="en-US"/>
              <a:t>的 </a:t>
            </a:r>
            <a:r>
              <a:rPr lang="en-US" altLang="zh-CN"/>
              <a:t>fallback，</a:t>
            </a:r>
            <a:r>
              <a:rPr lang="zh-CN" altLang="en-US"/>
              <a:t>再允许执行导出。</a:t>
            </a:r>
            <a:br>
              <a:rPr lang="zh-CN" altLang="en-US"/>
            </a:br>
            <a:r>
              <a:rPr lang="en-US" altLang="zh-CN"/>
              <a:t>P0 </a:t>
            </a:r>
            <a:r>
              <a:rPr lang="zh-CN" altLang="en-US"/>
              <a:t>完成 </a:t>
            </a:r>
            <a:r>
              <a:rPr lang="en-US" altLang="zh-CN"/>
              <a:t>ONNX FP32 </a:t>
            </a:r>
            <a:r>
              <a:rPr lang="zh-CN" altLang="en-US"/>
              <a:t>和 </a:t>
            </a:r>
            <a:r>
              <a:rPr lang="en-US" altLang="zh-CN"/>
              <a:t>FP16。</a:t>
            </a:r>
            <a:br>
              <a:rPr lang="en-US" altLang="zh-CN"/>
            </a:br>
            <a:r>
              <a:rPr lang="en-US" altLang="zh-CN"/>
              <a:t>P1 </a:t>
            </a:r>
            <a:r>
              <a:rPr lang="zh-CN" altLang="en-US"/>
              <a:t>在硬件条件允许时完成 </a:t>
            </a:r>
            <a:r>
              <a:rPr lang="en-US" altLang="zh-CN"/>
              <a:t>TensorRT FP16 </a:t>
            </a:r>
            <a:r>
              <a:rPr lang="zh-CN" altLang="en-US"/>
              <a:t>和 </a:t>
            </a:r>
            <a:r>
              <a:rPr lang="en-US" altLang="zh-CN"/>
              <a:t>INT8 PTQ，</a:t>
            </a:r>
            <a:r>
              <a:rPr lang="zh-CN" altLang="en-US"/>
              <a:t>并按同一数据口径比较精度、时延、体积，同时记录产物校验和。</a:t>
            </a:r>
            <a:br>
              <a:rPr lang="zh-CN" altLang="en-US"/>
            </a:br>
            <a:r>
              <a:rPr lang="en-US" altLang="zh-CN"/>
              <a:t>P2 </a:t>
            </a:r>
            <a:r>
              <a:rPr lang="zh-CN" altLang="en-US"/>
              <a:t>可以尝试 </a:t>
            </a:r>
            <a:r>
              <a:rPr lang="en-US" altLang="zh-CN"/>
              <a:t>QAT、</a:t>
            </a:r>
            <a:r>
              <a:rPr lang="zh-CN" altLang="en-US"/>
              <a:t>远端设备插件，或者接入 </a:t>
            </a:r>
            <a:r>
              <a:rPr lang="en-US" altLang="zh-CN"/>
              <a:t>A3 </a:t>
            </a:r>
            <a:r>
              <a:rPr lang="zh-CN" altLang="en-US"/>
              <a:t>的路由一致率分析。没有 </a:t>
            </a:r>
            <a:r>
              <a:rPr lang="en-US" altLang="zh-CN"/>
              <a:t>TensorRT </a:t>
            </a:r>
            <a:r>
              <a:rPr lang="zh-CN" altLang="en-US"/>
              <a:t>或 </a:t>
            </a:r>
            <a:r>
              <a:rPr lang="en-US" altLang="zh-CN"/>
              <a:t>INT8 </a:t>
            </a:r>
            <a:r>
              <a:rPr lang="zh-CN" altLang="en-US"/>
              <a:t>环境时，可以降级 </a:t>
            </a:r>
            <a:r>
              <a:rPr lang="en-US" altLang="zh-CN"/>
              <a:t>ONNX Runtime，</a:t>
            </a:r>
            <a:r>
              <a:rPr lang="zh-CN" altLang="en-US"/>
              <a:t>但绝不能伪造结果。每个产物必须记录源权重、配置、后端、校准数据和 </a:t>
            </a:r>
            <a:r>
              <a:rPr lang="en-US" altLang="zh-CN"/>
              <a:t>checksum。</a:t>
            </a:r>
            <a:endParaRPr lang="en-US" altLang="zh-CN"/>
          </a:p>
        </p:txBody>
      </p:sp>
      <p:sp>
        <p:nvSpPr>
          <p:cNvPr id="100" name="Slide Number Placeholder 3"/>
          <p:cNvSpPr>
            <a:spLocks noGrp="1"/>
          </p:cNvSpPr>
          <p:nvPr>
            <p:ph type="sldNum" idx="5"/>
          </p:nvPr>
        </p:nvSpPr>
        <p:spPr/>
        <p:txBody>
          <a:bodyPr/>
          <a:lstStyle/>
          <a:p>
            <a:pPr/>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01" name=""/>
        <p:cNvGrpSpPr/>
        <p:nvPr/>
      </p:nvGrpSpPr>
      <p:grpSpPr>
        <a:xfrm>
          <a:off x="0" y="0"/>
          <a:ext cx="0" cy="0"/>
          <a:chOff x="0" y="0"/>
          <a:chExt cx="0" cy="0"/>
        </a:xfrm>
      </p:grpSpPr>
      <p:sp>
        <p:nvSpPr>
          <p:cNvPr id="102" name="Slide Image Placeholder 1"/>
          <p:cNvSpPr>
            <a:spLocks noGrp="1"/>
          </p:cNvSpPr>
          <p:nvPr>
            <p:ph type="sldImg"/>
          </p:nvPr>
        </p:nvSpPr>
        <p:spPr/>
        <p:txBody>
          <a:bodyPr/>
          <a:p/>
        </p:txBody>
      </p:sp>
      <p:sp>
        <p:nvSpPr>
          <p:cNvPr id="103" name="Notes Placeholder 2"/>
          <p:cNvSpPr>
            <a:spLocks noGrp="1"/>
          </p:cNvSpPr>
          <p:nvPr>
            <p:ph type="body" idx="1"/>
          </p:nvPr>
        </p:nvSpPr>
        <p:spPr/>
        <p:txBody>
          <a:bodyPr/>
          <a:lstStyle/>
          <a:p>
            <a:pPr/>
            <a:r>
              <a:rPr/>
              <a:t>[Sources]</a:t>
            </a:r>
            <a:endParaRPr/>
          </a:p>
          <a:p>
            <a:pPr/>
            <a:r>
              <a:rPr/>
              <a:t>- https://github.com/Tencent/YOLO-Master/blob/main/app.py</a:t>
            </a:r>
            <a:endParaRPr/>
          </a:p>
          <a:p>
            <a:pPr/>
            <a:r>
              <a:rPr/>
              <a:t>- https://github.com/Tencent/YOLO-Master/blob/main/agent/SKILL.md</a:t>
            </a:r>
            <a:endParaRPr/>
          </a:p>
          <a:p>
            <a:pPr/>
            <a:r>
              <a:rPr/>
              <a:t>- https://github.com/Tencent/YOLO-Master/blob/main/agent/runtime/cli/async_jobs.py</a:t>
            </a:r>
            <a:endParaRPr/>
          </a:p>
          <a:p>
            <a:pPr/>
            <a:r>
              <a:rPr/>
              <a:t>- https://github.com/Tencent/YOLO-Master/blob/main/agent/runtime/cli/job_handlers.py</a:t>
            </a:r>
            <a:endParaRPr/>
          </a:p>
          <a:p>
            <a:pPr/>
            <a:r>
              <a:rPr/>
              <a:t>- https://github.com/Tencent/YOLO-Master/blob/main/docs/en/guides/yolo26-mixture-compatibility.md</a:t>
            </a:r>
            <a:endParaRPr/>
          </a:p>
        </p:txBody>
      </p:sp>
      <p:sp>
        <p:nvSpPr>
          <p:cNvPr id="104" name="Slide Number Placeholder 3"/>
          <p:cNvSpPr>
            <a:spLocks noGrp="1"/>
          </p:cNvSpPr>
          <p:nvPr>
            <p:ph type="sldNum" idx="5"/>
          </p:nvPr>
        </p:nvSpPr>
        <p:spPr/>
        <p:txBody>
          <a:bodyPr/>
          <a:lstStyle/>
          <a:p>
            <a:pPr/>
            <a:endParaR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05" name=""/>
        <p:cNvGrpSpPr/>
        <p:nvPr/>
      </p:nvGrpSpPr>
      <p:grpSpPr>
        <a:xfrm>
          <a:off x="0" y="0"/>
          <a:ext cx="0" cy="0"/>
          <a:chOff x="0" y="0"/>
          <a:chExt cx="0" cy="0"/>
        </a:xfrm>
      </p:grpSpPr>
      <p:sp>
        <p:nvSpPr>
          <p:cNvPr id="106" name="Slide Image Placeholder 1"/>
          <p:cNvSpPr>
            <a:spLocks noGrp="1"/>
          </p:cNvSpPr>
          <p:nvPr>
            <p:ph type="sldImg"/>
          </p:nvPr>
        </p:nvSpPr>
        <p:spPr/>
        <p:txBody>
          <a:bodyPr/>
          <a:p/>
        </p:txBody>
      </p:sp>
      <p:sp>
        <p:nvSpPr>
          <p:cNvPr id="107" name="Notes Placeholder 2"/>
          <p:cNvSpPr>
            <a:spLocks noGrp="1"/>
          </p:cNvSpPr>
          <p:nvPr>
            <p:ph type="body" idx="1"/>
          </p:nvPr>
        </p:nvSpPr>
        <p:spPr/>
        <p:txBody>
          <a:bodyPr/>
          <a:lstStyle/>
          <a:p>
            <a:pPr/>
            <a:r>
              <a:rPr/>
              <a:t>[Sources]</a:t>
            </a:r>
            <a:endParaRPr/>
          </a:p>
          <a:p>
            <a:pPr/>
            <a:r>
              <a:rPr/>
              <a:t>- https://github.com/Tencent/YOLO-Master</a:t>
            </a:r>
            <a:endParaRPr/>
          </a:p>
          <a:p>
            <a:pPr/>
            <a:r>
              <a:rPr/>
              <a:t>- https://github.com/Tencent/YOLO-Master/blob/main/agent/SKILL.md</a:t>
            </a:r>
            <a:endParaRPr/>
          </a:p>
          <a:p>
            <a:pPr/>
            <a:r>
              <a:rPr/>
              <a:t>- </a:t>
            </a:r>
            <a:r>
              <a:rPr>
                <a:hlinkClick r:id="rId2" action="ppaction://hlinkfile"/>
              </a:rPr>
              <a:t>https://github.com/Tencent/YOLO-Master/blob/main/docs/en/guides/yolo26-mixture-compatibility.md</a:t>
            </a:r>
            <a:br>
              <a:rPr/>
            </a:br>
            <a:r>
              <a:rPr lang="zh-CN" altLang="en-US"/>
              <a:t>课题联动不是额外负担，而是减少重复工作的办法。</a:t>
            </a:r>
            <a:br>
              <a:rPr lang="zh-CN" altLang="en-US"/>
            </a:br>
            <a:r>
              <a:rPr lang="en-US" altLang="zh-CN"/>
              <a:t>E3 </a:t>
            </a:r>
            <a:r>
              <a:rPr lang="zh-CN" altLang="en-US"/>
              <a:t>的路由 </a:t>
            </a:r>
            <a:r>
              <a:rPr lang="en-US" altLang="zh-CN"/>
              <a:t>schema </a:t>
            </a:r>
            <a:r>
              <a:rPr lang="zh-CN" altLang="en-US"/>
              <a:t>和热图直接进入 </a:t>
            </a:r>
            <a:r>
              <a:rPr lang="en-US" altLang="zh-CN"/>
              <a:t>F1 </a:t>
            </a:r>
            <a:r>
              <a:rPr lang="zh-CN" altLang="en-US"/>
              <a:t>的推理分析面板。</a:t>
            </a:r>
            <a:r>
              <a:rPr lang="en-US" altLang="zh-CN"/>
              <a:t>E1 </a:t>
            </a:r>
            <a:r>
              <a:rPr lang="zh-CN" altLang="en-US"/>
              <a:t>与 </a:t>
            </a:r>
            <a:r>
              <a:rPr lang="en-US" altLang="zh-CN"/>
              <a:t>E2 </a:t>
            </a:r>
            <a:r>
              <a:rPr lang="zh-CN" altLang="en-US"/>
              <a:t>共享多 </a:t>
            </a:r>
            <a:r>
              <a:rPr lang="en-US" altLang="zh-CN"/>
              <a:t>seed </a:t>
            </a:r>
            <a:r>
              <a:rPr lang="zh-CN" altLang="en-US"/>
              <a:t>统计脚手架、</a:t>
            </a:r>
            <a:r>
              <a:rPr lang="en-US" altLang="zh-CN"/>
              <a:t>GPU </a:t>
            </a:r>
            <a:r>
              <a:rPr lang="zh-CN" altLang="en-US"/>
              <a:t>排期和 </a:t>
            </a:r>
            <a:r>
              <a:rPr lang="en-US" altLang="zh-CN"/>
              <a:t>ES-MoE </a:t>
            </a:r>
            <a:r>
              <a:rPr lang="zh-CN" altLang="en-US"/>
              <a:t>数据。</a:t>
            </a:r>
            <a:r>
              <a:rPr lang="en-US" altLang="zh-CN"/>
              <a:t>A2 </a:t>
            </a:r>
            <a:r>
              <a:rPr lang="zh-CN" altLang="en-US"/>
              <a:t>的 </a:t>
            </a:r>
            <a:r>
              <a:rPr lang="en-US" altLang="zh-CN"/>
              <a:t>STAL </a:t>
            </a:r>
            <a:r>
              <a:rPr lang="zh-CN" altLang="en-US"/>
              <a:t>可以作为 </a:t>
            </a:r>
            <a:r>
              <a:rPr lang="en-US" altLang="zh-CN"/>
              <a:t>C1 </a:t>
            </a:r>
            <a:r>
              <a:rPr lang="zh-CN" altLang="en-US"/>
              <a:t>擂台武器。</a:t>
            </a:r>
            <a:r>
              <a:rPr lang="en-US" altLang="zh-CN"/>
              <a:t>D2 </a:t>
            </a:r>
            <a:r>
              <a:rPr lang="zh-CN" altLang="en-US"/>
              <a:t>的 </a:t>
            </a:r>
            <a:r>
              <a:rPr lang="en-US" altLang="zh-CN"/>
              <a:t>foundation </a:t>
            </a:r>
            <a:r>
              <a:rPr lang="zh-CN" altLang="en-US"/>
              <a:t>蒸馏基线支撑 </a:t>
            </a:r>
            <a:r>
              <a:rPr lang="en-US" altLang="zh-CN"/>
              <a:t>F11。B2 </a:t>
            </a:r>
            <a:r>
              <a:rPr lang="zh-CN" altLang="en-US"/>
              <a:t>的自动标注数据可以成为 </a:t>
            </a:r>
            <a:r>
              <a:rPr lang="en-US" altLang="zh-CN"/>
              <a:t>C1 </a:t>
            </a:r>
            <a:r>
              <a:rPr lang="zh-CN" altLang="en-US"/>
              <a:t>的加赛数据。</a:t>
            </a:r>
            <a:r>
              <a:rPr lang="en-US" altLang="zh-CN"/>
              <a:t>A3 </a:t>
            </a:r>
            <a:r>
              <a:rPr lang="zh-CN" altLang="en-US"/>
              <a:t>的量化与 </a:t>
            </a:r>
            <a:r>
              <a:rPr lang="en-US" altLang="zh-CN"/>
              <a:t>fallback </a:t>
            </a:r>
            <a:r>
              <a:rPr lang="zh-CN" altLang="en-US"/>
              <a:t>经验则沉淀到 </a:t>
            </a:r>
            <a:r>
              <a:rPr lang="en-US" altLang="zh-CN"/>
              <a:t>F3 </a:t>
            </a:r>
            <a:r>
              <a:rPr lang="zh-CN" altLang="en-US"/>
              <a:t>的 </a:t>
            </a:r>
            <a:r>
              <a:rPr lang="en-US" altLang="zh-CN"/>
              <a:t>preflight </a:t>
            </a:r>
            <a:r>
              <a:rPr lang="zh-CN" altLang="en-US"/>
              <a:t>和 </a:t>
            </a:r>
            <a:r>
              <a:rPr lang="en-US" altLang="zh-CN"/>
              <a:t>benchmark。</a:t>
            </a:r>
            <a:r>
              <a:rPr lang="zh-CN" altLang="en-US"/>
              <a:t>所有 </a:t>
            </a:r>
            <a:r>
              <a:rPr lang="en-US" altLang="zh-CN"/>
              <a:t>WebUI </a:t>
            </a:r>
            <a:r>
              <a:rPr lang="zh-CN" altLang="en-US"/>
              <a:t>任务共用 </a:t>
            </a:r>
            <a:r>
              <a:rPr lang="en-US" altLang="zh-CN"/>
              <a:t>Agent Skill </a:t>
            </a:r>
            <a:r>
              <a:rPr lang="zh-CN" altLang="en-US"/>
              <a:t>作为执行底座，禁止各组分别拼接命令。</a:t>
            </a:r>
            <a:endParaRPr lang="zh-CN" altLang="en-US"/>
          </a:p>
        </p:txBody>
      </p:sp>
      <p:sp>
        <p:nvSpPr>
          <p:cNvPr id="108" name="Slide Number Placeholder 3"/>
          <p:cNvSpPr>
            <a:spLocks noGrp="1"/>
          </p:cNvSpPr>
          <p:nvPr>
            <p:ph type="sldNum" idx="5"/>
          </p:nvPr>
        </p:nvSpPr>
        <p:spPr/>
        <p:txBody>
          <a:bodyPr/>
          <a:lstStyle/>
          <a:p>
            <a:pPr/>
            <a:endParaR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09" name=""/>
        <p:cNvGrpSpPr/>
        <p:nvPr/>
      </p:nvGrpSpPr>
      <p:grpSpPr>
        <a:xfrm>
          <a:off x="0" y="0"/>
          <a:ext cx="0" cy="0"/>
          <a:chOff x="0" y="0"/>
          <a:chExt cx="0" cy="0"/>
        </a:xfrm>
      </p:grpSpPr>
      <p:sp>
        <p:nvSpPr>
          <p:cNvPr id="110" name="Slide Image Placeholder 1"/>
          <p:cNvSpPr>
            <a:spLocks noGrp="1"/>
          </p:cNvSpPr>
          <p:nvPr>
            <p:ph type="sldImg"/>
          </p:nvPr>
        </p:nvSpPr>
        <p:spPr/>
        <p:txBody>
          <a:bodyPr/>
          <a:p/>
        </p:txBody>
      </p:sp>
      <p:sp>
        <p:nvSpPr>
          <p:cNvPr id="111" name="Notes Placeholder 2"/>
          <p:cNvSpPr>
            <a:spLocks noGrp="1"/>
          </p:cNvSpPr>
          <p:nvPr>
            <p:ph type="body" idx="1"/>
          </p:nvPr>
        </p:nvSpPr>
        <p:spPr/>
        <p:txBody>
          <a:bodyPr/>
          <a:lstStyle/>
          <a:p>
            <a:pPr/>
            <a:r>
              <a:rPr/>
              <a:t>[Sources]</a:t>
            </a:r>
            <a:endParaRPr/>
          </a:p>
          <a:p>
            <a:pPr/>
            <a:r>
              <a:rPr/>
              <a:t>- https://github.com/Tencent/YOLO-Master</a:t>
            </a:r>
            <a:endParaRPr/>
          </a:p>
          <a:p>
            <a:pPr/>
            <a:r>
              <a:rPr/>
              <a:t>- https://github.com/Tencent/YOLO-Master/blob/main/app.py</a:t>
            </a:r>
            <a:endParaRPr/>
          </a:p>
          <a:p>
            <a:pPr/>
            <a:r>
              <a:rPr/>
              <a:t>- </a:t>
            </a:r>
            <a:r>
              <a:rPr>
                <a:hlinkClick r:id="rId2" action="ppaction://hlinkfile"/>
              </a:rPr>
              <a:t>https://github.com/Tencent/YOLO-Master/blob/main/agent/SKILL.md</a:t>
            </a:r>
            <a:br>
              <a:rPr/>
            </a:br>
            <a:r>
              <a:rPr lang="zh-CN" altLang="en-US"/>
              <a:t>这张表不是排名，而是帮助大家做匹配。</a:t>
            </a:r>
            <a:br>
              <a:rPr lang="zh-CN" altLang="en-US"/>
            </a:br>
            <a:r>
              <a:rPr lang="zh-CN" altLang="en-US"/>
              <a:t>算法研究型可以优先看 </a:t>
            </a:r>
            <a:r>
              <a:rPr lang="en-US" altLang="zh-CN"/>
              <a:t>A1 </a:t>
            </a:r>
            <a:r>
              <a:rPr lang="zh-CN" altLang="en-US"/>
              <a:t>和 </a:t>
            </a:r>
            <a:r>
              <a:rPr lang="en-US" altLang="zh-CN"/>
              <a:t>B1；</a:t>
            </a:r>
            <a:r>
              <a:rPr lang="zh-CN" altLang="en-US"/>
              <a:t>希望稳健涨点、算力有限，可以看 </a:t>
            </a:r>
            <a:r>
              <a:rPr lang="en-US" altLang="zh-CN"/>
              <a:t>A2；</a:t>
            </a:r>
            <a:r>
              <a:rPr lang="zh-CN" altLang="en-US"/>
              <a:t>端侧和部署同学适合 </a:t>
            </a:r>
            <a:r>
              <a:rPr lang="en-US" altLang="zh-CN"/>
              <a:t>A3 </a:t>
            </a:r>
            <a:r>
              <a:rPr lang="zh-CN" altLang="en-US"/>
              <a:t>或 </a:t>
            </a:r>
            <a:r>
              <a:rPr lang="en-US" altLang="zh-CN"/>
              <a:t>F3；</a:t>
            </a:r>
            <a:r>
              <a:rPr lang="zh-CN" altLang="en-US"/>
              <a:t>数据工程同学适合 </a:t>
            </a:r>
            <a:r>
              <a:rPr lang="en-US" altLang="zh-CN"/>
              <a:t>B2；</a:t>
            </a:r>
            <a:r>
              <a:rPr lang="zh-CN" altLang="en-US"/>
              <a:t>强工程同学可以挑战 </a:t>
            </a:r>
            <a:r>
              <a:rPr lang="en-US" altLang="zh-CN"/>
              <a:t>C2；</a:t>
            </a:r>
            <a:r>
              <a:rPr lang="zh-CN" altLang="en-US"/>
              <a:t>工业落地适合 </a:t>
            </a:r>
            <a:r>
              <a:rPr lang="en-US" altLang="zh-CN"/>
              <a:t>C3；</a:t>
            </a:r>
            <a:r>
              <a:rPr lang="zh-CN" altLang="en-US"/>
              <a:t>基础模型方向看 </a:t>
            </a:r>
            <a:r>
              <a:rPr lang="en-US" altLang="zh-CN"/>
              <a:t>D1、D2 </a:t>
            </a:r>
            <a:r>
              <a:rPr lang="zh-CN" altLang="en-US"/>
              <a:t>和 </a:t>
            </a:r>
            <a:r>
              <a:rPr lang="en-US" altLang="zh-CN"/>
              <a:t>F11；</a:t>
            </a:r>
            <a:r>
              <a:rPr lang="zh-CN" altLang="en-US"/>
              <a:t>开源产品方向看 </a:t>
            </a:r>
            <a:r>
              <a:rPr lang="en-US" altLang="zh-CN"/>
              <a:t>E1、E3 </a:t>
            </a:r>
            <a:r>
              <a:rPr lang="zh-CN" altLang="en-US"/>
              <a:t>和 </a:t>
            </a:r>
            <a:r>
              <a:rPr lang="en-US" altLang="zh-CN"/>
              <a:t>F1。</a:t>
            </a:r>
            <a:r>
              <a:rPr lang="zh-CN" altLang="en-US"/>
              <a:t>需要注意，算力高往往来自多 </a:t>
            </a:r>
            <a:r>
              <a:rPr lang="en-US" altLang="zh-CN"/>
              <a:t>seed </a:t>
            </a:r>
            <a:r>
              <a:rPr lang="zh-CN" altLang="en-US"/>
              <a:t>和多模型，不只是单次显存。短周期优先开放 </a:t>
            </a:r>
            <a:r>
              <a:rPr lang="en-US" altLang="zh-CN"/>
              <a:t>A2、A3、C3、E3 </a:t>
            </a:r>
            <a:r>
              <a:rPr lang="zh-CN" altLang="en-US"/>
              <a:t>和 </a:t>
            </a:r>
            <a:r>
              <a:rPr lang="en-US" altLang="zh-CN"/>
              <a:t>F1。F2 </a:t>
            </a:r>
            <a:r>
              <a:rPr lang="zh-CN" altLang="en-US"/>
              <a:t>与 </a:t>
            </a:r>
            <a:r>
              <a:rPr lang="en-US" altLang="zh-CN"/>
              <a:t>F3 </a:t>
            </a:r>
            <a:r>
              <a:rPr lang="zh-CN" altLang="en-US"/>
              <a:t>只有在 </a:t>
            </a:r>
            <a:r>
              <a:rPr lang="en-US" altLang="zh-CN"/>
              <a:t>GPU、</a:t>
            </a:r>
            <a:r>
              <a:rPr lang="zh-CN" altLang="en-US"/>
              <a:t>后端环境和平台接口确认后才正式开放。</a:t>
            </a:r>
            <a:r>
              <a:rPr lang="en-US" altLang="zh-CN"/>
              <a:t>F </a:t>
            </a:r>
            <a:r>
              <a:rPr lang="zh-CN" altLang="en-US"/>
              <a:t>组三题必须以一个平台、三个工作包的方式组队。</a:t>
            </a:r>
            <a:endParaRPr lang="zh-CN" altLang="en-US"/>
          </a:p>
        </p:txBody>
      </p:sp>
      <p:sp>
        <p:nvSpPr>
          <p:cNvPr id="112" name="Slide Number Placeholder 3"/>
          <p:cNvSpPr>
            <a:spLocks noGrp="1"/>
          </p:cNvSpPr>
          <p:nvPr>
            <p:ph type="sldNum" idx="5"/>
          </p:nvPr>
        </p:nvSpPr>
        <p:spPr/>
        <p:txBody>
          <a:bodyPr/>
          <a:lstStyle/>
          <a:p>
            <a:pPr/>
            <a:endParaR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13" name=""/>
        <p:cNvGrpSpPr/>
        <p:nvPr/>
      </p:nvGrpSpPr>
      <p:grpSpPr>
        <a:xfrm>
          <a:off x="0" y="0"/>
          <a:ext cx="0" cy="0"/>
          <a:chOff x="0" y="0"/>
          <a:chExt cx="0" cy="0"/>
        </a:xfrm>
      </p:grpSpPr>
      <p:sp>
        <p:nvSpPr>
          <p:cNvPr id="114" name="Slide Image Placeholder 1"/>
          <p:cNvSpPr>
            <a:spLocks noGrp="1"/>
          </p:cNvSpPr>
          <p:nvPr>
            <p:ph type="sldImg"/>
          </p:nvPr>
        </p:nvSpPr>
        <p:spPr/>
        <p:txBody>
          <a:bodyPr/>
          <a:p/>
        </p:txBody>
      </p:sp>
      <p:sp>
        <p:nvSpPr>
          <p:cNvPr id="115" name="Notes Placeholder 2"/>
          <p:cNvSpPr>
            <a:spLocks noGrp="1"/>
          </p:cNvSpPr>
          <p:nvPr>
            <p:ph type="body" idx="1"/>
          </p:nvPr>
        </p:nvSpPr>
        <p:spPr/>
        <p:txBody>
          <a:bodyPr/>
          <a:lstStyle/>
          <a:p>
            <a:pPr/>
            <a:r>
              <a:rPr/>
              <a:t>[Sources]</a:t>
            </a:r>
            <a:endParaRPr/>
          </a:p>
          <a:p>
            <a:pPr/>
            <a:r>
              <a:rPr/>
              <a:t>- </a:t>
            </a:r>
            <a:r>
              <a:rPr>
                <a:hlinkClick r:id="rId2" action="ppaction://hlinkfile"/>
              </a:rPr>
              <a:t>https://github.com/Tencent/YOLO-Master</a:t>
            </a:r>
            <a:br>
              <a:rPr/>
            </a:br>
            <a:r>
              <a:rPr lang="zh-CN" altLang="en-US"/>
              <a:t>提交开题和结项前，只检查七件事。</a:t>
            </a:r>
            <a:br>
              <a:rPr lang="zh-CN" altLang="en-US"/>
            </a:br>
            <a:r>
              <a:rPr lang="zh-CN" altLang="en-US"/>
              <a:t>第一，复现命令和配置路径齐全。</a:t>
            </a:r>
            <a:br>
              <a:rPr lang="zh-CN" altLang="en-US"/>
            </a:br>
            <a:r>
              <a:rPr lang="zh-CN" altLang="en-US"/>
              <a:t>第二，基线固定到明确的 </a:t>
            </a:r>
            <a:r>
              <a:rPr lang="en-US" altLang="zh-CN"/>
              <a:t>tag </a:t>
            </a:r>
            <a:r>
              <a:rPr lang="zh-CN" altLang="en-US"/>
              <a:t>或 </a:t>
            </a:r>
            <a:r>
              <a:rPr lang="en-US" altLang="zh-CN"/>
              <a:t>commit，</a:t>
            </a:r>
            <a:r>
              <a:rPr lang="zh-CN" altLang="en-US"/>
              <a:t>不能只写 </a:t>
            </a:r>
            <a:r>
              <a:rPr lang="en-US" altLang="zh-CN"/>
              <a:t>main。</a:t>
            </a:r>
            <a:br>
              <a:rPr lang="en-US" altLang="zh-CN"/>
            </a:br>
            <a:r>
              <a:rPr lang="zh-CN" altLang="en-US"/>
              <a:t>第三，提升和下降有至少三个 </a:t>
            </a:r>
            <a:r>
              <a:rPr lang="en-US" altLang="zh-CN"/>
              <a:t>seed，</a:t>
            </a:r>
            <a:r>
              <a:rPr lang="zh-CN" altLang="en-US"/>
              <a:t>或者明确单 </a:t>
            </a:r>
            <a:r>
              <a:rPr lang="en-US" altLang="zh-CN"/>
              <a:t>seed </a:t>
            </a:r>
            <a:r>
              <a:rPr lang="zh-CN" altLang="en-US"/>
              <a:t>局限。</a:t>
            </a:r>
            <a:br>
              <a:rPr lang="zh-CN" altLang="en-US"/>
            </a:br>
            <a:r>
              <a:rPr lang="zh-CN" altLang="en-US"/>
              <a:t>第四，对照实验的预算、数据、增广和评测口径一致。</a:t>
            </a:r>
            <a:br>
              <a:rPr lang="zh-CN" altLang="en-US"/>
            </a:br>
            <a:r>
              <a:rPr lang="zh-CN" altLang="en-US"/>
              <a:t>第五，负结果提前设定判读标准，并有原因证据链。</a:t>
            </a:r>
            <a:br>
              <a:rPr lang="zh-CN" altLang="en-US"/>
            </a:br>
            <a:r>
              <a:rPr lang="zh-CN" altLang="en-US"/>
              <a:t>第六，</a:t>
            </a:r>
            <a:r>
              <a:rPr lang="en-US" altLang="zh-CN"/>
              <a:t>PR </a:t>
            </a:r>
            <a:r>
              <a:rPr lang="zh-CN" altLang="en-US"/>
              <a:t>描述包含改动摘要、测试证据、消融数据和已知局限。</a:t>
            </a:r>
            <a:br>
              <a:rPr lang="zh-CN" altLang="en-US"/>
            </a:br>
            <a:r>
              <a:rPr lang="zh-CN" altLang="en-US"/>
              <a:t>第七，</a:t>
            </a:r>
            <a:r>
              <a:rPr lang="en-US" altLang="zh-CN"/>
              <a:t>README </a:t>
            </a:r>
            <a:r>
              <a:rPr lang="zh-CN" altLang="en-US"/>
              <a:t>与源码成熟度差异已经标注，历史行号和旧结论必须重新核对。</a:t>
            </a:r>
            <a:br>
              <a:rPr lang="zh-CN" altLang="en-US"/>
            </a:br>
            <a:r>
              <a:rPr lang="zh-CN" altLang="en-US"/>
              <a:t>少任何一项，都不算完整交付。</a:t>
            </a:r>
            <a:endParaRPr lang="zh-CN" altLang="en-US"/>
          </a:p>
        </p:txBody>
      </p:sp>
      <p:sp>
        <p:nvSpPr>
          <p:cNvPr id="116" name="Slide Number Placeholder 3"/>
          <p:cNvSpPr>
            <a:spLocks noGrp="1"/>
          </p:cNvSpPr>
          <p:nvPr>
            <p:ph type="sldNum" idx="5"/>
          </p:nvPr>
        </p:nvSpPr>
        <p:spPr/>
        <p:txBody>
          <a:bodyPr/>
          <a:lstStyle/>
          <a:p>
            <a:pPr/>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17" name=""/>
        <p:cNvGrpSpPr/>
        <p:nvPr/>
      </p:nvGrpSpPr>
      <p:grpSpPr>
        <a:xfrm>
          <a:off x="0" y="0"/>
          <a:ext cx="0" cy="0"/>
          <a:chOff x="0" y="0"/>
          <a:chExt cx="0" cy="0"/>
        </a:xfrm>
      </p:grpSpPr>
      <p:sp>
        <p:nvSpPr>
          <p:cNvPr id="118" name="Slide Image Placeholder 1"/>
          <p:cNvSpPr>
            <a:spLocks noGrp="1"/>
          </p:cNvSpPr>
          <p:nvPr>
            <p:ph type="sldImg"/>
          </p:nvPr>
        </p:nvSpPr>
        <p:spPr/>
        <p:txBody>
          <a:bodyPr/>
          <a:p/>
        </p:txBody>
      </p:sp>
      <p:sp>
        <p:nvSpPr>
          <p:cNvPr id="119" name="Notes Placeholder 2"/>
          <p:cNvSpPr>
            <a:spLocks noGrp="1"/>
          </p:cNvSpPr>
          <p:nvPr>
            <p:ph type="body" idx="1"/>
          </p:nvPr>
        </p:nvSpPr>
        <p:spPr/>
        <p:txBody>
          <a:bodyPr/>
          <a:lstStyle/>
          <a:p>
            <a:pPr/>
            <a:r>
              <a:rPr/>
              <a:t>[Sources]</a:t>
            </a:r>
            <a:endParaRPr/>
          </a:p>
          <a:p>
            <a:pPr/>
            <a:r>
              <a:rPr/>
              <a:t>- YOLO-Master 课题组内部选题机制，2026-08-21。</a:t>
            </a:r>
            <a:endParaRPr/>
          </a:p>
          <a:p>
            <a:pPr/>
            <a:r>
              <a:rPr/>
              <a:t>- 用户确认的个人三志愿、团队一主一备与 8.24 准入规则。</a:t>
            </a:r>
            <a:br>
              <a:rPr/>
            </a:br>
            <a:r>
              <a:rPr lang="zh-CN" altLang="en-US"/>
              <a:t>选题分成两个阶段。个人先提交第一、第二、第三志愿，同时登记技能、每周投入、</a:t>
            </a:r>
            <a:r>
              <a:rPr lang="en-US" altLang="zh-CN"/>
              <a:t>GPU </a:t>
            </a:r>
            <a:r>
              <a:rPr lang="zh-CN" altLang="en-US"/>
              <a:t>和数据条件。</a:t>
            </a:r>
            <a:br>
              <a:rPr lang="zh-CN" altLang="en-US"/>
            </a:br>
            <a:r>
              <a:rPr lang="zh-CN" altLang="en-US"/>
              <a:t>导师根据志愿顺序、技能匹配、课题容量、算力和团队结构进行撮合，不按先到先得机械分配。组队后，每组锁定一个主选和一个备选或者降级方向，并明确 </a:t>
            </a:r>
            <a:r>
              <a:rPr lang="en-US" altLang="zh-CN"/>
              <a:t>Owner </a:t>
            </a:r>
            <a:r>
              <a:rPr lang="zh-CN" altLang="en-US"/>
              <a:t>和分工。随后登记代码版本、</a:t>
            </a:r>
            <a:r>
              <a:rPr lang="en-US" altLang="zh-CN"/>
              <a:t>P0 </a:t>
            </a:r>
            <a:r>
              <a:rPr lang="zh-CN" altLang="en-US"/>
              <a:t>验收线、复现命令、</a:t>
            </a:r>
            <a:r>
              <a:rPr lang="en-US" altLang="zh-CN"/>
              <a:t>GPU </a:t>
            </a:r>
            <a:r>
              <a:rPr lang="zh-CN" altLang="en-US"/>
              <a:t>时段和数据路径。八月二十四日准入通过后，主选题进入完整实验；未通过就切备选或缩小范围。</a:t>
            </a:r>
            <a:br>
              <a:rPr lang="zh-CN" altLang="en-US"/>
            </a:br>
            <a:r>
              <a:rPr lang="zh-CN" altLang="en-US"/>
              <a:t>九月十三到十四日按内部 </a:t>
            </a:r>
            <a:r>
              <a:rPr lang="en-US" altLang="zh-CN"/>
              <a:t>P0、P1、P2 </a:t>
            </a:r>
            <a:r>
              <a:rPr lang="zh-CN" altLang="en-US"/>
              <a:t>验收，官方等级仍以计划评审为准。</a:t>
            </a:r>
            <a:endParaRPr lang="zh-CN" altLang="en-US"/>
          </a:p>
        </p:txBody>
      </p:sp>
      <p:sp>
        <p:nvSpPr>
          <p:cNvPr id="120" name="Slide Number Placeholder 3"/>
          <p:cNvSpPr>
            <a:spLocks noGrp="1"/>
          </p:cNvSpPr>
          <p:nvPr>
            <p:ph type="sldNum" idx="5"/>
          </p:nvPr>
        </p:nvSpPr>
        <p:spPr/>
        <p:txBody>
          <a:bodyPr/>
          <a:lstStyle/>
          <a:p>
            <a:pPr/>
            <a:endParaR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21" name=""/>
        <p:cNvGrpSpPr/>
        <p:nvPr/>
      </p:nvGrpSpPr>
      <p:grpSpPr>
        <a:xfrm>
          <a:off x="0" y="0"/>
          <a:ext cx="0" cy="0"/>
          <a:chOff x="0" y="0"/>
          <a:chExt cx="0" cy="0"/>
        </a:xfrm>
      </p:grpSpPr>
      <p:sp>
        <p:nvSpPr>
          <p:cNvPr id="122" name="Slide Image Placeholder 1"/>
          <p:cNvSpPr>
            <a:spLocks noGrp="1"/>
          </p:cNvSpPr>
          <p:nvPr>
            <p:ph type="sldImg"/>
          </p:nvPr>
        </p:nvSpPr>
        <p:spPr/>
        <p:txBody>
          <a:bodyPr/>
          <a:p/>
        </p:txBody>
      </p:sp>
      <p:sp>
        <p:nvSpPr>
          <p:cNvPr id="123" name="Notes Placeholder 2"/>
          <p:cNvSpPr>
            <a:spLocks noGrp="1"/>
          </p:cNvSpPr>
          <p:nvPr>
            <p:ph type="body" idx="1"/>
          </p:nvPr>
        </p:nvSpPr>
        <p:spPr/>
        <p:txBody>
          <a:bodyPr/>
          <a:lstStyle/>
          <a:p>
            <a:pPr/>
            <a:r>
              <a:rPr/>
              <a:t>[Sources]</a:t>
            </a:r>
            <a:endParaRPr/>
          </a:p>
          <a:p>
            <a:pPr/>
            <a:r>
              <a:rPr/>
              <a:t>- YOLO-Master 课题组内部准入机制，2026-08-21。</a:t>
            </a:r>
            <a:endParaRPr/>
          </a:p>
          <a:p>
            <a:pPr/>
            <a:r>
              <a:rPr/>
              <a:t>- </a:t>
            </a:r>
            <a:r>
              <a:rPr>
                <a:hlinkClick r:id="rId2" action="ppaction://hlinkfile"/>
              </a:rPr>
              <a:t>https://github.com/Tencent/OpenSourceTalent/issues/55</a:t>
            </a:r>
            <a:br>
              <a:rPr/>
            </a:br>
            <a:r>
              <a:rPr lang="zh-CN" altLang="en-US"/>
              <a:t>八月二十四日检查的是能不能开工，不是最终能不能结项。第一，</a:t>
            </a:r>
            <a:r>
              <a:rPr lang="en-US" altLang="zh-CN"/>
              <a:t>Owner、</a:t>
            </a:r>
            <a:r>
              <a:rPr lang="zh-CN" altLang="en-US"/>
              <a:t>成员和职责确认，主选与备选都可落地。第二，固定代码版本，环境能启动，数据样例能读取。第三，</a:t>
            </a:r>
            <a:r>
              <a:rPr lang="en-US" altLang="zh-CN"/>
              <a:t>baseline </a:t>
            </a:r>
            <a:r>
              <a:rPr lang="zh-CN" altLang="en-US"/>
              <a:t>或最小代码链路能够执行，并保留日志或测试结果。第四，</a:t>
            </a:r>
            <a:r>
              <a:rPr lang="en-US" altLang="zh-CN"/>
              <a:t>GPU </a:t>
            </a:r>
            <a:r>
              <a:rPr lang="zh-CN" altLang="en-US"/>
              <a:t>时段、</a:t>
            </a:r>
            <a:r>
              <a:rPr lang="en-US" altLang="zh-CN"/>
              <a:t>P0 </a:t>
            </a:r>
            <a:r>
              <a:rPr lang="zh-CN" altLang="en-US"/>
              <a:t>指标、复现命令和失败降级方案已经登记。检查结果有三种：通过，主选题进入全量实验；条件通过，限时补齐缺项并先缩小范围；未通过，切换备选题，或者降低数据、模型和任务范围。这个门禁的目的是避免大家用一周时间才发现环境或资源根本不成立。</a:t>
            </a:r>
            <a:endParaRPr lang="zh-CN" altLang="en-US"/>
          </a:p>
        </p:txBody>
      </p:sp>
      <p:sp>
        <p:nvSpPr>
          <p:cNvPr id="124" name="Slide Number Placeholder 3"/>
          <p:cNvSpPr>
            <a:spLocks noGrp="1"/>
          </p:cNvSpPr>
          <p:nvPr>
            <p:ph type="sldNum" idx="5"/>
          </p:nvPr>
        </p:nvSpPr>
        <p:spPr/>
        <p:txBody>
          <a:bodyPr/>
          <a:lstStyle/>
          <a:p>
            <a:pPr/>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25" name=""/>
        <p:cNvGrpSpPr/>
        <p:nvPr/>
      </p:nvGrpSpPr>
      <p:grpSpPr>
        <a:xfrm>
          <a:off x="0" y="0"/>
          <a:ext cx="0" cy="0"/>
          <a:chOff x="0" y="0"/>
          <a:chExt cx="0" cy="0"/>
        </a:xfrm>
      </p:grpSpPr>
      <p:sp>
        <p:nvSpPr>
          <p:cNvPr id="126" name="Slide Image Placeholder 1"/>
          <p:cNvSpPr>
            <a:spLocks noGrp="1"/>
          </p:cNvSpPr>
          <p:nvPr>
            <p:ph type="sldImg"/>
          </p:nvPr>
        </p:nvSpPr>
        <p:spPr/>
        <p:txBody>
          <a:bodyPr/>
          <a:p/>
        </p:txBody>
      </p:sp>
      <p:sp>
        <p:nvSpPr>
          <p:cNvPr id="127" name="Notes Placeholder 2"/>
          <p:cNvSpPr>
            <a:spLocks noGrp="1"/>
          </p:cNvSpPr>
          <p:nvPr>
            <p:ph type="body" idx="1"/>
          </p:nvPr>
        </p:nvSpPr>
        <p:spPr/>
        <p:txBody>
          <a:bodyPr/>
          <a:lstStyle/>
          <a:p>
            <a:pPr/>
            <a:r>
              <a:rPr lang="zh-CN" altLang="en-US"/>
              <a:t>今晚的目标非常具体，不是听完十七个题目以后回去慢慢想，而是每个小组都要带着一个能够运行的 </a:t>
            </a:r>
            <a:r>
              <a:rPr lang="en-US" altLang="zh-CN"/>
              <a:t>P0 </a:t>
            </a:r>
            <a:r>
              <a:rPr lang="zh-CN" altLang="en-US"/>
              <a:t>方案离场。第一，要确定 </a:t>
            </a:r>
            <a:r>
              <a:rPr lang="en-US" altLang="zh-CN"/>
              <a:t>Owner、</a:t>
            </a:r>
            <a:r>
              <a:rPr lang="zh-CN" altLang="en-US"/>
              <a:t>协作成员和导师接口。第二，要确定一个主选题和一个备选或者降级方向。第三，要登记代码版本、</a:t>
            </a:r>
            <a:r>
              <a:rPr lang="en-US" altLang="zh-CN"/>
              <a:t>GPU、</a:t>
            </a:r>
            <a:r>
              <a:rPr lang="zh-CN" altLang="en-US"/>
              <a:t>数据和二十四小时冒烟任务。十七个题目只是候选池，只有同时具备负责人、资源和可执行 </a:t>
            </a:r>
            <a:r>
              <a:rPr lang="en-US" altLang="zh-CN"/>
              <a:t>P0 </a:t>
            </a:r>
            <a:r>
              <a:rPr lang="zh-CN" altLang="en-US"/>
              <a:t>的题目才正式开放。散会以后，我们要形成课题登记表、</a:t>
            </a:r>
            <a:r>
              <a:rPr lang="en-US" altLang="zh-CN"/>
              <a:t>GPU </a:t>
            </a:r>
            <a:r>
              <a:rPr lang="zh-CN" altLang="en-US"/>
              <a:t>排期和八月二十四日前的冒烟清单。</a:t>
            </a:r>
            <a:endParaRPr lang="zh-CN" altLang="en-US"/>
          </a:p>
        </p:txBody>
      </p:sp>
      <p:sp>
        <p:nvSpPr>
          <p:cNvPr id="128" name="Slide Number Placeholder 3"/>
          <p:cNvSpPr>
            <a:spLocks noGrp="1"/>
          </p:cNvSpPr>
          <p:nvPr>
            <p:ph type="sldNum" idx="5"/>
          </p:nvPr>
        </p:nvSpPr>
        <p:spPr/>
        <p:txBody>
          <a:bodyPr/>
          <a:lstStyle/>
          <a:p>
            <a:pPr/>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29" name=""/>
        <p:cNvGrpSpPr/>
        <p:nvPr/>
      </p:nvGrpSpPr>
      <p:grpSpPr>
        <a:xfrm>
          <a:off x="0" y="0"/>
          <a:ext cx="0" cy="0"/>
          <a:chOff x="0" y="0"/>
          <a:chExt cx="0" cy="0"/>
        </a:xfrm>
      </p:grpSpPr>
      <p:sp>
        <p:nvSpPr>
          <p:cNvPr id="130" name="Slide Image Placeholder 1"/>
          <p:cNvSpPr>
            <a:spLocks noGrp="1"/>
          </p:cNvSpPr>
          <p:nvPr>
            <p:ph type="sldImg"/>
          </p:nvPr>
        </p:nvSpPr>
        <p:spPr/>
        <p:txBody>
          <a:bodyPr/>
          <a:p/>
        </p:txBody>
      </p:sp>
      <p:sp>
        <p:nvSpPr>
          <p:cNvPr id="131" name="Notes Placeholder 2"/>
          <p:cNvSpPr>
            <a:spLocks noGrp="1"/>
          </p:cNvSpPr>
          <p:nvPr>
            <p:ph type="body" idx="1"/>
          </p:nvPr>
        </p:nvSpPr>
        <p:spPr/>
        <p:txBody>
          <a:bodyPr/>
          <a:lstStyle/>
          <a:p>
            <a:pPr/>
            <a:r>
              <a:rPr/>
              <a:t>[Sources]</a:t>
            </a:r>
            <a:endParaRPr/>
          </a:p>
          <a:p>
            <a:pPr/>
            <a:r>
              <a:rPr/>
              <a:t>- 用户提供的《yolo-master 实战课题任务书（细化版 · 全 14 课题）》，2026-08-20。</a:t>
            </a:r>
            <a:endParaRPr/>
          </a:p>
          <a:p>
            <a:pPr/>
            <a:r>
              <a:rPr/>
              <a:t>- 结尾背景复用封面生成主视觉。 </a:t>
            </a:r>
            <a:br>
              <a:rPr/>
            </a:br>
            <a:r>
              <a:rPr lang="zh-CN" altLang="en-US"/>
              <a:t>最后请大家记住，我们不是为了占一个听起来最前沿的题目，而是要选一个真实问题，交付一条可复现的证据链。散会前完成三件事：确认 </a:t>
            </a:r>
            <a:r>
              <a:rPr lang="en-US" altLang="zh-CN"/>
              <a:t>Owner </a:t>
            </a:r>
            <a:r>
              <a:rPr lang="zh-CN" altLang="en-US"/>
              <a:t>和主备选题；记录 </a:t>
            </a:r>
            <a:r>
              <a:rPr lang="en-US" altLang="zh-CN"/>
              <a:t>tag </a:t>
            </a:r>
            <a:r>
              <a:rPr lang="zh-CN" altLang="en-US"/>
              <a:t>或 </a:t>
            </a:r>
            <a:r>
              <a:rPr lang="en-US" altLang="zh-CN"/>
              <a:t>commit、GPU </a:t>
            </a:r>
            <a:r>
              <a:rPr lang="zh-CN" altLang="en-US"/>
              <a:t>和数据；约定八月二十四日要提交的冒烟证据。之后所有讨论都围绕可运行代码、可比较数字和可评审产物展开。谢谢大家，接下来进入志愿登记和现场答疑。</a:t>
            </a:r>
            <a:endParaRPr lang="zh-CN" altLang="en-US"/>
          </a:p>
        </p:txBody>
      </p:sp>
      <p:sp>
        <p:nvSpPr>
          <p:cNvPr id="132" name="Slide Number Placeholder 3"/>
          <p:cNvSpPr>
            <a:spLocks noGrp="1"/>
          </p:cNvSpPr>
          <p:nvPr>
            <p:ph type="sldNum" idx="5"/>
          </p:nvPr>
        </p:nvSpPr>
        <p:spPr/>
        <p:txBody>
          <a:bodyPr/>
          <a:lstStyle/>
          <a:p>
            <a:pPr/>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33" name=""/>
        <p:cNvGrpSpPr/>
        <p:nvPr/>
      </p:nvGrpSpPr>
      <p:grpSpPr>
        <a:xfrm>
          <a:off x="0" y="0"/>
          <a:ext cx="0" cy="0"/>
          <a:chOff x="0" y="0"/>
          <a:chExt cx="0" cy="0"/>
        </a:xfrm>
      </p:grpSpPr>
      <p:sp>
        <p:nvSpPr>
          <p:cNvPr id="134" name="Slide Image Placeholder 1"/>
          <p:cNvSpPr>
            <a:spLocks noGrp="1"/>
          </p:cNvSpPr>
          <p:nvPr>
            <p:ph type="sldImg"/>
          </p:nvPr>
        </p:nvSpPr>
        <p:spPr/>
        <p:txBody>
          <a:bodyPr/>
          <a:p/>
        </p:txBody>
      </p:sp>
      <p:sp>
        <p:nvSpPr>
          <p:cNvPr id="135" name="Notes Placeholder 2"/>
          <p:cNvSpPr>
            <a:spLocks noGrp="1"/>
          </p:cNvSpPr>
          <p:nvPr>
            <p:ph type="body" idx="1"/>
          </p:nvPr>
        </p:nvSpPr>
        <p:spPr/>
        <p:txBody>
          <a:bodyPr/>
          <a:lstStyle/>
          <a:p>
            <a:pPr/>
            <a:r>
              <a:rPr lang="zh-CN" altLang="en-US"/>
              <a:t>整个课题池分为六条主线。</a:t>
            </a:r>
            <a:br>
              <a:rPr lang="zh-CN" altLang="en-US"/>
            </a:br>
            <a:r>
              <a:rPr lang="en-US" altLang="zh-CN"/>
              <a:t>A </a:t>
            </a:r>
            <a:r>
              <a:rPr lang="zh-CN" altLang="en-US"/>
              <a:t>组对标 </a:t>
            </a:r>
            <a:r>
              <a:rPr lang="en-US" altLang="zh-CN"/>
              <a:t>YOLO26，</a:t>
            </a:r>
            <a:r>
              <a:rPr lang="zh-CN" altLang="en-US"/>
              <a:t>做端到端检测、</a:t>
            </a:r>
            <a:r>
              <a:rPr lang="en-US" altLang="zh-CN"/>
              <a:t>STAL </a:t>
            </a:r>
            <a:r>
              <a:rPr lang="zh-CN" altLang="en-US"/>
              <a:t>和导出量化。</a:t>
            </a:r>
            <a:br>
              <a:rPr lang="zh-CN" altLang="en-US"/>
            </a:br>
            <a:r>
              <a:rPr lang="en-US" altLang="zh-CN"/>
              <a:t>B </a:t>
            </a:r>
            <a:r>
              <a:rPr lang="zh-CN" altLang="en-US"/>
              <a:t>组面向开放世界，研究文本条件路由和自动标注数据引擎。</a:t>
            </a:r>
            <a:br>
              <a:rPr lang="zh-CN" altLang="en-US"/>
            </a:br>
            <a:r>
              <a:rPr lang="en-US" altLang="zh-CN"/>
              <a:t>C </a:t>
            </a:r>
            <a:r>
              <a:rPr lang="zh-CN" altLang="en-US"/>
              <a:t>组强调真实应用，包括 </a:t>
            </a:r>
            <a:r>
              <a:rPr lang="en-US" altLang="zh-CN"/>
              <a:t>VisDrone </a:t>
            </a:r>
            <a:r>
              <a:rPr lang="zh-CN" altLang="en-US"/>
              <a:t>擂台、统一</a:t>
            </a:r>
            <a:r>
              <a:rPr lang="en-US" altLang="zh-CN"/>
              <a:t>M</a:t>
            </a:r>
            <a:r>
              <a:rPr lang="en-US" altLang="zh-CN"/>
              <a:t>oT </a:t>
            </a:r>
            <a:r>
              <a:rPr lang="zh-CN" altLang="en-US"/>
              <a:t>和工业 </a:t>
            </a:r>
            <a:r>
              <a:rPr lang="en-US" altLang="zh-CN"/>
              <a:t>V-PEFT。</a:t>
            </a:r>
            <a:br>
              <a:rPr lang="en-US" altLang="zh-CN"/>
            </a:br>
            <a:r>
              <a:rPr lang="en-US" altLang="zh-CN"/>
              <a:t>D </a:t>
            </a:r>
            <a:r>
              <a:rPr lang="zh-CN" altLang="en-US"/>
              <a:t>组复用基础模型，做冻结适配、蒸馏和路由知识蒸馏。</a:t>
            </a:r>
            <a:br>
              <a:rPr lang="zh-CN" altLang="en-US"/>
            </a:br>
            <a:r>
              <a:rPr lang="en-US" altLang="zh-CN"/>
              <a:t>E </a:t>
            </a:r>
            <a:r>
              <a:rPr lang="zh-CN" altLang="en-US"/>
              <a:t>组面向社区影响力，做插件、严谨复测和路由可视化。</a:t>
            </a:r>
            <a:br>
              <a:rPr lang="zh-CN" altLang="en-US"/>
            </a:br>
            <a:r>
              <a:rPr lang="en-US" altLang="zh-CN"/>
              <a:t>F </a:t>
            </a:r>
            <a:r>
              <a:rPr lang="zh-CN" altLang="en-US"/>
              <a:t>组是新增的 </a:t>
            </a:r>
            <a:r>
              <a:rPr lang="en-US" altLang="zh-CN"/>
              <a:t>WebUI </a:t>
            </a:r>
            <a:r>
              <a:rPr lang="zh-CN" altLang="en-US"/>
              <a:t>工程化方向，共建 </a:t>
            </a:r>
            <a:r>
              <a:rPr lang="en-US" altLang="zh-CN"/>
              <a:t>YOLO-Master Studio。</a:t>
            </a:r>
            <a:br>
              <a:rPr lang="en-US" altLang="zh-CN"/>
            </a:br>
            <a:r>
              <a:rPr lang="zh-CN" altLang="en-US"/>
              <a:t>选题时不要只看题目是否前沿，要先看自己希望训练哪类能力，再看算力和工程边界。</a:t>
            </a:r>
            <a:endParaRPr lang="zh-CN" altLang="en-US"/>
          </a:p>
        </p:txBody>
      </p:sp>
      <p:sp>
        <p:nvSpPr>
          <p:cNvPr id="136" name="Slide Number Placeholder 3"/>
          <p:cNvSpPr>
            <a:spLocks noGrp="1"/>
          </p:cNvSpPr>
          <p:nvPr>
            <p:ph type="sldNum" idx="5"/>
          </p:nvPr>
        </p:nvSpPr>
        <p:spPr/>
        <p:txBody>
          <a:bodyPr/>
          <a:lstStyle/>
          <a:p>
            <a:pPr/>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37" name=""/>
        <p:cNvGrpSpPr/>
        <p:nvPr/>
      </p:nvGrpSpPr>
      <p:grpSpPr>
        <a:xfrm>
          <a:off x="0" y="0"/>
          <a:ext cx="0" cy="0"/>
          <a:chOff x="0" y="0"/>
          <a:chExt cx="0" cy="0"/>
        </a:xfrm>
      </p:grpSpPr>
      <p:sp>
        <p:nvSpPr>
          <p:cNvPr id="138" name="Slide Image Placeholder 1"/>
          <p:cNvSpPr>
            <a:spLocks noGrp="1"/>
          </p:cNvSpPr>
          <p:nvPr>
            <p:ph type="sldImg"/>
          </p:nvPr>
        </p:nvSpPr>
        <p:spPr/>
        <p:txBody>
          <a:bodyPr/>
          <a:p/>
        </p:txBody>
      </p:sp>
      <p:sp>
        <p:nvSpPr>
          <p:cNvPr id="139" name="Notes Placeholder 2"/>
          <p:cNvSpPr>
            <a:spLocks noGrp="1"/>
          </p:cNvSpPr>
          <p:nvPr>
            <p:ph type="body" idx="1"/>
          </p:nvPr>
        </p:nvSpPr>
        <p:spPr/>
        <p:txBody>
          <a:bodyPr/>
          <a:lstStyle/>
          <a:p>
            <a:pPr/>
            <a:r>
              <a:rPr lang="zh-CN" altLang="en-US"/>
              <a:t>这里先统一代码口径。稳定验收基线是 </a:t>
            </a:r>
            <a:r>
              <a:rPr lang="en-US" altLang="zh-CN"/>
              <a:t>YOLO-Master v26.08，</a:t>
            </a:r>
            <a:r>
              <a:rPr lang="zh-CN" altLang="en-US"/>
              <a:t>对应 </a:t>
            </a:r>
            <a:r>
              <a:rPr lang="en-US" altLang="zh-CN"/>
              <a:t>commit </a:t>
            </a:r>
            <a:r>
              <a:rPr lang="zh-CN" altLang="en-US"/>
              <a:t>四三 </a:t>
            </a:r>
            <a:r>
              <a:rPr lang="en-US" altLang="zh-CN"/>
              <a:t>d </a:t>
            </a:r>
            <a:r>
              <a:rPr lang="zh-CN" altLang="en-US"/>
              <a:t>四零一一；当前研究主线锁定到八月二十一日的 </a:t>
            </a:r>
            <a:r>
              <a:rPr lang="en-US" altLang="zh-CN"/>
              <a:t>HEAD。Release </a:t>
            </a:r>
            <a:r>
              <a:rPr lang="zh-CN" altLang="en-US"/>
              <a:t>适合复现 </a:t>
            </a:r>
            <a:r>
              <a:rPr lang="en-US" altLang="zh-CN"/>
              <a:t>detect、seg </a:t>
            </a:r>
            <a:r>
              <a:rPr lang="zh-CN" altLang="en-US"/>
              <a:t>和 </a:t>
            </a:r>
            <a:r>
              <a:rPr lang="en-US" altLang="zh-CN"/>
              <a:t>pose </a:t>
            </a:r>
            <a:r>
              <a:rPr lang="zh-CN" altLang="en-US"/>
              <a:t>的稳定闭环，</a:t>
            </a:r>
            <a:r>
              <a:rPr lang="en-US" altLang="zh-CN"/>
              <a:t>HEAD </a:t>
            </a:r>
            <a:r>
              <a:rPr lang="zh-CN" altLang="en-US"/>
              <a:t>包含 </a:t>
            </a:r>
            <a:r>
              <a:rPr lang="en-US" altLang="zh-CN"/>
              <a:t>Foundation、F11、one-to-one </a:t>
            </a:r>
            <a:r>
              <a:rPr lang="zh-CN" altLang="en-US"/>
              <a:t>和 </a:t>
            </a:r>
            <a:r>
              <a:rPr lang="en-US" altLang="zh-CN"/>
              <a:t>diagnostics </a:t>
            </a:r>
            <a:r>
              <a:rPr lang="zh-CN" altLang="en-US"/>
              <a:t>等研究能力。但请注意，代码里出现接口，不等于已经有可信精度和延迟结论；没有匹配的权重、配置和测试证据，就不能对外宣称能力。所有小组必须登记 </a:t>
            </a:r>
            <a:r>
              <a:rPr lang="en-US" altLang="zh-CN"/>
              <a:t>tag </a:t>
            </a:r>
            <a:r>
              <a:rPr lang="zh-CN" altLang="en-US"/>
              <a:t>或 </a:t>
            </a:r>
            <a:r>
              <a:rPr lang="en-US" altLang="zh-CN"/>
              <a:t>commit。P0 </a:t>
            </a:r>
            <a:r>
              <a:rPr lang="zh-CN" altLang="en-US"/>
              <a:t>默认使用稳定 </a:t>
            </a:r>
            <a:r>
              <a:rPr lang="en-US" altLang="zh-CN"/>
              <a:t>tag，</a:t>
            </a:r>
            <a:r>
              <a:rPr lang="zh-CN" altLang="en-US"/>
              <a:t>只有课题确实依赖新能力时才切换 </a:t>
            </a:r>
            <a:r>
              <a:rPr lang="en-US" altLang="zh-CN"/>
              <a:t>HEAD，</a:t>
            </a:r>
            <a:r>
              <a:rPr lang="zh-CN" altLang="en-US"/>
              <a:t>并重新跑测试。</a:t>
            </a:r>
            <a:endParaRPr lang="zh-CN" altLang="en-US"/>
          </a:p>
        </p:txBody>
      </p:sp>
      <p:sp>
        <p:nvSpPr>
          <p:cNvPr id="140" name="Slide Number Placeholder 3"/>
          <p:cNvSpPr>
            <a:spLocks noGrp="1"/>
          </p:cNvSpPr>
          <p:nvPr>
            <p:ph type="sldNum" idx="5"/>
          </p:nvPr>
        </p:nvSpPr>
        <p:spPr/>
        <p:txBody>
          <a:bodyPr/>
          <a:lstStyle/>
          <a:p>
            <a:pPr/>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41" name=""/>
        <p:cNvGrpSpPr/>
        <p:nvPr/>
      </p:nvGrpSpPr>
      <p:grpSpPr>
        <a:xfrm>
          <a:off x="0" y="0"/>
          <a:ext cx="0" cy="0"/>
          <a:chOff x="0" y="0"/>
          <a:chExt cx="0" cy="0"/>
        </a:xfrm>
      </p:grpSpPr>
      <p:sp>
        <p:nvSpPr>
          <p:cNvPr id="142" name="Slide Image Placeholder 1"/>
          <p:cNvSpPr>
            <a:spLocks noGrp="1"/>
          </p:cNvSpPr>
          <p:nvPr>
            <p:ph type="sldImg"/>
          </p:nvPr>
        </p:nvSpPr>
        <p:spPr/>
        <p:txBody>
          <a:bodyPr/>
          <a:p/>
        </p:txBody>
      </p:sp>
      <p:sp>
        <p:nvSpPr>
          <p:cNvPr id="143" name="Notes Placeholder 2"/>
          <p:cNvSpPr>
            <a:spLocks noGrp="1"/>
          </p:cNvSpPr>
          <p:nvPr>
            <p:ph type="body" idx="1"/>
          </p:nvPr>
        </p:nvSpPr>
        <p:spPr/>
        <p:txBody>
          <a:bodyPr/>
          <a:lstStyle/>
          <a:p>
            <a:pPr/>
            <a:r>
              <a:rPr lang="zh-CN" altLang="en-US"/>
              <a:t>当前已经进入第二阶段，剩余二十四天要完成完整证据链。第一阶段八月十四日到二十日已经过去，今晚需要追认组队、仓库熟悉和资源清单。八月二十一日到二十四日冻结题目、</a:t>
            </a:r>
            <a:r>
              <a:rPr lang="en-US" altLang="zh-CN"/>
              <a:t>commit、GPU </a:t>
            </a:r>
            <a:r>
              <a:rPr lang="zh-CN" altLang="en-US"/>
              <a:t>和数据，并完成二十四小时冒烟。八月二十五日到三十一日必须出现首个可比数字。九月一日到七日做中期演示和消融设计。九月八日到十二日补多 </a:t>
            </a:r>
            <a:r>
              <a:rPr lang="en-US" altLang="zh-CN"/>
              <a:t>seed、</a:t>
            </a:r>
            <a:r>
              <a:rPr lang="zh-CN" altLang="en-US"/>
              <a:t>参数扫描并冻结 </a:t>
            </a:r>
            <a:r>
              <a:rPr lang="en-US" altLang="zh-CN"/>
              <a:t>PR。</a:t>
            </a:r>
            <a:r>
              <a:rPr lang="zh-CN" altLang="en-US"/>
              <a:t>九月十三日到十四日提交报告、</a:t>
            </a:r>
            <a:r>
              <a:rPr lang="en-US" altLang="zh-CN"/>
              <a:t>Demo </a:t>
            </a:r>
            <a:r>
              <a:rPr lang="zh-CN" altLang="en-US"/>
              <a:t>和答辩。请大家记住六个门禁：二十一日登记、二十四日冒烟、三十一日首轮、九月七日中期、十二日冻结、十四日答辩。</a:t>
            </a:r>
            <a:endParaRPr lang="zh-CN" altLang="en-US"/>
          </a:p>
        </p:txBody>
      </p:sp>
      <p:sp>
        <p:nvSpPr>
          <p:cNvPr id="144" name="Slide Number Placeholder 3"/>
          <p:cNvSpPr>
            <a:spLocks noGrp="1"/>
          </p:cNvSpPr>
          <p:nvPr>
            <p:ph type="sldNum" idx="5"/>
          </p:nvPr>
        </p:nvSpPr>
        <p:spPr/>
        <p:txBody>
          <a:bodyPr/>
          <a:lstStyle/>
          <a:p>
            <a:pPr/>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45" name=""/>
        <p:cNvGrpSpPr/>
        <p:nvPr/>
      </p:nvGrpSpPr>
      <p:grpSpPr>
        <a:xfrm>
          <a:off x="0" y="0"/>
          <a:ext cx="0" cy="0"/>
          <a:chOff x="0" y="0"/>
          <a:chExt cx="0" cy="0"/>
        </a:xfrm>
      </p:grpSpPr>
      <p:sp>
        <p:nvSpPr>
          <p:cNvPr id="146" name="Slide Image Placeholder 1"/>
          <p:cNvSpPr>
            <a:spLocks noGrp="1"/>
          </p:cNvSpPr>
          <p:nvPr>
            <p:ph type="sldImg"/>
          </p:nvPr>
        </p:nvSpPr>
        <p:spPr/>
        <p:txBody>
          <a:bodyPr/>
          <a:p/>
        </p:txBody>
      </p:sp>
      <p:sp>
        <p:nvSpPr>
          <p:cNvPr id="147" name="Notes Placeholder 2"/>
          <p:cNvSpPr>
            <a:spLocks noGrp="1"/>
          </p:cNvSpPr>
          <p:nvPr>
            <p:ph type="body" idx="1"/>
          </p:nvPr>
        </p:nvSpPr>
        <p:spPr/>
        <p:txBody>
          <a:bodyPr/>
          <a:lstStyle/>
          <a:p>
            <a:pPr/>
            <a:r>
              <a:rPr lang="zh-CN" altLang="en-US"/>
              <a:t>证据契约：</a:t>
            </a:r>
            <a:r>
              <a:rPr lang="en-US" altLang="zh-CN"/>
              <a:t>P0、P1、P2 </a:t>
            </a:r>
            <a:r>
              <a:rPr lang="zh-CN" altLang="en-US"/>
              <a:t>怎么理解</a:t>
            </a:r>
            <a:endParaRPr lang="zh-CN" altLang="en-US"/>
          </a:p>
          <a:p>
            <a:pPr/>
            <a:r>
              <a:rPr lang="zh-CN" altLang="en-US"/>
              <a:t>  建议耗时  1 分 00 秒  </a:t>
            </a:r>
            <a:endParaRPr lang="zh-CN" altLang="en-US"/>
          </a:p>
          <a:p>
            <a:pPr/>
            <a:r>
              <a:rPr lang="zh-CN" altLang="en-US"/>
              <a:t>逐字稿</a:t>
            </a:r>
            <a:endParaRPr lang="zh-CN" altLang="en-US"/>
          </a:p>
          <a:p>
            <a:pPr/>
            <a:r>
              <a:rPr lang="en-US" altLang="zh-CN"/>
              <a:t>P0、P1、P2 </a:t>
            </a:r>
            <a:r>
              <a:rPr lang="zh-CN" altLang="en-US"/>
              <a:t>是我们内部的技术分级，不是对官网通过和优秀标准的机械映射。</a:t>
            </a:r>
            <a:br>
              <a:rPr lang="zh-CN" altLang="en-US"/>
            </a:br>
            <a:r>
              <a:rPr lang="en-US" altLang="zh-CN"/>
              <a:t>P0 </a:t>
            </a:r>
            <a:r>
              <a:rPr lang="zh-CN" altLang="en-US"/>
              <a:t>是结项底线，要求闭环跑通、结果可信、证据可复现；</a:t>
            </a:r>
            <a:br>
              <a:rPr lang="zh-CN" altLang="en-US"/>
            </a:br>
            <a:r>
              <a:rPr lang="en-US" altLang="zh-CN"/>
              <a:t>P1 </a:t>
            </a:r>
            <a:r>
              <a:rPr lang="zh-CN" altLang="en-US"/>
              <a:t>是优秀候选线，要求机制成立、指标达到课题设定，并形成可评审的贡献；</a:t>
            </a:r>
            <a:br>
              <a:rPr lang="zh-CN" altLang="en-US"/>
            </a:br>
            <a:r>
              <a:rPr lang="en-US" altLang="zh-CN"/>
              <a:t>P2 </a:t>
            </a:r>
            <a:r>
              <a:rPr lang="zh-CN" altLang="en-US"/>
              <a:t>是额外加分，包括泛化分析、工具发布或者社区影响力。无论做到哪一级，都必须提供复现命令、配置和代码版本；提升或下降要有多 </a:t>
            </a:r>
            <a:r>
              <a:rPr lang="en-US" altLang="zh-CN"/>
              <a:t>seed，</a:t>
            </a:r>
            <a:r>
              <a:rPr lang="zh-CN" altLang="en-US"/>
              <a:t>或者明确声明单 </a:t>
            </a:r>
            <a:r>
              <a:rPr lang="en-US" altLang="zh-CN"/>
              <a:t>seed </a:t>
            </a:r>
            <a:r>
              <a:rPr lang="zh-CN" altLang="en-US"/>
              <a:t>局限；</a:t>
            </a:r>
            <a:r>
              <a:rPr lang="en-US" altLang="zh-CN"/>
              <a:t>PR </a:t>
            </a:r>
            <a:r>
              <a:rPr lang="zh-CN" altLang="en-US"/>
              <a:t>需要测试、消融和已知局限。最终是否通过、是否优秀，以计划官方评审为准。</a:t>
            </a:r>
            <a:endParaRPr lang="zh-CN" altLang="en-US"/>
          </a:p>
        </p:txBody>
      </p:sp>
      <p:sp>
        <p:nvSpPr>
          <p:cNvPr id="148" name="Slide Number Placeholder 3"/>
          <p:cNvSpPr>
            <a:spLocks noGrp="1"/>
          </p:cNvSpPr>
          <p:nvPr>
            <p:ph type="sldNum" idx="5"/>
          </p:nvPr>
        </p:nvSpPr>
        <p:spPr/>
        <p:txBody>
          <a:bodyPr/>
          <a:lstStyle/>
          <a:p>
            <a:pPr/>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49" name=""/>
        <p:cNvGrpSpPr/>
        <p:nvPr/>
      </p:nvGrpSpPr>
      <p:grpSpPr>
        <a:xfrm>
          <a:off x="0" y="0"/>
          <a:ext cx="0" cy="0"/>
          <a:chOff x="0" y="0"/>
          <a:chExt cx="0" cy="0"/>
        </a:xfrm>
      </p:grpSpPr>
      <p:sp>
        <p:nvSpPr>
          <p:cNvPr id="150" name="Slide Image Placeholder 1"/>
          <p:cNvSpPr>
            <a:spLocks noGrp="1"/>
          </p:cNvSpPr>
          <p:nvPr>
            <p:ph type="sldImg"/>
          </p:nvPr>
        </p:nvSpPr>
        <p:spPr/>
        <p:txBody>
          <a:bodyPr/>
          <a:p/>
        </p:txBody>
      </p:sp>
      <p:sp>
        <p:nvSpPr>
          <p:cNvPr id="151" name="Notes Placeholder 2"/>
          <p:cNvSpPr>
            <a:spLocks noGrp="1"/>
          </p:cNvSpPr>
          <p:nvPr>
            <p:ph type="body" idx="1"/>
          </p:nvPr>
        </p:nvSpPr>
        <p:spPr/>
        <p:txBody>
          <a:bodyPr/>
          <a:lstStyle/>
          <a:p>
            <a:pPr/>
            <a:r>
              <a:rPr/>
              <a:t>[Sources]</a:t>
            </a:r>
            <a:endParaRPr/>
          </a:p>
          <a:p>
            <a:pPr/>
            <a:r>
              <a:rPr/>
              <a:t>- 用户确认的实战周期：2026-08-14 至 2026-09-14。</a:t>
            </a:r>
            <a:endParaRPr/>
          </a:p>
          <a:p>
            <a:pPr/>
            <a:r>
              <a:rPr/>
              <a:t>- 六阶段任务内容依据用户提供的《yolo-master 实战课题任务书（细化版）》压缩映射。</a:t>
            </a:r>
            <a:br>
              <a:rPr/>
            </a:br>
            <a:br>
              <a:rPr/>
            </a:br>
            <a:r>
              <a:rPr lang="zh-CN" altLang="en-US"/>
              <a:t>当前已经进入第二阶段，剩余二十四天要完成完整证据链。第一阶段八月十四日到二十日已经过去，今晚需要追认组队、仓库熟悉和资源清单。八月二十一日到二十四日冻结题目、</a:t>
            </a:r>
            <a:r>
              <a:rPr lang="en-US" altLang="zh-CN"/>
              <a:t>commit、GPU </a:t>
            </a:r>
            <a:r>
              <a:rPr lang="zh-CN" altLang="en-US"/>
              <a:t>和数据，并完成二十四小时冒烟。八月二十五日到三十一日必须出现首个可比数字。九月一日到七日做中期演示和消融设计。九月八日到十二日补多 </a:t>
            </a:r>
            <a:r>
              <a:rPr lang="en-US" altLang="zh-CN"/>
              <a:t>seed、</a:t>
            </a:r>
            <a:r>
              <a:rPr lang="zh-CN" altLang="en-US"/>
              <a:t>参数扫描并冻结 </a:t>
            </a:r>
            <a:r>
              <a:rPr lang="en-US" altLang="zh-CN"/>
              <a:t>PR。</a:t>
            </a:r>
            <a:r>
              <a:rPr lang="zh-CN" altLang="en-US"/>
              <a:t>九月十三日到十四日提交报告、</a:t>
            </a:r>
            <a:r>
              <a:rPr lang="en-US" altLang="zh-CN"/>
              <a:t>Demo </a:t>
            </a:r>
            <a:r>
              <a:rPr lang="zh-CN" altLang="en-US"/>
              <a:t>和答辩。请大家记住六个门禁：二十一日登记、二十四日冒烟、三十一日首轮、九月七日中期、十二日冻结、十四日答辩。</a:t>
            </a:r>
            <a:endParaRPr lang="zh-CN" altLang="en-US"/>
          </a:p>
        </p:txBody>
      </p:sp>
      <p:sp>
        <p:nvSpPr>
          <p:cNvPr id="152" name="Slide Number Placeholder 3"/>
          <p:cNvSpPr>
            <a:spLocks noGrp="1"/>
          </p:cNvSpPr>
          <p:nvPr>
            <p:ph type="sldNum" idx="5"/>
          </p:nvPr>
        </p:nvSpPr>
        <p:spPr/>
        <p:txBody>
          <a:bodyPr/>
          <a:lstStyle/>
          <a:p>
            <a:pP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1.xml" /></Relationships>
</file>

<file path=ppt/slides/_rels/slide2.xml.rels><?xml version="1.0" encoding="UTF-8" standalone="yes"?><Relationships xmlns="http://schemas.openxmlformats.org/package/2006/relationships"><Relationship Id="rId1" Type="http://schemas.openxmlformats.org/officeDocument/2006/relationships/image" Target="media/image4.png" /><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4" Type="http://schemas.openxmlformats.org/officeDocument/2006/relationships/image" Target="media/image11.png" /><Relationship Id="rId0" Type="http://schemas.openxmlformats.org/officeDocument/2006/relationships/slideLayout" Target="../slideLayouts/slideLayout1.xml" /><Relationship Id="rId3" Type="http://schemas.openxmlformats.org/officeDocument/2006/relationships/image" Target="media/image10.png" /><Relationship Id="rId2" Type="http://schemas.openxmlformats.org/officeDocument/2006/relationships/image" Target="media/image9.png" /><Relationship Id="rId1" Type="http://schemas.openxmlformats.org/officeDocument/2006/relationships/image" Target="media/image8.png" /></Relationships>
</file>

<file path=ppt/slides/_rels/slide4.xml.rels><?xml version="1.0" encoding="UTF-8" standalone="yes"?><Relationships xmlns="http://schemas.openxmlformats.org/package/2006/relationships"><Relationship Id="rId1" Type="http://schemas.openxmlformats.org/officeDocument/2006/relationships/notesSlide" Target="../notesSlides/notesSlide32.xml" /><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1" Type="http://schemas.openxmlformats.org/officeDocument/2006/relationships/notesSlide" Target="../notesSlides/notesSlide34.xml" /><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1" Type="http://schemas.openxmlformats.org/officeDocument/2006/relationships/notesSlide" Target="../notesSlides/notesSlide35.xml" /><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1" Type="http://schemas.openxmlformats.org/officeDocument/2006/relationships/notesSlide" Target="../notesSlides/notesSlide36.xml" /><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1" Type="http://schemas.openxmlformats.org/officeDocument/2006/relationships/notesSlide" Target="../notesSlides/notesSlide37.xml" /><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1" Type="http://schemas.openxmlformats.org/officeDocument/2006/relationships/notesSlide" Target="../notesSlides/notesSlide38.xml" /><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2.xml" /></Relationships>
</file>

<file path=ppt/slides/_rels/slide11.xml.rels><?xml version="1.0" encoding="UTF-8" standalone="yes"?><Relationships xmlns="http://schemas.openxmlformats.org/package/2006/relationships"><Relationship Id="rId1" Type="http://schemas.openxmlformats.org/officeDocument/2006/relationships/notesSlide" Target="../notesSlides/notesSlide3.xml" /><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1.xml" /><Relationship Id="rId1" Type="http://schemas.openxmlformats.org/officeDocument/2006/relationships/notesSlide" Target="../notesSlides/notesSlide4.xml" /></Relationships>
</file>

<file path=ppt/slides/_rels/slide13.xml.rels><?xml version="1.0" encoding="UTF-8" standalone="yes"?><Relationships xmlns="http://schemas.openxmlformats.org/package/2006/relationships"><Relationship Id="rId1" Type="http://schemas.openxmlformats.org/officeDocument/2006/relationships/notesSlide" Target="../notesSlides/notesSlide5.xml" /><Relationship Id="rId0" Type="http://schemas.openxmlformats.org/officeDocument/2006/relationships/slideLayout" Target="../slideLayouts/slideLayout1.xml" /></Relationships>
</file>

<file path=ppt/slides/_rels/slide14.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6.xml" /></Relationships>
</file>

<file path=ppt/slides/_rels/slide15.xml.rels><?xml version="1.0" encoding="UTF-8" standalone="yes"?><Relationships xmlns="http://schemas.openxmlformats.org/package/2006/relationships"><Relationship Id="rId1" Type="http://schemas.openxmlformats.org/officeDocument/2006/relationships/notesSlide" Target="../notesSlides/notesSlide7.xml" /><Relationship Id="rId0" Type="http://schemas.openxmlformats.org/officeDocument/2006/relationships/slideLayout" Target="../slideLayouts/slideLayout1.xml"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3.png" /><Relationship Id="rId1" Type="http://schemas.openxmlformats.org/officeDocument/2006/relationships/notesSlide" Target="../notesSlides/notesSlide8.xml" /></Relationships>
</file>

<file path=ppt/slides/_rels/slide17.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9.xml" /></Relationships>
</file>

<file path=ppt/slides/_rels/slide18.xml.rels><?xml version="1.0" encoding="UTF-8" standalone="yes"?><Relationships xmlns="http://schemas.openxmlformats.org/package/2006/relationships"><Relationship Id="rId1" Type="http://schemas.openxmlformats.org/officeDocument/2006/relationships/notesSlide" Target="../notesSlides/notesSlide10.xml" /><Relationship Id="rId0" Type="http://schemas.openxmlformats.org/officeDocument/2006/relationships/slideLayout" Target="../slideLayouts/slideLayout1.xml" /></Relationships>
</file>

<file path=ppt/slides/_rels/slide19.xml.rels><?xml version="1.0" encoding="UTF-8" standalone="yes"?><Relationships xmlns="http://schemas.openxmlformats.org/package/2006/relationships"><Relationship Id="rId1" Type="http://schemas.openxmlformats.org/officeDocument/2006/relationships/notesSlide" Target="../notesSlides/notesSlide11.xml" /><Relationship Id="rId0" Type="http://schemas.openxmlformats.org/officeDocument/2006/relationships/slideLayout" Target="../slideLayouts/slideLayout1.xml"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5.png" /><Relationship Id="rId1" Type="http://schemas.openxmlformats.org/officeDocument/2006/relationships/notesSlide" Target="../notesSlides/notesSlide12.xml" /></Relationships>
</file>

<file path=ppt/slides/_rels/slide21.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13.xml" /></Relationships>
</file>

<file path=ppt/slides/_rels/slide22.xml.rels><?xml version="1.0" encoding="UTF-8" standalone="yes"?><Relationships xmlns="http://schemas.openxmlformats.org/package/2006/relationships"><Relationship Id="rId1" Type="http://schemas.openxmlformats.org/officeDocument/2006/relationships/notesSlide" Target="../notesSlides/notesSlide14.xml" /><Relationship Id="rId0" Type="http://schemas.openxmlformats.org/officeDocument/2006/relationships/slideLayout" Target="../slideLayouts/slideLayout1.xml" /></Relationships>
</file>

<file path=ppt/slides/_rels/slide23.xml.rels><?xml version="1.0" encoding="UTF-8" standalone="yes"?><Relationships xmlns="http://schemas.openxmlformats.org/package/2006/relationships"><Relationship Id="rId1" Type="http://schemas.openxmlformats.org/officeDocument/2006/relationships/notesSlide" Target="../notesSlides/notesSlide15.xml" /><Relationship Id="rId0" Type="http://schemas.openxmlformats.org/officeDocument/2006/relationships/slideLayout" Target="../slideLayouts/slideLayout1.xml" /></Relationships>
</file>

<file path=ppt/slides/_rels/slide24.xml.rels><?xml version="1.0" encoding="UTF-8" standalone="yes"?><Relationships xmlns="http://schemas.openxmlformats.org/package/2006/relationships"><Relationship Id="rId2" Type="http://schemas.openxmlformats.org/officeDocument/2006/relationships/image" Target="media/image6.png" /><Relationship Id="rId0" Type="http://schemas.openxmlformats.org/officeDocument/2006/relationships/slideLayout" Target="../slideLayouts/slideLayout1.xml" /><Relationship Id="rId1" Type="http://schemas.openxmlformats.org/officeDocument/2006/relationships/notesSlide" Target="../notesSlides/notesSlide16.xml" /></Relationships>
</file>

<file path=ppt/slides/_rels/slide25.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17.xml" /></Relationships>
</file>

<file path=ppt/slides/_rels/slide26.xml.rels><?xml version="1.0" encoding="UTF-8" standalone="yes"?><Relationships xmlns="http://schemas.openxmlformats.org/package/2006/relationships"><Relationship Id="rId1" Type="http://schemas.openxmlformats.org/officeDocument/2006/relationships/notesSlide" Target="../notesSlides/notesSlide18.xml" /><Relationship Id="rId0" Type="http://schemas.openxmlformats.org/officeDocument/2006/relationships/slideLayout" Target="../slideLayouts/slideLayout1.xml" /></Relationships>
</file>

<file path=ppt/slides/_rels/slide27.xml.rels><?xml version="1.0" encoding="UTF-8" standalone="yes"?><Relationships xmlns="http://schemas.openxmlformats.org/package/2006/relationships"><Relationship Id="rId1" Type="http://schemas.openxmlformats.org/officeDocument/2006/relationships/notesSlide" Target="../notesSlides/notesSlide19.xml" /><Relationship Id="rId0" Type="http://schemas.openxmlformats.org/officeDocument/2006/relationships/slideLayout" Target="../slideLayouts/slideLayout1.xml" /></Relationships>
</file>

<file path=ppt/slides/_rels/slide28.xml.rels><?xml version="1.0" encoding="UTF-8" standalone="yes"?><Relationships xmlns="http://schemas.openxmlformats.org/package/2006/relationships"><Relationship Id="rId2" Type="http://schemas.openxmlformats.org/officeDocument/2006/relationships/image" Target="media/image7.png" /><Relationship Id="rId0" Type="http://schemas.openxmlformats.org/officeDocument/2006/relationships/slideLayout" Target="../slideLayouts/slideLayout1.xml" /><Relationship Id="rId1" Type="http://schemas.openxmlformats.org/officeDocument/2006/relationships/notesSlide" Target="../notesSlides/notesSlide20.xml" /></Relationships>
</file>

<file path=ppt/slides/_rels/slide29.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21.xml" /></Relationships>
</file>

<file path=ppt/slides/_rels/slide30.xml.rels><?xml version="1.0" encoding="UTF-8" standalone="yes"?><Relationships xmlns="http://schemas.openxmlformats.org/package/2006/relationships"><Relationship Id="rId1" Type="http://schemas.openxmlformats.org/officeDocument/2006/relationships/notesSlide" Target="../notesSlides/notesSlide22.xml" /><Relationship Id="rId0" Type="http://schemas.openxmlformats.org/officeDocument/2006/relationships/slideLayout" Target="../slideLayouts/slideLayout1.xml" /></Relationships>
</file>

<file path=ppt/slides/_rels/slide31.xml.rels><?xml version="1.0" encoding="UTF-8" standalone="yes"?><Relationships xmlns="http://schemas.openxmlformats.org/package/2006/relationships"><Relationship Id="rId1" Type="http://schemas.openxmlformats.org/officeDocument/2006/relationships/notesSlide" Target="../notesSlides/notesSlide23.xml" /><Relationship Id="rId0" Type="http://schemas.openxmlformats.org/officeDocument/2006/relationships/slideLayout" Target="../slideLayouts/slideLayout1.xml" /></Relationships>
</file>

<file path=ppt/slides/_rels/slide32.xml.rels><?xml version="1.0" encoding="UTF-8" standalone="yes"?><Relationships xmlns="http://schemas.openxmlformats.org/package/2006/relationships"><Relationship Id="rId1" Type="http://schemas.openxmlformats.org/officeDocument/2006/relationships/notesSlide" Target="../notesSlides/notesSlide24.xml" /><Relationship Id="rId0" Type="http://schemas.openxmlformats.org/officeDocument/2006/relationships/slideLayout" Target="../slideLayouts/slideLayout1.xml" /></Relationships>
</file>

<file path=ppt/slides/_rels/slide33.xml.rels><?xml version="1.0" encoding="UTF-8" standalone="yes"?><Relationships xmlns="http://schemas.openxmlformats.org/package/2006/relationships"><Relationship Id="rId1" Type="http://schemas.openxmlformats.org/officeDocument/2006/relationships/notesSlide" Target="../notesSlides/notesSlide25.xml" /><Relationship Id="rId0" Type="http://schemas.openxmlformats.org/officeDocument/2006/relationships/slideLayout" Target="../slideLayouts/slideLayout1.xml" /></Relationships>
</file>

<file path=ppt/slides/_rels/slide34.xml.rels><?xml version="1.0" encoding="UTF-8" standalone="yes"?><Relationships xmlns="http://schemas.openxmlformats.org/package/2006/relationships"><Relationship Id="rId1" Type="http://schemas.openxmlformats.org/officeDocument/2006/relationships/notesSlide" Target="../notesSlides/notesSlide26.xml" /><Relationship Id="rId0" Type="http://schemas.openxmlformats.org/officeDocument/2006/relationships/slideLayout" Target="../slideLayouts/slideLayout1.xml" /></Relationships>
</file>

<file path=ppt/slides/_rels/slide35.xml.rels><?xml version="1.0" encoding="UTF-8" standalone="yes"?><Relationships xmlns="http://schemas.openxmlformats.org/package/2006/relationships"><Relationship Id="rId1" Type="http://schemas.openxmlformats.org/officeDocument/2006/relationships/notesSlide" Target="../notesSlides/notesSlide27.xml" /><Relationship Id="rId0" Type="http://schemas.openxmlformats.org/officeDocument/2006/relationships/slideLayout" Target="../slideLayouts/slideLayout1.xml" /></Relationships>
</file>

<file path=ppt/slides/_rels/slide36.xml.rels><?xml version="1.0" encoding="UTF-8" standalone="yes"?><Relationships xmlns="http://schemas.openxmlformats.org/package/2006/relationships"><Relationship Id="rId1" Type="http://schemas.openxmlformats.org/officeDocument/2006/relationships/notesSlide" Target="../notesSlides/notesSlide28.xml" /><Relationship Id="rId0" Type="http://schemas.openxmlformats.org/officeDocument/2006/relationships/slideLayout" Target="../slideLayouts/slideLayout1.xml" /></Relationships>
</file>

<file path=ppt/slides/_rels/slide37.xml.rels><?xml version="1.0" encoding="UTF-8" standalone="yes"?><Relationships xmlns="http://schemas.openxmlformats.org/package/2006/relationships"><Relationship Id="rId1" Type="http://schemas.openxmlformats.org/officeDocument/2006/relationships/notesSlide" Target="../notesSlides/notesSlide29.xml" /><Relationship Id="rId0" Type="http://schemas.openxmlformats.org/officeDocument/2006/relationships/slideLayout" Target="../slideLayouts/slideLayout1.xml" /></Relationships>
</file>

<file path=ppt/slides/_rels/slide38.xml.rels><?xml version="1.0" encoding="UTF-8" standalone="yes"?><Relationships xmlns="http://schemas.openxmlformats.org/package/2006/relationships"><Relationship Id="rId1" Type="http://schemas.openxmlformats.org/officeDocument/2006/relationships/notesSlide" Target="../notesSlides/notesSlide30.xml" /><Relationship Id="rId0" Type="http://schemas.openxmlformats.org/officeDocument/2006/relationships/slideLayout" Target="../slideLayouts/slideLayout1.xml" /></Relationships>
</file>

<file path=ppt/slides/_rels/slide39.xml.rels><?xml version="1.0" encoding="UTF-8" standalone="yes"?><Relationships xmlns="http://schemas.openxmlformats.org/package/2006/relationships"><Relationship Id="rId1" Type="http://schemas.openxmlformats.org/officeDocument/2006/relationships/notesSlide" Target="../notesSlides/notesSlide31.xml" /><Relationship Id="rId0" Type="http://schemas.openxmlformats.org/officeDocument/2006/relationships/slideLayout" Target="../slideLayouts/slideLayout1.xml" /></Relationships>
</file>

<file path=ppt/slides/_rels/slide40.xml.rels><?xml version="1.0" encoding="UTF-8" standalone="yes"?><Relationships xmlns="http://schemas.openxmlformats.org/package/2006/relationships"><Relationship Id="rId2" Type="http://schemas.openxmlformats.org/officeDocument/2006/relationships/image" Target="media/image1.png" /><Relationship Id="rId0" Type="http://schemas.openxmlformats.org/officeDocument/2006/relationships/slideLayout" Target="../slideLayouts/slideLayout1.xml" /><Relationship Id="rId1" Type="http://schemas.openxmlformats.org/officeDocument/2006/relationships/notesSlide" Target="../notesSlides/notesSlide33.xml" /></Relationships>
</file>

<file path=ppt/slides/_rels/slide41.xml.rels><?xml version="1.0" encoding="UTF-8" standalone="yes"?><Relationships xmlns="http://schemas.openxmlformats.org/package/2006/relationships"><Relationship Id="rId1" Type="http://schemas.openxmlformats.org/officeDocument/2006/relationships/image" Target="media/image12.jpg" /><Relationship Id="rId0"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图片 10"/>
          <p:cNvPicPr>
            <a:picLocks noChangeAspect="1"/>
          </p:cNvPicPr>
          <p:nvPr/>
        </p:nvPicPr>
        <p:blipFill>
          <a:blip r:embed="rId2"/>
          <a:srcRect t="27" b="27"/>
          <a:stretch>
            <a:fillRect/>
          </a:stretch>
        </p:blipFill>
        <p:spPr>
          <a:xfrm>
            <a:off x="0" y="0"/>
            <a:ext cx="12192000" cy="6858000"/>
          </a:xfrm>
          <a:prstGeom prst="rect">
            <a:avLst/>
          </a:prstGeom>
        </p:spPr>
      </p:pic>
      <p:sp>
        <p:nvSpPr>
          <p:cNvPr id="3"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4" name="矩形 2"/>
          <p:cNvSpPr>
            <a:spLocks noGrp="1"/>
          </p:cNvSpPr>
          <p:nvPr/>
        </p:nvSpPr>
        <p:spPr>
          <a:xfrm>
            <a:off x="495300" y="457200"/>
            <a:ext cx="4762500" cy="3048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TENCENT RHINO-BIRD OPEN SOURCE TALENT PROGRAM</a:t>
            </a:r>
            <a:endParaRPr sz="1125" b="1">
              <a:solidFill>
                <a:srgbClr val="1769FF"/>
              </a:solidFill>
              <a:latin typeface="Noto Sans CJK SC"/>
              <a:ea typeface="Noto Sans CJK SC"/>
              <a:cs typeface="Noto Sans CJK SC"/>
            </a:endParaRPr>
          </a:p>
        </p:txBody>
      </p:sp>
      <p:sp>
        <p:nvSpPr>
          <p:cNvPr id="5" name="矩形 3"/>
          <p:cNvSpPr>
            <a:spLocks noGrp="1"/>
          </p:cNvSpPr>
          <p:nvPr/>
        </p:nvSpPr>
        <p:spPr>
          <a:xfrm>
            <a:off x="495300" y="1143000"/>
            <a:ext cx="4476750" cy="438150"/>
          </a:xfrm>
          <a:prstGeom prst="rect">
            <a:avLst/>
          </a:prstGeom>
          <a:noFill/>
          <a:ln w="0">
            <a:noFill/>
            <a:prstDash val="solid"/>
          </a:ln>
        </p:spPr>
        <p:txBody>
          <a:bodyPr wrap="square" lIns="0" tIns="0" rIns="0" bIns="0" anchor="t">
            <a:normAutofit/>
          </a:bodyPr>
          <a:lstStyle/>
          <a:p>
            <a:pPr algn="l">
              <a:lnSpc>
                <a:spcPct val="108000"/>
              </a:lnSpc>
              <a:buNone/>
              <a:defRPr sz="1875" b="1">
                <a:solidFill>
                  <a:srgbClr val="111827"/>
                </a:solidFill>
                <a:latin typeface="Noto Sans CJK SC"/>
                <a:ea typeface="Noto Sans CJK SC"/>
                <a:cs typeface="Noto Sans CJK SC"/>
              </a:defRPr>
            </a:pPr>
            <a:r>
              <a:rPr sz="1875" b="1">
                <a:solidFill>
                  <a:srgbClr val="111827"/>
                </a:solidFill>
                <a:latin typeface="Noto Sans CJK SC"/>
                <a:ea typeface="Noto Sans CJK SC"/>
                <a:cs typeface="Noto Sans CJK SC"/>
              </a:rPr>
              <a:t>腾讯犀牛鸟开源人才计划</a:t>
            </a:r>
            <a:endParaRPr sz="1875" b="1">
              <a:solidFill>
                <a:srgbClr val="111827"/>
              </a:solidFill>
              <a:latin typeface="Noto Sans CJK SC"/>
              <a:ea typeface="Noto Sans CJK SC"/>
              <a:cs typeface="Noto Sans CJK SC"/>
            </a:endParaRPr>
          </a:p>
        </p:txBody>
      </p:sp>
      <p:sp>
        <p:nvSpPr>
          <p:cNvPr id="6" name="矩形 4"/>
          <p:cNvSpPr>
            <a:spLocks noGrp="1"/>
          </p:cNvSpPr>
          <p:nvPr/>
        </p:nvSpPr>
        <p:spPr>
          <a:xfrm>
            <a:off x="495300" y="1809750"/>
            <a:ext cx="5334000" cy="1809750"/>
          </a:xfrm>
          <a:prstGeom prst="rect">
            <a:avLst/>
          </a:prstGeom>
          <a:noFill/>
          <a:ln w="0">
            <a:noFill/>
            <a:prstDash val="solid"/>
          </a:ln>
        </p:spPr>
        <p:txBody>
          <a:bodyPr wrap="square" lIns="0" tIns="0" rIns="0" bIns="0" anchor="t">
            <a:normAutofit/>
          </a:bodyPr>
          <a:lstStyle/>
          <a:p>
            <a:pPr algn="l">
              <a:lnSpc>
                <a:spcPct val="93000"/>
              </a:lnSpc>
              <a:buNone/>
              <a:defRPr sz="4350" b="1">
                <a:solidFill>
                  <a:srgbClr val="111827"/>
                </a:solidFill>
                <a:latin typeface="Noto Sans CJK SC"/>
                <a:ea typeface="Noto Sans CJK SC"/>
                <a:cs typeface="Noto Sans CJK SC"/>
              </a:defRPr>
            </a:pPr>
            <a:r>
              <a:rPr sz="4350" b="1">
                <a:solidFill>
                  <a:srgbClr val="111827"/>
                </a:solidFill>
                <a:latin typeface="Noto Sans CJK SC"/>
                <a:ea typeface="Noto Sans CJK SC"/>
                <a:cs typeface="Noto Sans CJK SC"/>
              </a:rPr>
              <a:t>YOLO-Master</a:t>
            </a:r>
            <a:endParaRPr sz="4350" b="1">
              <a:solidFill>
                <a:srgbClr val="111827"/>
              </a:solidFill>
              <a:latin typeface="Noto Sans CJK SC"/>
              <a:ea typeface="Noto Sans CJK SC"/>
              <a:cs typeface="Noto Sans CJK SC"/>
            </a:endParaRPr>
          </a:p>
          <a:p>
            <a:pPr algn="l">
              <a:lnSpc>
                <a:spcPct val="93000"/>
              </a:lnSpc>
              <a:buNone/>
              <a:defRPr sz="4350" b="1">
                <a:solidFill>
                  <a:srgbClr val="111827"/>
                </a:solidFill>
                <a:latin typeface="Noto Sans CJK SC"/>
                <a:ea typeface="Noto Sans CJK SC"/>
                <a:cs typeface="Noto Sans CJK SC"/>
              </a:defRPr>
            </a:pPr>
            <a:r>
              <a:rPr sz="4350" b="1">
                <a:solidFill>
                  <a:srgbClr val="111827"/>
                </a:solidFill>
                <a:latin typeface="Noto Sans CJK SC"/>
                <a:ea typeface="Noto Sans CJK SC"/>
                <a:cs typeface="Noto Sans CJK SC"/>
              </a:rPr>
              <a:t>实战课题大纲</a:t>
            </a:r>
            <a:endParaRPr sz="4350" b="1">
              <a:solidFill>
                <a:srgbClr val="111827"/>
              </a:solidFill>
              <a:latin typeface="Noto Sans CJK SC"/>
              <a:ea typeface="Noto Sans CJK SC"/>
              <a:cs typeface="Noto Sans CJK SC"/>
            </a:endParaRPr>
          </a:p>
        </p:txBody>
      </p:sp>
      <p:sp>
        <p:nvSpPr>
          <p:cNvPr id="7" name="矩形 5"/>
          <p:cNvSpPr>
            <a:spLocks noGrp="1"/>
          </p:cNvSpPr>
          <p:nvPr/>
        </p:nvSpPr>
        <p:spPr>
          <a:xfrm>
            <a:off x="495300" y="4048125"/>
            <a:ext cx="4381500" cy="666750"/>
          </a:xfrm>
          <a:prstGeom prst="rect">
            <a:avLst/>
          </a:prstGeom>
          <a:noFill/>
          <a:ln w="0">
            <a:noFill/>
            <a:prstDash val="solid"/>
          </a:ln>
        </p:spPr>
        <p:txBody>
          <a:bodyPr wrap="square" lIns="0" tIns="0" rIns="0" bIns="0" anchor="t">
            <a:normAutofit fontScale="100000"/>
          </a:bodyPr>
          <a:lstStyle/>
          <a:p>
            <a:pPr algn="l">
              <a:lnSpc>
                <a:spcPct val="108000"/>
              </a:lnSpc>
              <a:buNone/>
              <a:defRPr sz="1800" b="0">
                <a:solidFill>
                  <a:srgbClr val="667085">
                    <a:alpha val="100000"/>
                  </a:srgbClr>
                </a:solidFill>
                <a:latin typeface="Noto Sans CJK SC"/>
                <a:ea typeface="Noto Sans CJK SC"/>
                <a:cs typeface="Noto Sans CJK SC"/>
              </a:defRPr>
            </a:pPr>
            <a:r>
              <a:rPr sz="1800" b="0">
                <a:solidFill>
                  <a:srgbClr val="667085">
                    <a:alpha val="100000"/>
                  </a:srgbClr>
                </a:solidFill>
                <a:latin typeface="Noto Sans CJK SC"/>
                <a:ea typeface="Noto Sans CJK SC"/>
                <a:cs typeface="Noto Sans CJK SC"/>
              </a:rPr>
              <a:t>6 条研究主线 · 17 个课题槽位 · 8.14–9.14 开源实战</a:t>
            </a:r>
            <a:endParaRPr sz="1800" b="0">
              <a:solidFill>
                <a:srgbClr val="667085">
                  <a:alpha val="100000"/>
                </a:srgbClr>
              </a:solidFill>
              <a:latin typeface="Noto Sans CJK SC"/>
              <a:ea typeface="Noto Sans CJK SC"/>
              <a:cs typeface="Noto Sans CJK SC"/>
            </a:endParaRPr>
          </a:p>
          <a:p>
            <a:pPr algn="l">
              <a:lnSpc>
                <a:spcPct val="108000"/>
              </a:lnSpc>
              <a:buNone/>
              <a:defRPr sz="1800" b="0">
                <a:solidFill>
                  <a:srgbClr val="667085">
                    <a:alpha val="100000"/>
                  </a:srgbClr>
                </a:solidFill>
                <a:latin typeface="Noto Sans CJK SC"/>
                <a:ea typeface="Noto Sans CJK SC"/>
                <a:cs typeface="Noto Sans CJK SC"/>
              </a:defRPr>
            </a:pPr>
            <a:endParaRPr lang="zh-CN" sz="1800" b="0">
              <a:solidFill>
                <a:srgbClr val="667085">
                  <a:alpha val="100000"/>
                </a:srgbClr>
              </a:solidFill>
              <a:latin typeface="Noto Sans CJK SC"/>
              <a:ea typeface="Noto Sans CJK SC"/>
              <a:cs typeface="Noto Sans CJK SC"/>
            </a:endParaRPr>
          </a:p>
        </p:txBody>
      </p:sp>
      <p:sp>
        <p:nvSpPr>
          <p:cNvPr id="8" name="矩形 6"/>
          <p:cNvSpPr>
            <a:spLocks noGrp="1"/>
          </p:cNvSpPr>
          <p:nvPr/>
        </p:nvSpPr>
        <p:spPr>
          <a:xfrm>
            <a:off x="495300" y="5048250"/>
            <a:ext cx="3619500" cy="38100"/>
          </a:xfrm>
          <a:prstGeom prst="rect">
            <a:avLst/>
          </a:prstGeom>
          <a:solidFill>
            <a:srgbClr val="1769FF"/>
          </a:solidFill>
          <a:ln w="9525">
            <a:solidFill>
              <a:srgbClr val="1769FF"/>
            </a:solidFill>
            <a:prstDash val="solid"/>
          </a:ln>
        </p:spPr>
        <p:txBody>
          <a:bodyPr/>
          <a:p/>
        </p:txBody>
      </p:sp>
      <p:sp>
        <p:nvSpPr>
          <p:cNvPr id="9" name="矩形 7"/>
          <p:cNvSpPr>
            <a:spLocks noGrp="1"/>
          </p:cNvSpPr>
          <p:nvPr/>
        </p:nvSpPr>
        <p:spPr>
          <a:xfrm>
            <a:off x="495300" y="5334000"/>
            <a:ext cx="2857500" cy="2667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筹备会终审版 · 2026.08.21</a:t>
            </a:r>
            <a:endParaRPr sz="1275" b="0">
              <a:solidFill>
                <a:srgbClr val="667085"/>
              </a:solidFill>
              <a:latin typeface="Noto Sans CJK SC"/>
              <a:ea typeface="Noto Sans CJK SC"/>
              <a:cs typeface="Noto Sans CJK SC"/>
            </a:endParaRPr>
          </a:p>
        </p:txBody>
      </p:sp>
      <p:sp>
        <p:nvSpPr>
          <p:cNvPr id="10" name="矩形 8"/>
          <p:cNvSpPr>
            <a:spLocks noGrp="1"/>
          </p:cNvSpPr>
          <p:nvPr/>
        </p:nvSpPr>
        <p:spPr>
          <a:xfrm>
            <a:off x="495300" y="5857875"/>
            <a:ext cx="4000500" cy="4191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D92D20"/>
                </a:solidFill>
                <a:latin typeface="Noto Sans CJK SC"/>
                <a:ea typeface="Noto Sans CJK SC"/>
                <a:cs typeface="Noto Sans CJK SC"/>
              </a:defRPr>
            </a:pPr>
            <a:r>
              <a:rPr sz="1200" b="1">
                <a:solidFill>
                  <a:srgbClr val="D92D20"/>
                </a:solidFill>
                <a:latin typeface="Noto Sans CJK SC"/>
                <a:ea typeface="Noto Sans CJK SC"/>
                <a:cs typeface="Noto Sans CJK SC"/>
              </a:rPr>
              <a:t>P0 基线：YOLO-Master-v26.08@43d4011；HEAD 课题锁定 57b9ea3</a:t>
            </a:r>
            <a:endParaRPr sz="1200" b="1">
              <a:solidFill>
                <a:srgbClr val="D92D20"/>
              </a:solidFill>
              <a:latin typeface="Noto Sans CJK SC"/>
              <a:ea typeface="Noto Sans CJK SC"/>
              <a:cs typeface="Noto Sans CJK SC"/>
            </a:endParaRPr>
          </a:p>
        </p:txBody>
      </p:sp>
      <p:sp>
        <p:nvSpPr>
          <p:cNvPr id="11" name=""/>
          <p:cNvSpPr txBox="1"/>
          <p:nvPr/>
        </p:nvSpPr>
        <p:spPr>
          <a:xfrm rot="0">
            <a:off x="540387" y="4706278"/>
            <a:ext cx="2692400" cy="368300"/>
          </a:xfrm>
          <a:prstGeom prst="rect">
            <a:avLst/>
          </a:prstGeom>
          <a:ln w="12700">
            <a:prstDash val="solid"/>
          </a:ln>
        </p:spPr>
        <p:txBody>
          <a:bodyPr wrap="none">
            <a:spAutoFit/>
          </a:bodyPr>
          <a:p>
            <a:pPr/>
            <a:r>
              <a:rPr lang="zh-CN"/>
              <a:t>指导老师：</a:t>
            </a:r>
            <a:r>
              <a:rPr lang="en-US"/>
              <a:t>isLinXu(</a:t>
            </a:r>
            <a:r>
              <a:rPr lang="zh-CN"/>
              <a:t>林旭</a:t>
            </a:r>
            <a:r>
              <a:rPr lang="en-US"/>
              <a:t>)</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236" name=""/>
        <p:cNvGrpSpPr/>
        <p:nvPr/>
      </p:nvGrpSpPr>
      <p:grpSpPr>
        <a:xfrm>
          <a:off x="0" y="0"/>
          <a:ext cx="0" cy="0"/>
          <a:chOff x="0" y="0"/>
          <a:chExt cx="0" cy="0"/>
        </a:xfrm>
      </p:grpSpPr>
      <p:pic>
        <p:nvPicPr>
          <p:cNvPr id="237" name=""/>
          <p:cNvPicPr>
            <a:picLocks noChangeAspect="1"/>
          </p:cNvPicPr>
          <p:nvPr/>
        </p:nvPicPr>
        <p:blipFill>
          <a:blip r:embed="rId1"/>
          <a:stretch>
            <a:fillRect/>
          </a:stretch>
        </p:blipFill>
        <p:spPr>
          <a:xfrm rot="0" flipH="0" flipV="0">
            <a:off x="88427" y="132641"/>
            <a:ext cx="11946368" cy="6592719"/>
          </a:xfrm>
          <a:prstGeom prst="rect"/>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430" name=""/>
        <p:cNvGrpSpPr/>
        <p:nvPr/>
      </p:nvGrpSpPr>
      <p:grpSpPr>
        <a:xfrm>
          <a:off x="0" y="0"/>
          <a:ext cx="0" cy="0"/>
          <a:chOff x="0" y="0"/>
          <a:chExt cx="0" cy="0"/>
        </a:xfrm>
      </p:grpSpPr>
      <p:pic>
        <p:nvPicPr>
          <p:cNvPr id="431" name=""/>
          <p:cNvPicPr>
            <a:picLocks noChangeAspect="1"/>
          </p:cNvPicPr>
          <p:nvPr/>
        </p:nvPicPr>
        <p:blipFill>
          <a:blip r:embed="rId1"/>
          <a:stretch>
            <a:fillRect/>
          </a:stretch>
        </p:blipFill>
        <p:spPr>
          <a:xfrm rot="0" flipH="0" flipV="0">
            <a:off x="191775" y="144413"/>
            <a:ext cx="7188182" cy="3199126"/>
          </a:xfrm>
          <a:prstGeom prst="rect"/>
        </p:spPr>
      </p:pic>
      <p:pic>
        <p:nvPicPr>
          <p:cNvPr id="432" name=""/>
          <p:cNvPicPr>
            <a:picLocks noChangeAspect="1"/>
          </p:cNvPicPr>
          <p:nvPr/>
        </p:nvPicPr>
        <p:blipFill>
          <a:blip r:embed="rId2"/>
          <a:stretch>
            <a:fillRect/>
          </a:stretch>
        </p:blipFill>
        <p:spPr>
          <a:xfrm rot="0" flipH="0" flipV="0">
            <a:off x="191775" y="3343539"/>
            <a:ext cx="7383994" cy="3121307"/>
          </a:xfrm>
          <a:prstGeom prst="rect"/>
        </p:spPr>
      </p:pic>
      <p:pic>
        <p:nvPicPr>
          <p:cNvPr id="433" name=""/>
          <p:cNvPicPr/>
          <p:nvPr/>
        </p:nvPicPr>
        <p:blipFill>
          <a:blip r:embed="rId3"/>
          <a:stretch>
            <a:fillRect/>
          </a:stretch>
        </p:blipFill>
        <p:spPr>
          <a:xfrm rot="0" flipH="0" flipV="0">
            <a:off x="7430757" y="3827358"/>
            <a:ext cx="4606514" cy="2369823"/>
          </a:xfrm>
          <a:prstGeom prst="rect"/>
        </p:spPr>
      </p:pic>
      <p:pic>
        <p:nvPicPr>
          <p:cNvPr id="434" name=""/>
          <p:cNvPicPr/>
          <p:nvPr/>
        </p:nvPicPr>
        <p:blipFill>
          <a:blip r:embed="rId4"/>
          <a:stretch>
            <a:fillRect/>
          </a:stretch>
        </p:blipFill>
        <p:spPr>
          <a:xfrm rot="0" flipH="0" flipV="0">
            <a:off x="7430757" y="72207"/>
            <a:ext cx="4375003" cy="3549868"/>
          </a:xfrm>
          <a:prstGeom prst="rect"/>
        </p:spPr>
      </p:pic>
    </p:spTree>
  </p:cSld>
</p:sld>
</file>

<file path=ppt/slides/slide4.xml><?xml version="1.0" encoding="utf-8"?>
<p:sld xmlns:a="http://schemas.openxmlformats.org/drawingml/2006/main" xmlns:p="http://schemas.openxmlformats.org/presentationml/2006/main">
  <p:cSld>
    <p:bg>
      <p:bgPr>
        <a:solidFill>
          <a:srgbClr val="FFFFFF"/>
        </a:solidFill>
        <a:effectLst/>
      </p:bgPr>
    </p:bg>
    <p:spTree>
      <p:nvGrpSpPr>
        <p:cNvPr id="804" name=""/>
        <p:cNvGrpSpPr/>
        <p:nvPr/>
      </p:nvGrpSpPr>
      <p:grpSpPr>
        <a:xfrm>
          <a:off x="0" y="0"/>
          <a:ext cx="0" cy="0"/>
          <a:chOff x="0" y="0"/>
          <a:chExt cx="0" cy="0"/>
        </a:xfrm>
      </p:grpSpPr>
      <p:sp>
        <p:nvSpPr>
          <p:cNvPr id="805" name="矩形 2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PROGRAM LOGIC</a:t>
            </a:r>
            <a:endParaRPr sz="1125" b="1">
              <a:solidFill>
                <a:srgbClr val="1769FF"/>
              </a:solidFill>
              <a:latin typeface="Noto Sans CJK SC"/>
              <a:ea typeface="Noto Sans CJK SC"/>
              <a:cs typeface="Noto Sans CJK SC"/>
            </a:endParaRPr>
          </a:p>
        </p:txBody>
      </p:sp>
      <p:sp>
        <p:nvSpPr>
          <p:cNvPr id="806"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目标：每组带着可运行的 P0 方案离场</a:t>
            </a:r>
            <a:endParaRPr sz="3000" b="1">
              <a:solidFill>
                <a:srgbClr val="111827"/>
              </a:solidFill>
              <a:latin typeface="Noto Sans CJK SC"/>
              <a:ea typeface="Noto Sans CJK SC"/>
              <a:cs typeface="Noto Sans CJK SC"/>
            </a:endParaRPr>
          </a:p>
        </p:txBody>
      </p:sp>
      <p:sp>
        <p:nvSpPr>
          <p:cNvPr id="807"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808"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809"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810"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02</a:t>
            </a:r>
            <a:endParaRPr sz="975" b="1">
              <a:solidFill>
                <a:srgbClr val="667085"/>
              </a:solidFill>
              <a:latin typeface="Noto Sans CJK SC"/>
              <a:ea typeface="Noto Sans CJK SC"/>
              <a:cs typeface="Noto Sans CJK SC"/>
            </a:endParaRPr>
          </a:p>
        </p:txBody>
      </p:sp>
      <p:sp>
        <p:nvSpPr>
          <p:cNvPr id="811" name="圆角矩形 6"/>
          <p:cNvSpPr>
            <a:spLocks noGrp="1"/>
          </p:cNvSpPr>
          <p:nvPr/>
        </p:nvSpPr>
        <p:spPr>
          <a:xfrm>
            <a:off x="457200" y="1809750"/>
            <a:ext cx="3429000" cy="2095500"/>
          </a:xfrm>
          <a:prstGeom prst="roundRect">
            <a:avLst>
              <a:gd name="adj" fmla="val 4545"/>
            </a:avLst>
          </a:prstGeom>
          <a:solidFill>
            <a:srgbClr val="F2F4F7"/>
          </a:solidFill>
          <a:ln w="9525">
            <a:solidFill>
              <a:srgbClr val="F2F4F7"/>
            </a:solidFill>
            <a:prstDash val="solid"/>
          </a:ln>
        </p:spPr>
        <p:txBody>
          <a:bodyPr/>
          <a:p/>
        </p:txBody>
      </p:sp>
      <p:sp>
        <p:nvSpPr>
          <p:cNvPr id="812" name="矩形 7"/>
          <p:cNvSpPr>
            <a:spLocks noGrp="1"/>
          </p:cNvSpPr>
          <p:nvPr/>
        </p:nvSpPr>
        <p:spPr>
          <a:xfrm>
            <a:off x="666750" y="2047875"/>
            <a:ext cx="1095375" cy="857250"/>
          </a:xfrm>
          <a:prstGeom prst="rect">
            <a:avLst/>
          </a:prstGeom>
          <a:noFill/>
          <a:ln w="0">
            <a:noFill/>
            <a:prstDash val="solid"/>
          </a:ln>
        </p:spPr>
        <p:txBody>
          <a:bodyPr wrap="square" lIns="0" tIns="0" rIns="0" bIns="0" anchor="t">
            <a:normAutofit/>
          </a:bodyPr>
          <a:lstStyle/>
          <a:p>
            <a:pPr algn="l">
              <a:lnSpc>
                <a:spcPct val="108000"/>
              </a:lnSpc>
              <a:buNone/>
              <a:defRPr sz="5100" b="1">
                <a:solidFill>
                  <a:srgbClr val="111827"/>
                </a:solidFill>
                <a:latin typeface="Noto Sans CJK SC"/>
                <a:ea typeface="Noto Sans CJK SC"/>
                <a:cs typeface="Noto Sans CJK SC"/>
              </a:defRPr>
            </a:pPr>
            <a:r>
              <a:rPr sz="5100" b="1">
                <a:solidFill>
                  <a:srgbClr val="111827"/>
                </a:solidFill>
                <a:latin typeface="Noto Sans CJK SC"/>
                <a:ea typeface="Noto Sans CJK SC"/>
                <a:cs typeface="Noto Sans CJK SC"/>
              </a:rPr>
              <a:t>01</a:t>
            </a:r>
            <a:endParaRPr sz="5100" b="1">
              <a:solidFill>
                <a:srgbClr val="111827"/>
              </a:solidFill>
              <a:latin typeface="Noto Sans CJK SC"/>
              <a:ea typeface="Noto Sans CJK SC"/>
              <a:cs typeface="Noto Sans CJK SC"/>
            </a:endParaRPr>
          </a:p>
        </p:txBody>
      </p:sp>
      <p:sp>
        <p:nvSpPr>
          <p:cNvPr id="813" name="矩形 8"/>
          <p:cNvSpPr>
            <a:spLocks noGrp="1"/>
          </p:cNvSpPr>
          <p:nvPr/>
        </p:nvSpPr>
        <p:spPr>
          <a:xfrm>
            <a:off x="1790700" y="2190750"/>
            <a:ext cx="1762125"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组队与 Owner</a:t>
            </a:r>
            <a:endParaRPr sz="1800" b="1">
              <a:solidFill>
                <a:srgbClr val="111827"/>
              </a:solidFill>
              <a:latin typeface="Noto Sans CJK SC"/>
              <a:ea typeface="Noto Sans CJK SC"/>
              <a:cs typeface="Noto Sans CJK SC"/>
            </a:endParaRPr>
          </a:p>
        </p:txBody>
      </p:sp>
      <p:sp>
        <p:nvSpPr>
          <p:cNvPr id="814" name="矩形 9"/>
          <p:cNvSpPr>
            <a:spLocks noGrp="1"/>
          </p:cNvSpPr>
          <p:nvPr/>
        </p:nvSpPr>
        <p:spPr>
          <a:xfrm>
            <a:off x="666750" y="3095625"/>
            <a:ext cx="2952750" cy="523875"/>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667085"/>
                </a:solidFill>
                <a:latin typeface="Noto Sans CJK SC"/>
                <a:ea typeface="Noto Sans CJK SC"/>
                <a:cs typeface="Noto Sans CJK SC"/>
              </a:defRPr>
            </a:pPr>
            <a:r>
              <a:rPr sz="1350" b="0">
                <a:solidFill>
                  <a:srgbClr val="667085"/>
                </a:solidFill>
                <a:latin typeface="Noto Sans CJK SC"/>
                <a:ea typeface="Noto Sans CJK SC"/>
                <a:cs typeface="Noto Sans CJK SC"/>
              </a:rPr>
              <a:t>主责 / 协作 / 导师接口</a:t>
            </a:r>
            <a:endParaRPr sz="1350" b="0">
              <a:solidFill>
                <a:srgbClr val="667085"/>
              </a:solidFill>
              <a:latin typeface="Noto Sans CJK SC"/>
              <a:ea typeface="Noto Sans CJK SC"/>
              <a:cs typeface="Noto Sans CJK SC"/>
            </a:endParaRPr>
          </a:p>
        </p:txBody>
      </p:sp>
      <p:sp>
        <p:nvSpPr>
          <p:cNvPr id="815" name="圆角矩形 10"/>
          <p:cNvSpPr>
            <a:spLocks noGrp="1"/>
          </p:cNvSpPr>
          <p:nvPr/>
        </p:nvSpPr>
        <p:spPr>
          <a:xfrm>
            <a:off x="4229100" y="1809750"/>
            <a:ext cx="3429000" cy="2095500"/>
          </a:xfrm>
          <a:prstGeom prst="roundRect">
            <a:avLst>
              <a:gd name="adj" fmla="val 4545"/>
            </a:avLst>
          </a:prstGeom>
          <a:solidFill>
            <a:srgbClr val="EAF2FF"/>
          </a:solidFill>
          <a:ln w="9525">
            <a:solidFill>
              <a:srgbClr val="1769FF"/>
            </a:solidFill>
            <a:prstDash val="solid"/>
          </a:ln>
        </p:spPr>
        <p:txBody>
          <a:bodyPr/>
          <a:p/>
        </p:txBody>
      </p:sp>
      <p:sp>
        <p:nvSpPr>
          <p:cNvPr id="816" name="矩形 11"/>
          <p:cNvSpPr>
            <a:spLocks noGrp="1"/>
          </p:cNvSpPr>
          <p:nvPr/>
        </p:nvSpPr>
        <p:spPr>
          <a:xfrm>
            <a:off x="4438650" y="2047875"/>
            <a:ext cx="1095375" cy="857250"/>
          </a:xfrm>
          <a:prstGeom prst="rect">
            <a:avLst/>
          </a:prstGeom>
          <a:noFill/>
          <a:ln w="0">
            <a:noFill/>
            <a:prstDash val="solid"/>
          </a:ln>
        </p:spPr>
        <p:txBody>
          <a:bodyPr wrap="square" lIns="0" tIns="0" rIns="0" bIns="0" anchor="t">
            <a:normAutofit/>
          </a:bodyPr>
          <a:lstStyle/>
          <a:p>
            <a:pPr algn="l">
              <a:lnSpc>
                <a:spcPct val="108000"/>
              </a:lnSpc>
              <a:buNone/>
              <a:defRPr sz="5100" b="1">
                <a:solidFill>
                  <a:srgbClr val="1769FF"/>
                </a:solidFill>
                <a:latin typeface="Noto Sans CJK SC"/>
                <a:ea typeface="Noto Sans CJK SC"/>
                <a:cs typeface="Noto Sans CJK SC"/>
              </a:defRPr>
            </a:pPr>
            <a:r>
              <a:rPr sz="5100" b="1">
                <a:solidFill>
                  <a:srgbClr val="1769FF"/>
                </a:solidFill>
                <a:latin typeface="Noto Sans CJK SC"/>
                <a:ea typeface="Noto Sans CJK SC"/>
                <a:cs typeface="Noto Sans CJK SC"/>
              </a:rPr>
              <a:t>02</a:t>
            </a:r>
            <a:endParaRPr sz="5100" b="1">
              <a:solidFill>
                <a:srgbClr val="1769FF"/>
              </a:solidFill>
              <a:latin typeface="Noto Sans CJK SC"/>
              <a:ea typeface="Noto Sans CJK SC"/>
              <a:cs typeface="Noto Sans CJK SC"/>
            </a:endParaRPr>
          </a:p>
        </p:txBody>
      </p:sp>
      <p:sp>
        <p:nvSpPr>
          <p:cNvPr id="817" name="矩形 12"/>
          <p:cNvSpPr>
            <a:spLocks noGrp="1"/>
          </p:cNvSpPr>
          <p:nvPr/>
        </p:nvSpPr>
        <p:spPr>
          <a:xfrm>
            <a:off x="5562600" y="2190750"/>
            <a:ext cx="1762125"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主选 + 备选</a:t>
            </a:r>
            <a:endParaRPr sz="1800" b="1">
              <a:solidFill>
                <a:srgbClr val="111827"/>
              </a:solidFill>
              <a:latin typeface="Noto Sans CJK SC"/>
              <a:ea typeface="Noto Sans CJK SC"/>
              <a:cs typeface="Noto Sans CJK SC"/>
            </a:endParaRPr>
          </a:p>
        </p:txBody>
      </p:sp>
      <p:sp>
        <p:nvSpPr>
          <p:cNvPr id="818" name="矩形 13"/>
          <p:cNvSpPr>
            <a:spLocks noGrp="1"/>
          </p:cNvSpPr>
          <p:nvPr/>
        </p:nvSpPr>
        <p:spPr>
          <a:xfrm>
            <a:off x="4438650" y="3095625"/>
            <a:ext cx="2952750" cy="523875"/>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667085"/>
                </a:solidFill>
                <a:latin typeface="Noto Sans CJK SC"/>
                <a:ea typeface="Noto Sans CJK SC"/>
                <a:cs typeface="Noto Sans CJK SC"/>
              </a:defRPr>
            </a:pPr>
            <a:r>
              <a:rPr sz="1350" b="0">
                <a:solidFill>
                  <a:srgbClr val="667085"/>
                </a:solidFill>
                <a:latin typeface="Noto Sans CJK SC"/>
                <a:ea typeface="Noto Sans CJK SC"/>
                <a:cs typeface="Noto Sans CJK SC"/>
              </a:rPr>
              <a:t>P0 闭环 / P1 贡献 / 降级</a:t>
            </a:r>
            <a:endParaRPr sz="1350" b="0">
              <a:solidFill>
                <a:srgbClr val="667085"/>
              </a:solidFill>
              <a:latin typeface="Noto Sans CJK SC"/>
              <a:ea typeface="Noto Sans CJK SC"/>
              <a:cs typeface="Noto Sans CJK SC"/>
            </a:endParaRPr>
          </a:p>
        </p:txBody>
      </p:sp>
      <p:sp>
        <p:nvSpPr>
          <p:cNvPr id="819" name="圆角矩形 14"/>
          <p:cNvSpPr>
            <a:spLocks noGrp="1"/>
          </p:cNvSpPr>
          <p:nvPr/>
        </p:nvSpPr>
        <p:spPr>
          <a:xfrm>
            <a:off x="8001000" y="1809750"/>
            <a:ext cx="3429000" cy="2095500"/>
          </a:xfrm>
          <a:prstGeom prst="roundRect">
            <a:avLst>
              <a:gd name="adj" fmla="val 4545"/>
            </a:avLst>
          </a:prstGeom>
          <a:solidFill>
            <a:srgbClr val="F2F4F7"/>
          </a:solidFill>
          <a:ln w="9525">
            <a:solidFill>
              <a:srgbClr val="F2F4F7"/>
            </a:solidFill>
            <a:prstDash val="solid"/>
          </a:ln>
        </p:spPr>
        <p:txBody>
          <a:bodyPr/>
          <a:p/>
        </p:txBody>
      </p:sp>
      <p:sp>
        <p:nvSpPr>
          <p:cNvPr id="820" name="矩形 15"/>
          <p:cNvSpPr>
            <a:spLocks noGrp="1"/>
          </p:cNvSpPr>
          <p:nvPr/>
        </p:nvSpPr>
        <p:spPr>
          <a:xfrm>
            <a:off x="8210550" y="2047875"/>
            <a:ext cx="1095375" cy="857250"/>
          </a:xfrm>
          <a:prstGeom prst="rect">
            <a:avLst/>
          </a:prstGeom>
          <a:noFill/>
          <a:ln w="0">
            <a:noFill/>
            <a:prstDash val="solid"/>
          </a:ln>
        </p:spPr>
        <p:txBody>
          <a:bodyPr wrap="square" lIns="0" tIns="0" rIns="0" bIns="0" anchor="t">
            <a:normAutofit/>
          </a:bodyPr>
          <a:lstStyle/>
          <a:p>
            <a:pPr algn="l">
              <a:lnSpc>
                <a:spcPct val="108000"/>
              </a:lnSpc>
              <a:buNone/>
              <a:defRPr sz="5100" b="1">
                <a:solidFill>
                  <a:srgbClr val="111827"/>
                </a:solidFill>
                <a:latin typeface="Noto Sans CJK SC"/>
                <a:ea typeface="Noto Sans CJK SC"/>
                <a:cs typeface="Noto Sans CJK SC"/>
              </a:defRPr>
            </a:pPr>
            <a:r>
              <a:rPr sz="5100" b="1">
                <a:solidFill>
                  <a:srgbClr val="111827"/>
                </a:solidFill>
                <a:latin typeface="Noto Sans CJK SC"/>
                <a:ea typeface="Noto Sans CJK SC"/>
                <a:cs typeface="Noto Sans CJK SC"/>
              </a:rPr>
              <a:t>03</a:t>
            </a:r>
            <a:endParaRPr sz="5100" b="1">
              <a:solidFill>
                <a:srgbClr val="111827"/>
              </a:solidFill>
              <a:latin typeface="Noto Sans CJK SC"/>
              <a:ea typeface="Noto Sans CJK SC"/>
              <a:cs typeface="Noto Sans CJK SC"/>
            </a:endParaRPr>
          </a:p>
        </p:txBody>
      </p:sp>
      <p:sp>
        <p:nvSpPr>
          <p:cNvPr id="821" name="矩形 16"/>
          <p:cNvSpPr>
            <a:spLocks noGrp="1"/>
          </p:cNvSpPr>
          <p:nvPr/>
        </p:nvSpPr>
        <p:spPr>
          <a:xfrm>
            <a:off x="9334500" y="2190750"/>
            <a:ext cx="1762125"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基线与资源</a:t>
            </a:r>
            <a:endParaRPr sz="1800" b="1">
              <a:solidFill>
                <a:srgbClr val="111827"/>
              </a:solidFill>
              <a:latin typeface="Noto Sans CJK SC"/>
              <a:ea typeface="Noto Sans CJK SC"/>
              <a:cs typeface="Noto Sans CJK SC"/>
            </a:endParaRPr>
          </a:p>
        </p:txBody>
      </p:sp>
      <p:sp>
        <p:nvSpPr>
          <p:cNvPr id="822" name="矩形 17"/>
          <p:cNvSpPr>
            <a:spLocks noGrp="1"/>
          </p:cNvSpPr>
          <p:nvPr/>
        </p:nvSpPr>
        <p:spPr>
          <a:xfrm>
            <a:off x="8210550" y="3095625"/>
            <a:ext cx="2952750" cy="523875"/>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667085"/>
                </a:solidFill>
                <a:latin typeface="Noto Sans CJK SC"/>
                <a:ea typeface="Noto Sans CJK SC"/>
                <a:cs typeface="Noto Sans CJK SC"/>
              </a:defRPr>
            </a:pPr>
            <a:r>
              <a:rPr sz="1350" b="0">
                <a:solidFill>
                  <a:srgbClr val="667085"/>
                </a:solidFill>
                <a:latin typeface="Noto Sans CJK SC"/>
                <a:ea typeface="Noto Sans CJK SC"/>
                <a:cs typeface="Noto Sans CJK SC"/>
              </a:rPr>
              <a:t>tag/commit / GPU / 数据 / 24h 冒烟</a:t>
            </a:r>
            <a:endParaRPr sz="1350" b="0">
              <a:solidFill>
                <a:srgbClr val="667085"/>
              </a:solidFill>
              <a:latin typeface="Noto Sans CJK SC"/>
              <a:ea typeface="Noto Sans CJK SC"/>
              <a:cs typeface="Noto Sans CJK SC"/>
            </a:endParaRPr>
          </a:p>
        </p:txBody>
      </p:sp>
      <p:sp>
        <p:nvSpPr>
          <p:cNvPr id="823" name="矩形 18"/>
          <p:cNvSpPr>
            <a:spLocks noGrp="1"/>
          </p:cNvSpPr>
          <p:nvPr/>
        </p:nvSpPr>
        <p:spPr>
          <a:xfrm>
            <a:off x="457200" y="4476750"/>
            <a:ext cx="10668000" cy="590550"/>
          </a:xfrm>
          <a:prstGeom prst="rect">
            <a:avLst/>
          </a:prstGeom>
          <a:noFill/>
          <a:ln w="0">
            <a:noFill/>
            <a:prstDash val="solid"/>
          </a:ln>
        </p:spPr>
        <p:txBody>
          <a:bodyPr wrap="square" lIns="0" tIns="0" rIns="0" bIns="0" anchor="t">
            <a:normAutofit/>
          </a:bodyPr>
          <a:lstStyle/>
          <a:p>
            <a:pPr algn="l">
              <a:lnSpc>
                <a:spcPct val="108000"/>
              </a:lnSpc>
              <a:buNone/>
              <a:defRPr sz="2100" b="1">
                <a:solidFill>
                  <a:srgbClr val="111827"/>
                </a:solidFill>
                <a:latin typeface="Noto Sans CJK SC"/>
                <a:ea typeface="Noto Sans CJK SC"/>
                <a:cs typeface="Noto Sans CJK SC"/>
              </a:defRPr>
            </a:pPr>
            <a:r>
              <a:rPr sz="2100" b="1">
                <a:solidFill>
                  <a:srgbClr val="111827"/>
                </a:solidFill>
                <a:latin typeface="Noto Sans CJK SC"/>
                <a:ea typeface="Noto Sans CJK SC"/>
                <a:cs typeface="Noto Sans CJK SC"/>
              </a:rPr>
              <a:t>17 题是候选池：只开放有人、有资源、有 P0 的课题。</a:t>
            </a:r>
            <a:endParaRPr sz="2100" b="1">
              <a:solidFill>
                <a:srgbClr val="111827"/>
              </a:solidFill>
              <a:latin typeface="Noto Sans CJK SC"/>
              <a:ea typeface="Noto Sans CJK SC"/>
              <a:cs typeface="Noto Sans CJK SC"/>
            </a:endParaRPr>
          </a:p>
        </p:txBody>
      </p:sp>
      <p:sp>
        <p:nvSpPr>
          <p:cNvPr id="824" name="矩形 19"/>
          <p:cNvSpPr>
            <a:spLocks noGrp="1"/>
          </p:cNvSpPr>
          <p:nvPr/>
        </p:nvSpPr>
        <p:spPr>
          <a:xfrm>
            <a:off x="457200" y="5257800"/>
            <a:ext cx="10668000" cy="45720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散会形成《课题登记表》、GPU 排期与 8.24 冒烟清单。</a:t>
            </a:r>
            <a:endParaRPr sz="1500" b="0">
              <a:solidFill>
                <a:srgbClr val="667085"/>
              </a:solidFill>
              <a:latin typeface="Noto Sans CJK SC"/>
              <a:ea typeface="Noto Sans CJK SC"/>
              <a:cs typeface="Noto Sans CJK SC"/>
            </a:endParaRPr>
          </a:p>
        </p:txBody>
      </p:sp>
    </p:spTree>
  </p:cSld>
  <p:clrMapOvr>
    <a:masterClrMapping/>
  </p:clrMapOvr>
</p:sld>
</file>

<file path=ppt/slides/slide5.xml><?xml version="1.0" encoding="utf-8"?>
<p:sld xmlns:a="http://schemas.openxmlformats.org/drawingml/2006/main" xmlns:p="http://schemas.openxmlformats.org/presentationml/2006/main">
  <p:cSld>
    <p:bg>
      <p:bgPr>
        <a:solidFill>
          <a:srgbClr val="FFFFFF"/>
        </a:solidFill>
        <a:effectLst/>
      </p:bgPr>
    </p:bg>
    <p:spTree>
      <p:nvGrpSpPr>
        <p:cNvPr id="844" name=""/>
        <p:cNvGrpSpPr/>
        <p:nvPr/>
      </p:nvGrpSpPr>
      <p:grpSpPr>
        <a:xfrm>
          <a:off x="0" y="0"/>
          <a:ext cx="0" cy="0"/>
          <a:chOff x="0" y="0"/>
          <a:chExt cx="0" cy="0"/>
        </a:xfrm>
      </p:grpSpPr>
      <p:sp>
        <p:nvSpPr>
          <p:cNvPr id="845" name="矩形 43"/>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PORTFOLIO</a:t>
            </a:r>
            <a:endParaRPr sz="1125" b="1">
              <a:solidFill>
                <a:srgbClr val="1769FF"/>
              </a:solidFill>
              <a:latin typeface="Noto Sans CJK SC"/>
              <a:ea typeface="Noto Sans CJK SC"/>
              <a:cs typeface="Noto Sans CJK SC"/>
            </a:endParaRPr>
          </a:p>
        </p:txBody>
      </p:sp>
      <p:sp>
        <p:nvSpPr>
          <p:cNvPr id="846"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六条主线覆盖从算法创新到开源工程化</a:t>
            </a:r>
            <a:endParaRPr sz="3000" b="1">
              <a:solidFill>
                <a:srgbClr val="111827"/>
              </a:solidFill>
              <a:latin typeface="Noto Sans CJK SC"/>
              <a:ea typeface="Noto Sans CJK SC"/>
              <a:cs typeface="Noto Sans CJK SC"/>
            </a:endParaRPr>
          </a:p>
        </p:txBody>
      </p:sp>
      <p:sp>
        <p:nvSpPr>
          <p:cNvPr id="847" name="矩形 2"/>
          <p:cNvSpPr>
            <a:spLocks noGrp="1"/>
          </p:cNvSpPr>
          <p:nvPr/>
        </p:nvSpPr>
        <p:spPr>
          <a:xfrm>
            <a:off x="457200" y="1200150"/>
            <a:ext cx="10953750" cy="3048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667085"/>
                </a:solidFill>
                <a:latin typeface="Noto Sans CJK SC"/>
                <a:ea typeface="Noto Sans CJK SC"/>
                <a:cs typeface="Noto Sans CJK SC"/>
              </a:defRPr>
            </a:pPr>
            <a:r>
              <a:rPr sz="1350" b="0">
                <a:solidFill>
                  <a:srgbClr val="667085"/>
                </a:solidFill>
                <a:latin typeface="Noto Sans CJK SC"/>
                <a:ea typeface="Noto Sans CJK SC"/>
                <a:cs typeface="Noto Sans CJK SC"/>
              </a:rPr>
              <a:t>选题时先看“想训练什么能力”，再看算力与工程边界。 </a:t>
            </a:r>
            <a:endParaRPr sz="1350" b="0">
              <a:solidFill>
                <a:srgbClr val="667085"/>
              </a:solidFill>
              <a:latin typeface="Noto Sans CJK SC"/>
              <a:ea typeface="Noto Sans CJK SC"/>
              <a:cs typeface="Noto Sans CJK SC"/>
            </a:endParaRPr>
          </a:p>
        </p:txBody>
      </p:sp>
      <p:sp>
        <p:nvSpPr>
          <p:cNvPr id="848" name="矩形 3"/>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849" name="矩形 4"/>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850" name="矩形 5"/>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851" name="矩形 6"/>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03</a:t>
            </a:r>
            <a:endParaRPr sz="975" b="1">
              <a:solidFill>
                <a:srgbClr val="667085"/>
              </a:solidFill>
              <a:latin typeface="Noto Sans CJK SC"/>
              <a:ea typeface="Noto Sans CJK SC"/>
              <a:cs typeface="Noto Sans CJK SC"/>
            </a:endParaRPr>
          </a:p>
        </p:txBody>
      </p:sp>
      <p:sp>
        <p:nvSpPr>
          <p:cNvPr id="852" name="矩形 7"/>
          <p:cNvSpPr>
            <a:spLocks noGrp="1"/>
          </p:cNvSpPr>
          <p:nvPr/>
        </p:nvSpPr>
        <p:spPr>
          <a:xfrm>
            <a:off x="457200" y="1714500"/>
            <a:ext cx="11277600" cy="666750"/>
          </a:xfrm>
          <a:prstGeom prst="rect">
            <a:avLst/>
          </a:prstGeom>
          <a:solidFill>
            <a:srgbClr val="FFFFFF"/>
          </a:solidFill>
          <a:ln w="9525">
            <a:solidFill>
              <a:srgbClr val="FFFFFF"/>
            </a:solidFill>
            <a:prstDash val="solid"/>
          </a:ln>
        </p:spPr>
        <p:txBody>
          <a:bodyPr/>
          <a:p/>
        </p:txBody>
      </p:sp>
      <p:sp>
        <p:nvSpPr>
          <p:cNvPr id="853" name="矩形 8"/>
          <p:cNvSpPr>
            <a:spLocks noGrp="1"/>
          </p:cNvSpPr>
          <p:nvPr/>
        </p:nvSpPr>
        <p:spPr>
          <a:xfrm>
            <a:off x="457200" y="1714500"/>
            <a:ext cx="76200" cy="666750"/>
          </a:xfrm>
          <a:prstGeom prst="rect">
            <a:avLst/>
          </a:prstGeom>
          <a:solidFill>
            <a:srgbClr val="1769FF"/>
          </a:solidFill>
          <a:ln w="9525">
            <a:solidFill>
              <a:srgbClr val="1769FF"/>
            </a:solidFill>
            <a:prstDash val="solid"/>
          </a:ln>
        </p:spPr>
        <p:txBody>
          <a:bodyPr/>
          <a:p/>
        </p:txBody>
      </p:sp>
      <p:sp>
        <p:nvSpPr>
          <p:cNvPr id="854" name="矩形 9"/>
          <p:cNvSpPr>
            <a:spLocks noGrp="1"/>
          </p:cNvSpPr>
          <p:nvPr/>
        </p:nvSpPr>
        <p:spPr>
          <a:xfrm>
            <a:off x="704850" y="1809750"/>
            <a:ext cx="523875" cy="457200"/>
          </a:xfrm>
          <a:prstGeom prst="rect">
            <a:avLst/>
          </a:prstGeom>
          <a:noFill/>
          <a:ln w="0">
            <a:noFill/>
            <a:prstDash val="solid"/>
          </a:ln>
        </p:spPr>
        <p:txBody>
          <a:bodyPr wrap="square" lIns="0" tIns="0" rIns="0" bIns="0" anchor="ctr">
            <a:normAutofit/>
          </a:bodyPr>
          <a:lstStyle/>
          <a:p>
            <a:pPr algn="ctr">
              <a:lnSpc>
                <a:spcPct val="108000"/>
              </a:lnSpc>
              <a:buNone/>
              <a:defRPr sz="2400" b="1">
                <a:solidFill>
                  <a:srgbClr val="1769FF"/>
                </a:solidFill>
                <a:latin typeface="Noto Sans CJK SC"/>
                <a:ea typeface="Noto Sans CJK SC"/>
                <a:cs typeface="Noto Sans CJK SC"/>
              </a:defRPr>
            </a:pPr>
            <a:r>
              <a:rPr sz="2400" b="1">
                <a:solidFill>
                  <a:srgbClr val="1769FF"/>
                </a:solidFill>
                <a:latin typeface="Noto Sans CJK SC"/>
                <a:ea typeface="Noto Sans CJK SC"/>
                <a:cs typeface="Noto Sans CJK SC"/>
              </a:rPr>
              <a:t>A</a:t>
            </a:r>
            <a:endParaRPr sz="2400" b="1">
              <a:solidFill>
                <a:srgbClr val="1769FF"/>
              </a:solidFill>
              <a:latin typeface="Noto Sans CJK SC"/>
              <a:ea typeface="Noto Sans CJK SC"/>
              <a:cs typeface="Noto Sans CJK SC"/>
            </a:endParaRPr>
          </a:p>
        </p:txBody>
      </p:sp>
      <p:sp>
        <p:nvSpPr>
          <p:cNvPr id="855" name="矩形 10"/>
          <p:cNvSpPr>
            <a:spLocks noGrp="1"/>
          </p:cNvSpPr>
          <p:nvPr/>
        </p:nvSpPr>
        <p:spPr>
          <a:xfrm>
            <a:off x="1428750" y="1838325"/>
            <a:ext cx="2143125" cy="3810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对标 YOLO26</a:t>
            </a:r>
            <a:endParaRPr sz="1800" b="1">
              <a:solidFill>
                <a:srgbClr val="111827"/>
              </a:solidFill>
              <a:latin typeface="Noto Sans CJK SC"/>
              <a:ea typeface="Noto Sans CJK SC"/>
              <a:cs typeface="Noto Sans CJK SC"/>
            </a:endParaRPr>
          </a:p>
        </p:txBody>
      </p:sp>
      <p:sp>
        <p:nvSpPr>
          <p:cNvPr id="856" name="圆角矩形 11"/>
          <p:cNvSpPr>
            <a:spLocks noGrp="1"/>
          </p:cNvSpPr>
          <p:nvPr/>
        </p:nvSpPr>
        <p:spPr>
          <a:xfrm>
            <a:off x="3714750" y="1885950"/>
            <a:ext cx="742950" cy="285750"/>
          </a:xfrm>
          <a:prstGeom prst="roundRect">
            <a:avLst>
              <a:gd name="adj" fmla="val 50000"/>
            </a:avLst>
          </a:prstGeom>
          <a:solidFill>
            <a:srgbClr val="EAF2FF"/>
          </a:solidFill>
          <a:ln w="9525">
            <a:solidFill>
              <a:srgbClr val="EAF2FF"/>
            </a:solidFill>
            <a:prstDash val="solid"/>
          </a:ln>
        </p:spPr>
        <p:txBody>
          <a:bodyPr/>
          <a:p/>
        </p:txBody>
      </p:sp>
      <p:sp>
        <p:nvSpPr>
          <p:cNvPr id="857" name="矩形 12"/>
          <p:cNvSpPr>
            <a:spLocks noGrp="1"/>
          </p:cNvSpPr>
          <p:nvPr/>
        </p:nvSpPr>
        <p:spPr>
          <a:xfrm>
            <a:off x="3810000" y="1905000"/>
            <a:ext cx="552450" cy="247650"/>
          </a:xfrm>
          <a:prstGeom prst="rect">
            <a:avLst/>
          </a:prstGeom>
          <a:noFill/>
          <a:ln w="0">
            <a:noFill/>
            <a:prstDash val="solid"/>
          </a:ln>
        </p:spPr>
        <p:txBody>
          <a:bodyPr wrap="square" lIns="0" tIns="0" rIns="0" bIns="0" anchor="ctr">
            <a:normAutofit/>
          </a:bodyPr>
          <a:lstStyle/>
          <a:p>
            <a:pPr algn="ctr">
              <a:lnSpc>
                <a:spcPct val="108000"/>
              </a:lnSpc>
              <a:buNone/>
              <a:defRPr sz="1050" b="1">
                <a:solidFill>
                  <a:srgbClr val="1769FF"/>
                </a:solidFill>
                <a:latin typeface="Noto Sans CJK SC"/>
                <a:ea typeface="Noto Sans CJK SC"/>
                <a:cs typeface="Noto Sans CJK SC"/>
              </a:defRPr>
            </a:pPr>
            <a:r>
              <a:rPr sz="1050" b="1">
                <a:solidFill>
                  <a:srgbClr val="1769FF"/>
                </a:solidFill>
                <a:latin typeface="Noto Sans CJK SC"/>
                <a:ea typeface="Noto Sans CJK SC"/>
                <a:cs typeface="Noto Sans CJK SC"/>
              </a:rPr>
              <a:t>3 题</a:t>
            </a:r>
            <a:endParaRPr sz="1050" b="1">
              <a:solidFill>
                <a:srgbClr val="1769FF"/>
              </a:solidFill>
              <a:latin typeface="Noto Sans CJK SC"/>
              <a:ea typeface="Noto Sans CJK SC"/>
              <a:cs typeface="Noto Sans CJK SC"/>
            </a:endParaRPr>
          </a:p>
        </p:txBody>
      </p:sp>
      <p:sp>
        <p:nvSpPr>
          <p:cNvPr id="858" name="矩形 13"/>
          <p:cNvSpPr>
            <a:spLocks noGrp="1"/>
          </p:cNvSpPr>
          <p:nvPr/>
        </p:nvSpPr>
        <p:spPr>
          <a:xfrm>
            <a:off x="4762500" y="1857375"/>
            <a:ext cx="6667500" cy="4000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667085"/>
                </a:solidFill>
                <a:latin typeface="Noto Sans CJK SC"/>
                <a:ea typeface="Noto Sans CJK SC"/>
                <a:cs typeface="Noto Sans CJK SC"/>
              </a:defRPr>
            </a:pPr>
            <a:r>
              <a:rPr sz="1425" b="0">
                <a:solidFill>
                  <a:srgbClr val="667085"/>
                </a:solidFill>
                <a:latin typeface="Noto Sans CJK SC"/>
                <a:ea typeface="Noto Sans CJK SC"/>
                <a:cs typeface="Noto Sans CJK SC"/>
              </a:rPr>
              <a:t>NMS-free · STAL · Export Gap</a:t>
            </a:r>
            <a:endParaRPr sz="1425" b="0">
              <a:solidFill>
                <a:srgbClr val="667085"/>
              </a:solidFill>
              <a:latin typeface="Noto Sans CJK SC"/>
              <a:ea typeface="Noto Sans CJK SC"/>
              <a:cs typeface="Noto Sans CJK SC"/>
            </a:endParaRPr>
          </a:p>
        </p:txBody>
      </p:sp>
      <p:sp>
        <p:nvSpPr>
          <p:cNvPr id="859" name="矩形 14"/>
          <p:cNvSpPr>
            <a:spLocks noGrp="1"/>
          </p:cNvSpPr>
          <p:nvPr/>
        </p:nvSpPr>
        <p:spPr>
          <a:xfrm>
            <a:off x="457200" y="2552700"/>
            <a:ext cx="11277600" cy="666750"/>
          </a:xfrm>
          <a:prstGeom prst="rect">
            <a:avLst/>
          </a:prstGeom>
          <a:solidFill>
            <a:srgbClr val="F8FAFC"/>
          </a:solidFill>
          <a:ln w="9525">
            <a:solidFill>
              <a:srgbClr val="F8FAFC"/>
            </a:solidFill>
            <a:prstDash val="solid"/>
          </a:ln>
        </p:spPr>
        <p:txBody>
          <a:bodyPr/>
          <a:p/>
        </p:txBody>
      </p:sp>
      <p:sp>
        <p:nvSpPr>
          <p:cNvPr id="860" name="矩形 15"/>
          <p:cNvSpPr>
            <a:spLocks noGrp="1"/>
          </p:cNvSpPr>
          <p:nvPr/>
        </p:nvSpPr>
        <p:spPr>
          <a:xfrm>
            <a:off x="457200" y="2552700"/>
            <a:ext cx="76200" cy="666750"/>
          </a:xfrm>
          <a:prstGeom prst="rect">
            <a:avLst/>
          </a:prstGeom>
          <a:solidFill>
            <a:srgbClr val="00A6A6"/>
          </a:solidFill>
          <a:ln w="9525">
            <a:solidFill>
              <a:srgbClr val="00A6A6"/>
            </a:solidFill>
            <a:prstDash val="solid"/>
          </a:ln>
        </p:spPr>
        <p:txBody>
          <a:bodyPr/>
          <a:p/>
        </p:txBody>
      </p:sp>
      <p:sp>
        <p:nvSpPr>
          <p:cNvPr id="861" name="矩形 16"/>
          <p:cNvSpPr>
            <a:spLocks noGrp="1"/>
          </p:cNvSpPr>
          <p:nvPr/>
        </p:nvSpPr>
        <p:spPr>
          <a:xfrm>
            <a:off x="704850" y="2647950"/>
            <a:ext cx="523875" cy="457200"/>
          </a:xfrm>
          <a:prstGeom prst="rect">
            <a:avLst/>
          </a:prstGeom>
          <a:noFill/>
          <a:ln w="0">
            <a:noFill/>
            <a:prstDash val="solid"/>
          </a:ln>
        </p:spPr>
        <p:txBody>
          <a:bodyPr wrap="square" lIns="0" tIns="0" rIns="0" bIns="0" anchor="ctr">
            <a:normAutofit/>
          </a:bodyPr>
          <a:lstStyle/>
          <a:p>
            <a:pPr algn="ctr">
              <a:lnSpc>
                <a:spcPct val="108000"/>
              </a:lnSpc>
              <a:buNone/>
              <a:defRPr sz="2400" b="1">
                <a:solidFill>
                  <a:srgbClr val="00A6A6"/>
                </a:solidFill>
                <a:latin typeface="Noto Sans CJK SC"/>
                <a:ea typeface="Noto Sans CJK SC"/>
                <a:cs typeface="Noto Sans CJK SC"/>
              </a:defRPr>
            </a:pPr>
            <a:r>
              <a:rPr sz="2400" b="1">
                <a:solidFill>
                  <a:srgbClr val="00A6A6"/>
                </a:solidFill>
                <a:latin typeface="Noto Sans CJK SC"/>
                <a:ea typeface="Noto Sans CJK SC"/>
                <a:cs typeface="Noto Sans CJK SC"/>
              </a:rPr>
              <a:t>B</a:t>
            </a:r>
            <a:endParaRPr sz="2400" b="1">
              <a:solidFill>
                <a:srgbClr val="00A6A6"/>
              </a:solidFill>
              <a:latin typeface="Noto Sans CJK SC"/>
              <a:ea typeface="Noto Sans CJK SC"/>
              <a:cs typeface="Noto Sans CJK SC"/>
            </a:endParaRPr>
          </a:p>
        </p:txBody>
      </p:sp>
      <p:sp>
        <p:nvSpPr>
          <p:cNvPr id="862" name="矩形 17"/>
          <p:cNvSpPr>
            <a:spLocks noGrp="1"/>
          </p:cNvSpPr>
          <p:nvPr/>
        </p:nvSpPr>
        <p:spPr>
          <a:xfrm>
            <a:off x="1428750" y="2676525"/>
            <a:ext cx="2143125" cy="3810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开放世界</a:t>
            </a:r>
            <a:endParaRPr sz="1800" b="1">
              <a:solidFill>
                <a:srgbClr val="111827"/>
              </a:solidFill>
              <a:latin typeface="Noto Sans CJK SC"/>
              <a:ea typeface="Noto Sans CJK SC"/>
              <a:cs typeface="Noto Sans CJK SC"/>
            </a:endParaRPr>
          </a:p>
        </p:txBody>
      </p:sp>
      <p:sp>
        <p:nvSpPr>
          <p:cNvPr id="863" name="圆角矩形 18"/>
          <p:cNvSpPr>
            <a:spLocks noGrp="1"/>
          </p:cNvSpPr>
          <p:nvPr/>
        </p:nvSpPr>
        <p:spPr>
          <a:xfrm>
            <a:off x="3714750" y="2724150"/>
            <a:ext cx="742950" cy="285750"/>
          </a:xfrm>
          <a:prstGeom prst="roundRect">
            <a:avLst>
              <a:gd name="adj" fmla="val 50000"/>
            </a:avLst>
          </a:prstGeom>
          <a:solidFill>
            <a:srgbClr val="E5F8F7"/>
          </a:solidFill>
          <a:ln w="9525">
            <a:solidFill>
              <a:srgbClr val="E5F8F7"/>
            </a:solidFill>
            <a:prstDash val="solid"/>
          </a:ln>
        </p:spPr>
        <p:txBody>
          <a:bodyPr/>
          <a:p/>
        </p:txBody>
      </p:sp>
      <p:sp>
        <p:nvSpPr>
          <p:cNvPr id="864" name="矩形 19"/>
          <p:cNvSpPr>
            <a:spLocks noGrp="1"/>
          </p:cNvSpPr>
          <p:nvPr/>
        </p:nvSpPr>
        <p:spPr>
          <a:xfrm>
            <a:off x="3810000" y="2743200"/>
            <a:ext cx="552450" cy="247650"/>
          </a:xfrm>
          <a:prstGeom prst="rect">
            <a:avLst/>
          </a:prstGeom>
          <a:noFill/>
          <a:ln w="0">
            <a:noFill/>
            <a:prstDash val="solid"/>
          </a:ln>
        </p:spPr>
        <p:txBody>
          <a:bodyPr wrap="square" lIns="0" tIns="0" rIns="0" bIns="0" anchor="ctr">
            <a:normAutofit/>
          </a:bodyPr>
          <a:lstStyle/>
          <a:p>
            <a:pPr algn="ctr">
              <a:lnSpc>
                <a:spcPct val="108000"/>
              </a:lnSpc>
              <a:buNone/>
              <a:defRPr sz="1050" b="1">
                <a:solidFill>
                  <a:srgbClr val="00A6A6"/>
                </a:solidFill>
                <a:latin typeface="Noto Sans CJK SC"/>
                <a:ea typeface="Noto Sans CJK SC"/>
                <a:cs typeface="Noto Sans CJK SC"/>
              </a:defRPr>
            </a:pPr>
            <a:r>
              <a:rPr sz="1050" b="1">
                <a:solidFill>
                  <a:srgbClr val="00A6A6"/>
                </a:solidFill>
                <a:latin typeface="Noto Sans CJK SC"/>
                <a:ea typeface="Noto Sans CJK SC"/>
                <a:cs typeface="Noto Sans CJK SC"/>
              </a:rPr>
              <a:t>2 题</a:t>
            </a:r>
            <a:endParaRPr sz="1050" b="1">
              <a:solidFill>
                <a:srgbClr val="00A6A6"/>
              </a:solidFill>
              <a:latin typeface="Noto Sans CJK SC"/>
              <a:ea typeface="Noto Sans CJK SC"/>
              <a:cs typeface="Noto Sans CJK SC"/>
            </a:endParaRPr>
          </a:p>
        </p:txBody>
      </p:sp>
      <p:sp>
        <p:nvSpPr>
          <p:cNvPr id="865" name="矩形 20"/>
          <p:cNvSpPr>
            <a:spLocks noGrp="1"/>
          </p:cNvSpPr>
          <p:nvPr/>
        </p:nvSpPr>
        <p:spPr>
          <a:xfrm>
            <a:off x="4762500" y="2695575"/>
            <a:ext cx="6667500" cy="4000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667085"/>
                </a:solidFill>
                <a:latin typeface="Noto Sans CJK SC"/>
                <a:ea typeface="Noto Sans CJK SC"/>
                <a:cs typeface="Noto Sans CJK SC"/>
              </a:defRPr>
            </a:pPr>
            <a:r>
              <a:rPr sz="1425" b="0">
                <a:solidFill>
                  <a:srgbClr val="667085"/>
                </a:solidFill>
                <a:latin typeface="Noto Sans CJK SC"/>
                <a:ea typeface="Noto Sans CJK SC"/>
                <a:cs typeface="Noto Sans CJK SC"/>
              </a:rPr>
              <a:t>文本条件路由 · 自动标注数据引擎</a:t>
            </a:r>
            <a:endParaRPr sz="1425" b="0">
              <a:solidFill>
                <a:srgbClr val="667085"/>
              </a:solidFill>
              <a:latin typeface="Noto Sans CJK SC"/>
              <a:ea typeface="Noto Sans CJK SC"/>
              <a:cs typeface="Noto Sans CJK SC"/>
            </a:endParaRPr>
          </a:p>
        </p:txBody>
      </p:sp>
      <p:sp>
        <p:nvSpPr>
          <p:cNvPr id="866" name="矩形 21"/>
          <p:cNvSpPr>
            <a:spLocks noGrp="1"/>
          </p:cNvSpPr>
          <p:nvPr/>
        </p:nvSpPr>
        <p:spPr>
          <a:xfrm>
            <a:off x="457200" y="3390900"/>
            <a:ext cx="11277600" cy="666750"/>
          </a:xfrm>
          <a:prstGeom prst="rect">
            <a:avLst/>
          </a:prstGeom>
          <a:solidFill>
            <a:srgbClr val="FFFFFF"/>
          </a:solidFill>
          <a:ln w="9525">
            <a:solidFill>
              <a:srgbClr val="FFFFFF"/>
            </a:solidFill>
            <a:prstDash val="solid"/>
          </a:ln>
        </p:spPr>
        <p:txBody>
          <a:bodyPr/>
          <a:p/>
        </p:txBody>
      </p:sp>
      <p:sp>
        <p:nvSpPr>
          <p:cNvPr id="867" name="矩形 22"/>
          <p:cNvSpPr>
            <a:spLocks noGrp="1"/>
          </p:cNvSpPr>
          <p:nvPr/>
        </p:nvSpPr>
        <p:spPr>
          <a:xfrm>
            <a:off x="457200" y="3390900"/>
            <a:ext cx="76200" cy="666750"/>
          </a:xfrm>
          <a:prstGeom prst="rect">
            <a:avLst/>
          </a:prstGeom>
          <a:solidFill>
            <a:srgbClr val="FF7A00"/>
          </a:solidFill>
          <a:ln w="9525">
            <a:solidFill>
              <a:srgbClr val="FF7A00"/>
            </a:solidFill>
            <a:prstDash val="solid"/>
          </a:ln>
        </p:spPr>
        <p:txBody>
          <a:bodyPr/>
          <a:p/>
        </p:txBody>
      </p:sp>
      <p:sp>
        <p:nvSpPr>
          <p:cNvPr id="868" name="矩形 23"/>
          <p:cNvSpPr>
            <a:spLocks noGrp="1"/>
          </p:cNvSpPr>
          <p:nvPr/>
        </p:nvSpPr>
        <p:spPr>
          <a:xfrm>
            <a:off x="704850" y="3486150"/>
            <a:ext cx="523875" cy="457200"/>
          </a:xfrm>
          <a:prstGeom prst="rect">
            <a:avLst/>
          </a:prstGeom>
          <a:noFill/>
          <a:ln w="0">
            <a:noFill/>
            <a:prstDash val="solid"/>
          </a:ln>
        </p:spPr>
        <p:txBody>
          <a:bodyPr wrap="square" lIns="0" tIns="0" rIns="0" bIns="0" anchor="ctr">
            <a:normAutofit/>
          </a:bodyPr>
          <a:lstStyle/>
          <a:p>
            <a:pPr algn="ctr">
              <a:lnSpc>
                <a:spcPct val="108000"/>
              </a:lnSpc>
              <a:buNone/>
              <a:defRPr sz="2400" b="1">
                <a:solidFill>
                  <a:srgbClr val="FF7A00"/>
                </a:solidFill>
                <a:latin typeface="Noto Sans CJK SC"/>
                <a:ea typeface="Noto Sans CJK SC"/>
                <a:cs typeface="Noto Sans CJK SC"/>
              </a:defRPr>
            </a:pPr>
            <a:r>
              <a:rPr sz="2400" b="1">
                <a:solidFill>
                  <a:srgbClr val="FF7A00"/>
                </a:solidFill>
                <a:latin typeface="Noto Sans CJK SC"/>
                <a:ea typeface="Noto Sans CJK SC"/>
                <a:cs typeface="Noto Sans CJK SC"/>
              </a:rPr>
              <a:t>C</a:t>
            </a:r>
            <a:endParaRPr sz="2400" b="1">
              <a:solidFill>
                <a:srgbClr val="FF7A00"/>
              </a:solidFill>
              <a:latin typeface="Noto Sans CJK SC"/>
              <a:ea typeface="Noto Sans CJK SC"/>
              <a:cs typeface="Noto Sans CJK SC"/>
            </a:endParaRPr>
          </a:p>
        </p:txBody>
      </p:sp>
      <p:sp>
        <p:nvSpPr>
          <p:cNvPr id="869" name="矩形 24"/>
          <p:cNvSpPr>
            <a:spLocks noGrp="1"/>
          </p:cNvSpPr>
          <p:nvPr/>
        </p:nvSpPr>
        <p:spPr>
          <a:xfrm>
            <a:off x="1428750" y="3514725"/>
            <a:ext cx="2143125" cy="3810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应用竞赛式</a:t>
            </a:r>
            <a:endParaRPr sz="1800" b="1">
              <a:solidFill>
                <a:srgbClr val="111827"/>
              </a:solidFill>
              <a:latin typeface="Noto Sans CJK SC"/>
              <a:ea typeface="Noto Sans CJK SC"/>
              <a:cs typeface="Noto Sans CJK SC"/>
            </a:endParaRPr>
          </a:p>
        </p:txBody>
      </p:sp>
      <p:sp>
        <p:nvSpPr>
          <p:cNvPr id="870" name="圆角矩形 25"/>
          <p:cNvSpPr>
            <a:spLocks noGrp="1"/>
          </p:cNvSpPr>
          <p:nvPr/>
        </p:nvSpPr>
        <p:spPr>
          <a:xfrm>
            <a:off x="3714750" y="3562350"/>
            <a:ext cx="742950" cy="285750"/>
          </a:xfrm>
          <a:prstGeom prst="roundRect">
            <a:avLst>
              <a:gd name="adj" fmla="val 50000"/>
            </a:avLst>
          </a:prstGeom>
          <a:solidFill>
            <a:srgbClr val="FFF1E6"/>
          </a:solidFill>
          <a:ln w="9525">
            <a:solidFill>
              <a:srgbClr val="FFF1E6"/>
            </a:solidFill>
            <a:prstDash val="solid"/>
          </a:ln>
        </p:spPr>
        <p:txBody>
          <a:bodyPr/>
          <a:p/>
        </p:txBody>
      </p:sp>
      <p:sp>
        <p:nvSpPr>
          <p:cNvPr id="871" name="矩形 26"/>
          <p:cNvSpPr>
            <a:spLocks noGrp="1"/>
          </p:cNvSpPr>
          <p:nvPr/>
        </p:nvSpPr>
        <p:spPr>
          <a:xfrm>
            <a:off x="3810000" y="3581400"/>
            <a:ext cx="552450" cy="247650"/>
          </a:xfrm>
          <a:prstGeom prst="rect">
            <a:avLst/>
          </a:prstGeom>
          <a:noFill/>
          <a:ln w="0">
            <a:noFill/>
            <a:prstDash val="solid"/>
          </a:ln>
        </p:spPr>
        <p:txBody>
          <a:bodyPr wrap="square" lIns="0" tIns="0" rIns="0" bIns="0" anchor="ctr">
            <a:normAutofit/>
          </a:bodyPr>
          <a:lstStyle/>
          <a:p>
            <a:pPr algn="ctr">
              <a:lnSpc>
                <a:spcPct val="108000"/>
              </a:lnSpc>
              <a:buNone/>
              <a:defRPr sz="1050" b="1">
                <a:solidFill>
                  <a:srgbClr val="FF7A00"/>
                </a:solidFill>
                <a:latin typeface="Noto Sans CJK SC"/>
                <a:ea typeface="Noto Sans CJK SC"/>
                <a:cs typeface="Noto Sans CJK SC"/>
              </a:defRPr>
            </a:pPr>
            <a:r>
              <a:rPr sz="1050" b="1">
                <a:solidFill>
                  <a:srgbClr val="FF7A00"/>
                </a:solidFill>
                <a:latin typeface="Noto Sans CJK SC"/>
                <a:ea typeface="Noto Sans CJK SC"/>
                <a:cs typeface="Noto Sans CJK SC"/>
              </a:rPr>
              <a:t>3 题</a:t>
            </a:r>
            <a:endParaRPr sz="1050" b="1">
              <a:solidFill>
                <a:srgbClr val="FF7A00"/>
              </a:solidFill>
              <a:latin typeface="Noto Sans CJK SC"/>
              <a:ea typeface="Noto Sans CJK SC"/>
              <a:cs typeface="Noto Sans CJK SC"/>
            </a:endParaRPr>
          </a:p>
        </p:txBody>
      </p:sp>
      <p:sp>
        <p:nvSpPr>
          <p:cNvPr id="872" name="矩形 27"/>
          <p:cNvSpPr>
            <a:spLocks noGrp="1"/>
          </p:cNvSpPr>
          <p:nvPr/>
        </p:nvSpPr>
        <p:spPr>
          <a:xfrm>
            <a:off x="4762500" y="3533775"/>
            <a:ext cx="6667500" cy="4000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667085"/>
                </a:solidFill>
                <a:latin typeface="Noto Sans CJK SC"/>
                <a:ea typeface="Noto Sans CJK SC"/>
                <a:cs typeface="Noto Sans CJK SC"/>
              </a:defRPr>
            </a:pPr>
            <a:r>
              <a:rPr sz="1425" b="0">
                <a:solidFill>
                  <a:srgbClr val="667085"/>
                </a:solidFill>
                <a:latin typeface="Noto Sans CJK SC"/>
                <a:ea typeface="Noto Sans CJK SC"/>
                <a:cs typeface="Noto Sans CJK SC"/>
              </a:rPr>
              <a:t>VisDrone 擂台 · OBB × DOTA · 工业 V-PEFT</a:t>
            </a:r>
            <a:endParaRPr sz="1425" b="0">
              <a:solidFill>
                <a:srgbClr val="667085"/>
              </a:solidFill>
              <a:latin typeface="Noto Sans CJK SC"/>
              <a:ea typeface="Noto Sans CJK SC"/>
              <a:cs typeface="Noto Sans CJK SC"/>
            </a:endParaRPr>
          </a:p>
        </p:txBody>
      </p:sp>
      <p:sp>
        <p:nvSpPr>
          <p:cNvPr id="873" name="矩形 28"/>
          <p:cNvSpPr>
            <a:spLocks noGrp="1"/>
          </p:cNvSpPr>
          <p:nvPr/>
        </p:nvSpPr>
        <p:spPr>
          <a:xfrm>
            <a:off x="457200" y="4229100"/>
            <a:ext cx="11277600" cy="666750"/>
          </a:xfrm>
          <a:prstGeom prst="rect">
            <a:avLst/>
          </a:prstGeom>
          <a:solidFill>
            <a:srgbClr val="F8FAFC"/>
          </a:solidFill>
          <a:ln w="9525">
            <a:solidFill>
              <a:srgbClr val="F8FAFC"/>
            </a:solidFill>
            <a:prstDash val="solid"/>
          </a:ln>
        </p:spPr>
        <p:txBody>
          <a:bodyPr/>
          <a:p/>
        </p:txBody>
      </p:sp>
      <p:sp>
        <p:nvSpPr>
          <p:cNvPr id="874" name="矩形 29"/>
          <p:cNvSpPr>
            <a:spLocks noGrp="1"/>
          </p:cNvSpPr>
          <p:nvPr/>
        </p:nvSpPr>
        <p:spPr>
          <a:xfrm>
            <a:off x="457200" y="4229100"/>
            <a:ext cx="76200" cy="666750"/>
          </a:xfrm>
          <a:prstGeom prst="rect">
            <a:avLst/>
          </a:prstGeom>
          <a:solidFill>
            <a:srgbClr val="7A5AF8"/>
          </a:solidFill>
          <a:ln w="9525">
            <a:solidFill>
              <a:srgbClr val="7A5AF8"/>
            </a:solidFill>
            <a:prstDash val="solid"/>
          </a:ln>
        </p:spPr>
        <p:txBody>
          <a:bodyPr/>
          <a:p/>
        </p:txBody>
      </p:sp>
      <p:sp>
        <p:nvSpPr>
          <p:cNvPr id="875" name="矩形 30"/>
          <p:cNvSpPr>
            <a:spLocks noGrp="1"/>
          </p:cNvSpPr>
          <p:nvPr/>
        </p:nvSpPr>
        <p:spPr>
          <a:xfrm>
            <a:off x="704850" y="4324350"/>
            <a:ext cx="523875" cy="457200"/>
          </a:xfrm>
          <a:prstGeom prst="rect">
            <a:avLst/>
          </a:prstGeom>
          <a:noFill/>
          <a:ln w="0">
            <a:noFill/>
            <a:prstDash val="solid"/>
          </a:ln>
        </p:spPr>
        <p:txBody>
          <a:bodyPr wrap="square" lIns="0" tIns="0" rIns="0" bIns="0" anchor="ctr">
            <a:normAutofit/>
          </a:bodyPr>
          <a:lstStyle/>
          <a:p>
            <a:pPr algn="ctr">
              <a:lnSpc>
                <a:spcPct val="108000"/>
              </a:lnSpc>
              <a:buNone/>
              <a:defRPr sz="2400" b="1">
                <a:solidFill>
                  <a:srgbClr val="7A5AF8"/>
                </a:solidFill>
                <a:latin typeface="Noto Sans CJK SC"/>
                <a:ea typeface="Noto Sans CJK SC"/>
                <a:cs typeface="Noto Sans CJK SC"/>
              </a:defRPr>
            </a:pPr>
            <a:r>
              <a:rPr sz="2400" b="1">
                <a:solidFill>
                  <a:srgbClr val="7A5AF8"/>
                </a:solidFill>
                <a:latin typeface="Noto Sans CJK SC"/>
                <a:ea typeface="Noto Sans CJK SC"/>
                <a:cs typeface="Noto Sans CJK SC"/>
              </a:rPr>
              <a:t>D</a:t>
            </a:r>
            <a:endParaRPr sz="2400" b="1">
              <a:solidFill>
                <a:srgbClr val="7A5AF8"/>
              </a:solidFill>
              <a:latin typeface="Noto Sans CJK SC"/>
              <a:ea typeface="Noto Sans CJK SC"/>
              <a:cs typeface="Noto Sans CJK SC"/>
            </a:endParaRPr>
          </a:p>
        </p:txBody>
      </p:sp>
      <p:sp>
        <p:nvSpPr>
          <p:cNvPr id="876" name="矩形 31"/>
          <p:cNvSpPr>
            <a:spLocks noGrp="1"/>
          </p:cNvSpPr>
          <p:nvPr/>
        </p:nvSpPr>
        <p:spPr>
          <a:xfrm>
            <a:off x="1428750" y="4352925"/>
            <a:ext cx="2143125" cy="3810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大模型时代</a:t>
            </a:r>
            <a:endParaRPr sz="1800" b="1">
              <a:solidFill>
                <a:srgbClr val="111827"/>
              </a:solidFill>
              <a:latin typeface="Noto Sans CJK SC"/>
              <a:ea typeface="Noto Sans CJK SC"/>
              <a:cs typeface="Noto Sans CJK SC"/>
            </a:endParaRPr>
          </a:p>
        </p:txBody>
      </p:sp>
      <p:sp>
        <p:nvSpPr>
          <p:cNvPr id="877" name="圆角矩形 32"/>
          <p:cNvSpPr>
            <a:spLocks noGrp="1"/>
          </p:cNvSpPr>
          <p:nvPr/>
        </p:nvSpPr>
        <p:spPr>
          <a:xfrm>
            <a:off x="3714750" y="4400550"/>
            <a:ext cx="742950" cy="285750"/>
          </a:xfrm>
          <a:prstGeom prst="roundRect">
            <a:avLst>
              <a:gd name="adj" fmla="val 50000"/>
            </a:avLst>
          </a:prstGeom>
          <a:solidFill>
            <a:srgbClr val="F0ECFF"/>
          </a:solidFill>
          <a:ln w="9525">
            <a:solidFill>
              <a:srgbClr val="F0ECFF"/>
            </a:solidFill>
            <a:prstDash val="solid"/>
          </a:ln>
        </p:spPr>
        <p:txBody>
          <a:bodyPr/>
          <a:p/>
        </p:txBody>
      </p:sp>
      <p:sp>
        <p:nvSpPr>
          <p:cNvPr id="878" name="矩形 33"/>
          <p:cNvSpPr>
            <a:spLocks noGrp="1"/>
          </p:cNvSpPr>
          <p:nvPr/>
        </p:nvSpPr>
        <p:spPr>
          <a:xfrm>
            <a:off x="3810000" y="4419600"/>
            <a:ext cx="552450" cy="247650"/>
          </a:xfrm>
          <a:prstGeom prst="rect">
            <a:avLst/>
          </a:prstGeom>
          <a:noFill/>
          <a:ln w="0">
            <a:noFill/>
            <a:prstDash val="solid"/>
          </a:ln>
        </p:spPr>
        <p:txBody>
          <a:bodyPr wrap="square" lIns="0" tIns="0" rIns="0" bIns="0" anchor="ctr">
            <a:normAutofit/>
          </a:bodyPr>
          <a:lstStyle/>
          <a:p>
            <a:pPr algn="ctr">
              <a:lnSpc>
                <a:spcPct val="108000"/>
              </a:lnSpc>
              <a:buNone/>
              <a:defRPr sz="1050" b="1">
                <a:solidFill>
                  <a:srgbClr val="7A5AF8"/>
                </a:solidFill>
                <a:latin typeface="Noto Sans CJK SC"/>
                <a:ea typeface="Noto Sans CJK SC"/>
                <a:cs typeface="Noto Sans CJK SC"/>
              </a:defRPr>
            </a:pPr>
            <a:r>
              <a:rPr sz="1050" b="1">
                <a:solidFill>
                  <a:srgbClr val="7A5AF8"/>
                </a:solidFill>
                <a:latin typeface="Noto Sans CJK SC"/>
                <a:ea typeface="Noto Sans CJK SC"/>
                <a:cs typeface="Noto Sans CJK SC"/>
              </a:rPr>
              <a:t>3 题</a:t>
            </a:r>
            <a:endParaRPr sz="1050" b="1">
              <a:solidFill>
                <a:srgbClr val="7A5AF8"/>
              </a:solidFill>
              <a:latin typeface="Noto Sans CJK SC"/>
              <a:ea typeface="Noto Sans CJK SC"/>
              <a:cs typeface="Noto Sans CJK SC"/>
            </a:endParaRPr>
          </a:p>
        </p:txBody>
      </p:sp>
      <p:sp>
        <p:nvSpPr>
          <p:cNvPr id="879" name="矩形 34"/>
          <p:cNvSpPr>
            <a:spLocks noGrp="1"/>
          </p:cNvSpPr>
          <p:nvPr/>
        </p:nvSpPr>
        <p:spPr>
          <a:xfrm>
            <a:off x="4762500" y="4371975"/>
            <a:ext cx="6667500" cy="4000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667085"/>
                </a:solidFill>
                <a:latin typeface="Noto Sans CJK SC"/>
                <a:ea typeface="Noto Sans CJK SC"/>
                <a:cs typeface="Noto Sans CJK SC"/>
              </a:defRPr>
            </a:pPr>
            <a:r>
              <a:rPr sz="1425" b="0">
                <a:solidFill>
                  <a:srgbClr val="667085"/>
                </a:solidFill>
                <a:latin typeface="Noto Sans CJK SC"/>
                <a:ea typeface="Noto Sans CJK SC"/>
                <a:cs typeface="Noto Sans CJK SC"/>
              </a:rPr>
              <a:t>DINOv3 冻结适配 · Foundation KD · F11 路由蒸馏</a:t>
            </a:r>
            <a:endParaRPr sz="1425" b="0">
              <a:solidFill>
                <a:srgbClr val="667085"/>
              </a:solidFill>
              <a:latin typeface="Noto Sans CJK SC"/>
              <a:ea typeface="Noto Sans CJK SC"/>
              <a:cs typeface="Noto Sans CJK SC"/>
            </a:endParaRPr>
          </a:p>
        </p:txBody>
      </p:sp>
      <p:sp>
        <p:nvSpPr>
          <p:cNvPr id="880" name="矩形 35"/>
          <p:cNvSpPr>
            <a:spLocks noGrp="1"/>
          </p:cNvSpPr>
          <p:nvPr/>
        </p:nvSpPr>
        <p:spPr>
          <a:xfrm>
            <a:off x="457200" y="5067300"/>
            <a:ext cx="11277600" cy="666750"/>
          </a:xfrm>
          <a:prstGeom prst="rect">
            <a:avLst/>
          </a:prstGeom>
          <a:solidFill>
            <a:srgbClr val="FFFFFF"/>
          </a:solidFill>
          <a:ln w="9525">
            <a:solidFill>
              <a:srgbClr val="FFFFFF"/>
            </a:solidFill>
            <a:prstDash val="solid"/>
          </a:ln>
        </p:spPr>
        <p:txBody>
          <a:bodyPr/>
          <a:p/>
        </p:txBody>
      </p:sp>
      <p:sp>
        <p:nvSpPr>
          <p:cNvPr id="881" name="矩形 36"/>
          <p:cNvSpPr>
            <a:spLocks noGrp="1"/>
          </p:cNvSpPr>
          <p:nvPr/>
        </p:nvSpPr>
        <p:spPr>
          <a:xfrm>
            <a:off x="457200" y="5067300"/>
            <a:ext cx="76200" cy="666750"/>
          </a:xfrm>
          <a:prstGeom prst="rect">
            <a:avLst/>
          </a:prstGeom>
          <a:solidFill>
            <a:srgbClr val="00A05A"/>
          </a:solidFill>
          <a:ln w="9525">
            <a:solidFill>
              <a:srgbClr val="00A05A"/>
            </a:solidFill>
            <a:prstDash val="solid"/>
          </a:ln>
        </p:spPr>
        <p:txBody>
          <a:bodyPr/>
          <a:p/>
        </p:txBody>
      </p:sp>
      <p:sp>
        <p:nvSpPr>
          <p:cNvPr id="882" name="矩形 37"/>
          <p:cNvSpPr>
            <a:spLocks noGrp="1"/>
          </p:cNvSpPr>
          <p:nvPr/>
        </p:nvSpPr>
        <p:spPr>
          <a:xfrm>
            <a:off x="704850" y="5162550"/>
            <a:ext cx="523875" cy="457200"/>
          </a:xfrm>
          <a:prstGeom prst="rect">
            <a:avLst/>
          </a:prstGeom>
          <a:noFill/>
          <a:ln w="0">
            <a:noFill/>
            <a:prstDash val="solid"/>
          </a:ln>
        </p:spPr>
        <p:txBody>
          <a:bodyPr wrap="square" lIns="0" tIns="0" rIns="0" bIns="0" anchor="ctr">
            <a:normAutofit fontScale="84133"/>
          </a:bodyPr>
          <a:lstStyle/>
          <a:p>
            <a:pPr algn="ctr">
              <a:lnSpc>
                <a:spcPct val="108000"/>
              </a:lnSpc>
              <a:buNone/>
              <a:defRPr sz="2400" b="1">
                <a:solidFill>
                  <a:srgbClr val="00A05A"/>
                </a:solidFill>
                <a:latin typeface="Noto Sans CJK SC"/>
                <a:ea typeface="Noto Sans CJK SC"/>
                <a:cs typeface="Noto Sans CJK SC"/>
              </a:defRPr>
            </a:pPr>
            <a:r>
              <a:rPr sz="2400" b="1">
                <a:solidFill>
                  <a:srgbClr val="00A05A"/>
                </a:solidFill>
                <a:latin typeface="Noto Sans CJK SC"/>
                <a:ea typeface="Noto Sans CJK SC"/>
                <a:cs typeface="Noto Sans CJK SC"/>
              </a:rPr>
              <a:t>E / F</a:t>
            </a:r>
            <a:endParaRPr sz="2400" b="1">
              <a:solidFill>
                <a:srgbClr val="00A05A"/>
              </a:solidFill>
              <a:latin typeface="Noto Sans CJK SC"/>
              <a:ea typeface="Noto Sans CJK SC"/>
              <a:cs typeface="Noto Sans CJK SC"/>
            </a:endParaRPr>
          </a:p>
        </p:txBody>
      </p:sp>
      <p:sp>
        <p:nvSpPr>
          <p:cNvPr id="883" name="矩形 38"/>
          <p:cNvSpPr>
            <a:spLocks noGrp="1"/>
          </p:cNvSpPr>
          <p:nvPr/>
        </p:nvSpPr>
        <p:spPr>
          <a:xfrm>
            <a:off x="1428750" y="5191125"/>
            <a:ext cx="2143125" cy="3810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社区影响力 / WebUI</a:t>
            </a:r>
            <a:endParaRPr sz="1800" b="1">
              <a:solidFill>
                <a:srgbClr val="111827"/>
              </a:solidFill>
              <a:latin typeface="Noto Sans CJK SC"/>
              <a:ea typeface="Noto Sans CJK SC"/>
              <a:cs typeface="Noto Sans CJK SC"/>
            </a:endParaRPr>
          </a:p>
        </p:txBody>
      </p:sp>
      <p:sp>
        <p:nvSpPr>
          <p:cNvPr id="884" name="圆角矩形 39"/>
          <p:cNvSpPr>
            <a:spLocks noGrp="1"/>
          </p:cNvSpPr>
          <p:nvPr/>
        </p:nvSpPr>
        <p:spPr>
          <a:xfrm>
            <a:off x="3714750" y="5238750"/>
            <a:ext cx="742950" cy="285750"/>
          </a:xfrm>
          <a:prstGeom prst="roundRect">
            <a:avLst>
              <a:gd name="adj" fmla="val 50000"/>
            </a:avLst>
          </a:prstGeom>
          <a:solidFill>
            <a:srgbClr val="E7F7EF"/>
          </a:solidFill>
          <a:ln w="9525">
            <a:solidFill>
              <a:srgbClr val="E7F7EF"/>
            </a:solidFill>
            <a:prstDash val="solid"/>
          </a:ln>
        </p:spPr>
        <p:txBody>
          <a:bodyPr/>
          <a:p/>
        </p:txBody>
      </p:sp>
      <p:sp>
        <p:nvSpPr>
          <p:cNvPr id="885" name="矩形 40"/>
          <p:cNvSpPr>
            <a:spLocks noGrp="1"/>
          </p:cNvSpPr>
          <p:nvPr/>
        </p:nvSpPr>
        <p:spPr>
          <a:xfrm>
            <a:off x="3810000" y="5257800"/>
            <a:ext cx="552450" cy="247650"/>
          </a:xfrm>
          <a:prstGeom prst="rect">
            <a:avLst/>
          </a:prstGeom>
          <a:noFill/>
          <a:ln w="0">
            <a:noFill/>
            <a:prstDash val="solid"/>
          </a:ln>
        </p:spPr>
        <p:txBody>
          <a:bodyPr wrap="square" lIns="0" tIns="0" rIns="0" bIns="0" anchor="ctr">
            <a:normAutofit/>
          </a:bodyPr>
          <a:lstStyle/>
          <a:p>
            <a:pPr algn="ctr">
              <a:lnSpc>
                <a:spcPct val="108000"/>
              </a:lnSpc>
              <a:buNone/>
              <a:defRPr sz="1050" b="1">
                <a:solidFill>
                  <a:srgbClr val="00A05A"/>
                </a:solidFill>
                <a:latin typeface="Noto Sans CJK SC"/>
                <a:ea typeface="Noto Sans CJK SC"/>
                <a:cs typeface="Noto Sans CJK SC"/>
              </a:defRPr>
            </a:pPr>
            <a:r>
              <a:rPr sz="1050" b="1">
                <a:solidFill>
                  <a:srgbClr val="00A05A"/>
                </a:solidFill>
                <a:latin typeface="Noto Sans CJK SC"/>
                <a:ea typeface="Noto Sans CJK SC"/>
                <a:cs typeface="Noto Sans CJK SC"/>
              </a:rPr>
              <a:t>3 + 3 题</a:t>
            </a:r>
            <a:endParaRPr sz="1050" b="1">
              <a:solidFill>
                <a:srgbClr val="00A05A"/>
              </a:solidFill>
              <a:latin typeface="Noto Sans CJK SC"/>
              <a:ea typeface="Noto Sans CJK SC"/>
              <a:cs typeface="Noto Sans CJK SC"/>
            </a:endParaRPr>
          </a:p>
        </p:txBody>
      </p:sp>
      <p:sp>
        <p:nvSpPr>
          <p:cNvPr id="886" name="矩形 41"/>
          <p:cNvSpPr>
            <a:spLocks noGrp="1"/>
          </p:cNvSpPr>
          <p:nvPr/>
        </p:nvSpPr>
        <p:spPr>
          <a:xfrm>
            <a:off x="4762500" y="5210175"/>
            <a:ext cx="6667500" cy="400050"/>
          </a:xfrm>
          <a:prstGeom prst="rect">
            <a:avLst/>
          </a:prstGeom>
          <a:noFill/>
          <a:ln w="0">
            <a:noFill/>
            <a:prstDash val="solid"/>
          </a:ln>
        </p:spPr>
        <p:txBody>
          <a:bodyPr wrap="square" lIns="0" tIns="0" rIns="0" bIns="0" anchor="t">
            <a:normAutofit/>
          </a:bodyPr>
          <a:lstStyle/>
          <a:p>
            <a:pPr algn="l">
              <a:lnSpc>
                <a:spcPct val="108000"/>
              </a:lnSpc>
              <a:buNone/>
              <a:defRPr sz="1425" b="0">
                <a:solidFill>
                  <a:srgbClr val="667085"/>
                </a:solidFill>
                <a:latin typeface="Noto Sans CJK SC"/>
                <a:ea typeface="Noto Sans CJK SC"/>
                <a:cs typeface="Noto Sans CJK SC"/>
              </a:defRPr>
            </a:pPr>
            <a:r>
              <a:rPr sz="1425" b="0">
                <a:solidFill>
                  <a:srgbClr val="667085"/>
                </a:solidFill>
                <a:latin typeface="Noto Sans CJK SC"/>
                <a:ea typeface="Noto Sans CJK SC"/>
                <a:cs typeface="Noto Sans CJK SC"/>
              </a:rPr>
              <a:t>社区工具与复测 · YOLO-Master Studio</a:t>
            </a:r>
            <a:endParaRPr sz="1425" b="0">
              <a:solidFill>
                <a:srgbClr val="667085"/>
              </a:solidFill>
              <a:latin typeface="Noto Sans CJK SC"/>
              <a:ea typeface="Noto Sans CJK SC"/>
              <a:cs typeface="Noto Sans CJK SC"/>
            </a:endParaRPr>
          </a:p>
        </p:txBody>
      </p:sp>
      <p:sp>
        <p:nvSpPr>
          <p:cNvPr id="887" name="矩形 42"/>
          <p:cNvSpPr>
            <a:spLocks noGrp="1"/>
          </p:cNvSpPr>
          <p:nvPr/>
        </p:nvSpPr>
        <p:spPr>
          <a:xfrm>
            <a:off x="457200" y="6000750"/>
            <a:ext cx="8191500" cy="228600"/>
          </a:xfrm>
          <a:prstGeom prst="rect">
            <a:avLst/>
          </a:prstGeom>
          <a:noFill/>
          <a:ln w="0">
            <a:noFill/>
            <a:prstDash val="solid"/>
          </a:ln>
        </p:spPr>
        <p:txBody>
          <a:bodyPr wrap="square" lIns="0" tIns="0" rIns="0" bIns="0" anchor="t">
            <a:normAutofit/>
          </a:bodyPr>
          <a:lstStyle/>
          <a:p>
            <a:pPr algn="l">
              <a:lnSpc>
                <a:spcPct val="108000"/>
              </a:lnSpc>
              <a:buNone/>
              <a:defRPr sz="1050" b="1">
                <a:solidFill>
                  <a:srgbClr val="D92D20"/>
                </a:solidFill>
                <a:latin typeface="Noto Sans CJK SC"/>
                <a:ea typeface="Noto Sans CJK SC"/>
                <a:cs typeface="Noto Sans CJK SC"/>
              </a:defRPr>
            </a:pPr>
            <a:r>
              <a:rPr sz="1050" b="1">
                <a:solidFill>
                  <a:srgbClr val="D92D20"/>
                </a:solidFill>
                <a:latin typeface="Noto Sans CJK SC"/>
                <a:ea typeface="Noto Sans CJK SC"/>
                <a:cs typeface="Noto Sans CJK SC"/>
              </a:rPr>
              <a:t>* 17 题是候选池，不要求全部开放；WebUI 复用现有 app.py 与 Agent Skill。 </a:t>
            </a:r>
            <a:endParaRPr sz="1050" b="1">
              <a:solidFill>
                <a:srgbClr val="D92D20"/>
              </a:solidFill>
              <a:latin typeface="Noto Sans CJK SC"/>
              <a:ea typeface="Noto Sans CJK SC"/>
              <a:cs typeface="Noto Sans CJK SC"/>
            </a:endParaRPr>
          </a:p>
        </p:txBody>
      </p:sp>
    </p:spTree>
  </p:cSld>
  <p:clrMapOvr>
    <a:masterClrMapping/>
  </p:clrMapOvr>
</p:sld>
</file>

<file path=ppt/slides/slide6.xml><?xml version="1.0" encoding="utf-8"?>
<p:sld xmlns:a="http://schemas.openxmlformats.org/drawingml/2006/main" xmlns:p="http://schemas.openxmlformats.org/presentationml/2006/main">
  <p:cSld>
    <p:bg>
      <p:bgPr>
        <a:solidFill>
          <a:srgbClr val="FFFFFF"/>
        </a:solidFill>
        <a:effectLst/>
      </p:bgPr>
    </p:bg>
    <p:spTree>
      <p:nvGrpSpPr>
        <p:cNvPr id="888" name=""/>
        <p:cNvGrpSpPr/>
        <p:nvPr/>
      </p:nvGrpSpPr>
      <p:grpSpPr>
        <a:xfrm>
          <a:off x="0" y="0"/>
          <a:ext cx="0" cy="0"/>
          <a:chOff x="0" y="0"/>
          <a:chExt cx="0" cy="0"/>
        </a:xfrm>
      </p:grpSpPr>
      <p:sp>
        <p:nvSpPr>
          <p:cNvPr id="889" name="矩形 3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REPOSITORY FACTS</a:t>
            </a:r>
            <a:endParaRPr sz="1125" b="1">
              <a:solidFill>
                <a:srgbClr val="1769FF"/>
              </a:solidFill>
              <a:latin typeface="Noto Sans CJK SC"/>
              <a:ea typeface="Noto Sans CJK SC"/>
              <a:cs typeface="Noto Sans CJK SC"/>
            </a:endParaRPr>
          </a:p>
        </p:txBody>
      </p:sp>
      <p:sp>
        <p:nvSpPr>
          <p:cNvPr id="890"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先冻结代码基线：Release 用于验收，HEAD 用于研究</a:t>
            </a:r>
            <a:endParaRPr sz="3000" b="1">
              <a:solidFill>
                <a:srgbClr val="111827"/>
              </a:solidFill>
              <a:latin typeface="Noto Sans CJK SC"/>
              <a:ea typeface="Noto Sans CJK SC"/>
              <a:cs typeface="Noto Sans CJK SC"/>
            </a:endParaRPr>
          </a:p>
        </p:txBody>
      </p:sp>
      <p:sp>
        <p:nvSpPr>
          <p:cNvPr id="891"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892"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893"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894"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04</a:t>
            </a:r>
            <a:endParaRPr sz="975" b="1">
              <a:solidFill>
                <a:srgbClr val="667085"/>
              </a:solidFill>
              <a:latin typeface="Noto Sans CJK SC"/>
              <a:ea typeface="Noto Sans CJK SC"/>
              <a:cs typeface="Noto Sans CJK SC"/>
            </a:endParaRPr>
          </a:p>
        </p:txBody>
      </p:sp>
      <p:sp>
        <p:nvSpPr>
          <p:cNvPr id="895" name="圆角矩形 6"/>
          <p:cNvSpPr>
            <a:spLocks noGrp="1"/>
          </p:cNvSpPr>
          <p:nvPr/>
        </p:nvSpPr>
        <p:spPr>
          <a:xfrm>
            <a:off x="495300" y="1581150"/>
            <a:ext cx="514350" cy="514350"/>
          </a:xfrm>
          <a:prstGeom prst="roundRect">
            <a:avLst>
              <a:gd name="adj" fmla="val 14815"/>
            </a:avLst>
          </a:prstGeom>
          <a:solidFill>
            <a:srgbClr val="EAF2FF"/>
          </a:solidFill>
          <a:ln w="0">
            <a:noFill/>
            <a:prstDash val="solid"/>
          </a:ln>
        </p:spPr>
        <p:txBody>
          <a:bodyPr wrap="square" lIns="0" tIns="0" rIns="0" bIns="0" anchor="ctr">
            <a:normAutofit/>
          </a:bodyPr>
          <a:lstStyle/>
          <a:p>
            <a:pPr algn="ctr">
              <a:lnSpc>
                <a:spcPct val="108000"/>
              </a:lnSpc>
              <a:buNone/>
              <a:defRPr sz="2100" b="1">
                <a:solidFill>
                  <a:srgbClr val="1769FF"/>
                </a:solidFill>
                <a:latin typeface="Noto Sans CJK SC"/>
                <a:ea typeface="Noto Sans CJK SC"/>
                <a:cs typeface="Noto Sans CJK SC"/>
              </a:defRPr>
            </a:pPr>
            <a:r>
              <a:rPr sz="2100" b="1">
                <a:solidFill>
                  <a:srgbClr val="1769FF"/>
                </a:solidFill>
                <a:latin typeface="Noto Sans CJK SC"/>
                <a:ea typeface="Noto Sans CJK SC"/>
                <a:cs typeface="Noto Sans CJK SC"/>
              </a:rPr>
              <a:t>01</a:t>
            </a:r>
            <a:endParaRPr sz="2100" b="1">
              <a:solidFill>
                <a:srgbClr val="1769FF"/>
              </a:solidFill>
              <a:latin typeface="Noto Sans CJK SC"/>
              <a:ea typeface="Noto Sans CJK SC"/>
              <a:cs typeface="Noto Sans CJK SC"/>
            </a:endParaRPr>
          </a:p>
        </p:txBody>
      </p:sp>
      <p:sp>
        <p:nvSpPr>
          <p:cNvPr id="896" name="矩形 7"/>
          <p:cNvSpPr>
            <a:spLocks noGrp="1"/>
          </p:cNvSpPr>
          <p:nvPr/>
        </p:nvSpPr>
        <p:spPr>
          <a:xfrm>
            <a:off x="1238250" y="1619250"/>
            <a:ext cx="1809750" cy="3048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稳定基线</a:t>
            </a:r>
            <a:endParaRPr sz="1650" b="1">
              <a:solidFill>
                <a:srgbClr val="111827"/>
              </a:solidFill>
              <a:latin typeface="Noto Sans CJK SC"/>
              <a:ea typeface="Noto Sans CJK SC"/>
              <a:cs typeface="Noto Sans CJK SC"/>
            </a:endParaRPr>
          </a:p>
        </p:txBody>
      </p:sp>
      <p:sp>
        <p:nvSpPr>
          <p:cNvPr id="897" name="矩形 8"/>
          <p:cNvSpPr>
            <a:spLocks noGrp="1"/>
          </p:cNvSpPr>
          <p:nvPr/>
        </p:nvSpPr>
        <p:spPr>
          <a:xfrm>
            <a:off x="3190875" y="1619250"/>
            <a:ext cx="3238500" cy="30480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YOLO-Master-v26.08 @ 43d4011</a:t>
            </a:r>
            <a:endParaRPr sz="1425" b="1">
              <a:solidFill>
                <a:srgbClr val="111827"/>
              </a:solidFill>
              <a:latin typeface="Noto Sans CJK SC"/>
              <a:ea typeface="Noto Sans CJK SC"/>
              <a:cs typeface="Noto Sans CJK SC"/>
            </a:endParaRPr>
          </a:p>
        </p:txBody>
      </p:sp>
      <p:sp>
        <p:nvSpPr>
          <p:cNvPr id="898" name="矩形 9"/>
          <p:cNvSpPr>
            <a:spLocks noGrp="1"/>
          </p:cNvSpPr>
          <p:nvPr/>
        </p:nvSpPr>
        <p:spPr>
          <a:xfrm>
            <a:off x="6667500" y="1619250"/>
            <a:ext cx="4762500" cy="51435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Ultralytics 8.4.101 / YOLO26；377 passed · 1 xfailed</a:t>
            </a:r>
            <a:endParaRPr sz="1275" b="0">
              <a:solidFill>
                <a:srgbClr val="667085"/>
              </a:solidFill>
              <a:latin typeface="Noto Sans CJK SC"/>
              <a:ea typeface="Noto Sans CJK SC"/>
              <a:cs typeface="Noto Sans CJK SC"/>
            </a:endParaRPr>
          </a:p>
        </p:txBody>
      </p:sp>
      <p:sp>
        <p:nvSpPr>
          <p:cNvPr id="899" name="矩形 10"/>
          <p:cNvSpPr>
            <a:spLocks noGrp="1"/>
          </p:cNvSpPr>
          <p:nvPr/>
        </p:nvSpPr>
        <p:spPr>
          <a:xfrm>
            <a:off x="1238250" y="2266950"/>
            <a:ext cx="10191750" cy="9525"/>
          </a:xfrm>
          <a:prstGeom prst="rect">
            <a:avLst/>
          </a:prstGeom>
          <a:solidFill>
            <a:srgbClr val="D0D5DD"/>
          </a:solidFill>
          <a:ln w="9525">
            <a:solidFill>
              <a:srgbClr val="D0D5DD"/>
            </a:solidFill>
            <a:prstDash val="solid"/>
          </a:ln>
        </p:spPr>
        <p:txBody>
          <a:bodyPr/>
          <a:p/>
        </p:txBody>
      </p:sp>
      <p:sp>
        <p:nvSpPr>
          <p:cNvPr id="900" name="圆角矩形 11"/>
          <p:cNvSpPr>
            <a:spLocks noGrp="1"/>
          </p:cNvSpPr>
          <p:nvPr/>
        </p:nvSpPr>
        <p:spPr>
          <a:xfrm>
            <a:off x="495300" y="2476500"/>
            <a:ext cx="514350" cy="514350"/>
          </a:xfrm>
          <a:prstGeom prst="roundRect">
            <a:avLst>
              <a:gd name="adj" fmla="val 14815"/>
            </a:avLst>
          </a:prstGeom>
          <a:solidFill>
            <a:srgbClr val="EAF2FF"/>
          </a:solidFill>
          <a:ln w="0">
            <a:noFill/>
            <a:prstDash val="solid"/>
          </a:ln>
        </p:spPr>
        <p:txBody>
          <a:bodyPr wrap="square" lIns="0" tIns="0" rIns="0" bIns="0" anchor="ctr">
            <a:normAutofit/>
          </a:bodyPr>
          <a:lstStyle/>
          <a:p>
            <a:pPr algn="ctr">
              <a:lnSpc>
                <a:spcPct val="108000"/>
              </a:lnSpc>
              <a:buNone/>
              <a:defRPr sz="2100" b="1">
                <a:solidFill>
                  <a:srgbClr val="1769FF"/>
                </a:solidFill>
                <a:latin typeface="Noto Sans CJK SC"/>
                <a:ea typeface="Noto Sans CJK SC"/>
                <a:cs typeface="Noto Sans CJK SC"/>
              </a:defRPr>
            </a:pPr>
            <a:r>
              <a:rPr sz="2100" b="1">
                <a:solidFill>
                  <a:srgbClr val="1769FF"/>
                </a:solidFill>
                <a:latin typeface="Noto Sans CJK SC"/>
                <a:ea typeface="Noto Sans CJK SC"/>
                <a:cs typeface="Noto Sans CJK SC"/>
              </a:rPr>
              <a:t>02</a:t>
            </a:r>
            <a:endParaRPr sz="2100" b="1">
              <a:solidFill>
                <a:srgbClr val="1769FF"/>
              </a:solidFill>
              <a:latin typeface="Noto Sans CJK SC"/>
              <a:ea typeface="Noto Sans CJK SC"/>
              <a:cs typeface="Noto Sans CJK SC"/>
            </a:endParaRPr>
          </a:p>
        </p:txBody>
      </p:sp>
      <p:sp>
        <p:nvSpPr>
          <p:cNvPr id="901" name="矩形 12"/>
          <p:cNvSpPr>
            <a:spLocks noGrp="1"/>
          </p:cNvSpPr>
          <p:nvPr/>
        </p:nvSpPr>
        <p:spPr>
          <a:xfrm>
            <a:off x="1238250" y="2514600"/>
            <a:ext cx="1809750" cy="3048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当前 main</a:t>
            </a:r>
            <a:endParaRPr sz="1650" b="1">
              <a:solidFill>
                <a:srgbClr val="111827"/>
              </a:solidFill>
              <a:latin typeface="Noto Sans CJK SC"/>
              <a:ea typeface="Noto Sans CJK SC"/>
              <a:cs typeface="Noto Sans CJK SC"/>
            </a:endParaRPr>
          </a:p>
        </p:txBody>
      </p:sp>
      <p:sp>
        <p:nvSpPr>
          <p:cNvPr id="902" name="矩形 13"/>
          <p:cNvSpPr>
            <a:spLocks noGrp="1"/>
          </p:cNvSpPr>
          <p:nvPr/>
        </p:nvSpPr>
        <p:spPr>
          <a:xfrm>
            <a:off x="3190875" y="2514600"/>
            <a:ext cx="3238500" cy="30480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main @ 57b9ea3</a:t>
            </a:r>
            <a:endParaRPr sz="1425" b="1">
              <a:solidFill>
                <a:srgbClr val="111827"/>
              </a:solidFill>
              <a:latin typeface="Noto Sans CJK SC"/>
              <a:ea typeface="Noto Sans CJK SC"/>
              <a:cs typeface="Noto Sans CJK SC"/>
            </a:endParaRPr>
          </a:p>
        </p:txBody>
      </p:sp>
      <p:sp>
        <p:nvSpPr>
          <p:cNvPr id="903" name="矩形 14"/>
          <p:cNvSpPr>
            <a:spLocks noGrp="1"/>
          </p:cNvSpPr>
          <p:nvPr/>
        </p:nvSpPr>
        <p:spPr>
          <a:xfrm>
            <a:off x="6667500" y="2514600"/>
            <a:ext cx="4762500" cy="51435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2026-08-21 HEAD；新增能力必须锁 commit 并重跑测试</a:t>
            </a:r>
            <a:endParaRPr sz="1275" b="0">
              <a:solidFill>
                <a:srgbClr val="667085"/>
              </a:solidFill>
              <a:latin typeface="Noto Sans CJK SC"/>
              <a:ea typeface="Noto Sans CJK SC"/>
              <a:cs typeface="Noto Sans CJK SC"/>
            </a:endParaRPr>
          </a:p>
        </p:txBody>
      </p:sp>
      <p:sp>
        <p:nvSpPr>
          <p:cNvPr id="904" name="矩形 15"/>
          <p:cNvSpPr>
            <a:spLocks noGrp="1"/>
          </p:cNvSpPr>
          <p:nvPr/>
        </p:nvSpPr>
        <p:spPr>
          <a:xfrm>
            <a:off x="1238250" y="3162300"/>
            <a:ext cx="10191750" cy="9525"/>
          </a:xfrm>
          <a:prstGeom prst="rect">
            <a:avLst/>
          </a:prstGeom>
          <a:solidFill>
            <a:srgbClr val="D0D5DD"/>
          </a:solidFill>
          <a:ln w="9525">
            <a:solidFill>
              <a:srgbClr val="D0D5DD"/>
            </a:solidFill>
            <a:prstDash val="solid"/>
          </a:ln>
        </p:spPr>
        <p:txBody>
          <a:bodyPr/>
          <a:p/>
        </p:txBody>
      </p:sp>
      <p:sp>
        <p:nvSpPr>
          <p:cNvPr id="905" name="圆角矩形 16"/>
          <p:cNvSpPr>
            <a:spLocks noGrp="1"/>
          </p:cNvSpPr>
          <p:nvPr/>
        </p:nvSpPr>
        <p:spPr>
          <a:xfrm>
            <a:off x="495300" y="3371850"/>
            <a:ext cx="514350" cy="514350"/>
          </a:xfrm>
          <a:prstGeom prst="roundRect">
            <a:avLst>
              <a:gd name="adj" fmla="val 14815"/>
            </a:avLst>
          </a:prstGeom>
          <a:solidFill>
            <a:srgbClr val="EAF2FF"/>
          </a:solidFill>
          <a:ln w="0">
            <a:noFill/>
            <a:prstDash val="solid"/>
          </a:ln>
        </p:spPr>
        <p:txBody>
          <a:bodyPr wrap="square" lIns="0" tIns="0" rIns="0" bIns="0" anchor="ctr">
            <a:normAutofit/>
          </a:bodyPr>
          <a:lstStyle/>
          <a:p>
            <a:pPr algn="ctr">
              <a:lnSpc>
                <a:spcPct val="108000"/>
              </a:lnSpc>
              <a:buNone/>
              <a:defRPr sz="2100" b="1">
                <a:solidFill>
                  <a:srgbClr val="1769FF"/>
                </a:solidFill>
                <a:latin typeface="Noto Sans CJK SC"/>
                <a:ea typeface="Noto Sans CJK SC"/>
                <a:cs typeface="Noto Sans CJK SC"/>
              </a:defRPr>
            </a:pPr>
            <a:r>
              <a:rPr sz="2100" b="1">
                <a:solidFill>
                  <a:srgbClr val="1769FF"/>
                </a:solidFill>
                <a:latin typeface="Noto Sans CJK SC"/>
                <a:ea typeface="Noto Sans CJK SC"/>
                <a:cs typeface="Noto Sans CJK SC"/>
              </a:rPr>
              <a:t>03</a:t>
            </a:r>
            <a:endParaRPr sz="2100" b="1">
              <a:solidFill>
                <a:srgbClr val="1769FF"/>
              </a:solidFill>
              <a:latin typeface="Noto Sans CJK SC"/>
              <a:ea typeface="Noto Sans CJK SC"/>
              <a:cs typeface="Noto Sans CJK SC"/>
            </a:endParaRPr>
          </a:p>
        </p:txBody>
      </p:sp>
      <p:sp>
        <p:nvSpPr>
          <p:cNvPr id="906" name="矩形 17"/>
          <p:cNvSpPr>
            <a:spLocks noGrp="1"/>
          </p:cNvSpPr>
          <p:nvPr/>
        </p:nvSpPr>
        <p:spPr>
          <a:xfrm>
            <a:off x="1238250" y="3409950"/>
            <a:ext cx="1809750" cy="3048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成熟度边界</a:t>
            </a:r>
            <a:endParaRPr sz="1650" b="1">
              <a:solidFill>
                <a:srgbClr val="111827"/>
              </a:solidFill>
              <a:latin typeface="Noto Sans CJK SC"/>
              <a:ea typeface="Noto Sans CJK SC"/>
              <a:cs typeface="Noto Sans CJK SC"/>
            </a:endParaRPr>
          </a:p>
        </p:txBody>
      </p:sp>
      <p:sp>
        <p:nvSpPr>
          <p:cNvPr id="907" name="矩形 18"/>
          <p:cNvSpPr>
            <a:spLocks noGrp="1"/>
          </p:cNvSpPr>
          <p:nvPr/>
        </p:nvSpPr>
        <p:spPr>
          <a:xfrm>
            <a:off x="3190875" y="3409950"/>
            <a:ext cx="3238500" cy="30480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Release 对齐 detect/seg/pose</a:t>
            </a:r>
            <a:endParaRPr sz="1425" b="1">
              <a:solidFill>
                <a:srgbClr val="111827"/>
              </a:solidFill>
              <a:latin typeface="Noto Sans CJK SC"/>
              <a:ea typeface="Noto Sans CJK SC"/>
              <a:cs typeface="Noto Sans CJK SC"/>
            </a:endParaRPr>
          </a:p>
        </p:txBody>
      </p:sp>
      <p:sp>
        <p:nvSpPr>
          <p:cNvPr id="908" name="矩形 19"/>
          <p:cNvSpPr>
            <a:spLocks noGrp="1"/>
          </p:cNvSpPr>
          <p:nvPr/>
        </p:nvSpPr>
        <p:spPr>
          <a:xfrm>
            <a:off x="6667500" y="3409950"/>
            <a:ext cx="4762500" cy="51435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7 分支是代码表面；其余需配套标签；unified OBB 不支持</a:t>
            </a:r>
            <a:endParaRPr sz="1275" b="0">
              <a:solidFill>
                <a:srgbClr val="667085"/>
              </a:solidFill>
              <a:latin typeface="Noto Sans CJK SC"/>
              <a:ea typeface="Noto Sans CJK SC"/>
              <a:cs typeface="Noto Sans CJK SC"/>
            </a:endParaRPr>
          </a:p>
        </p:txBody>
      </p:sp>
      <p:sp>
        <p:nvSpPr>
          <p:cNvPr id="909" name="矩形 20"/>
          <p:cNvSpPr>
            <a:spLocks noGrp="1"/>
          </p:cNvSpPr>
          <p:nvPr/>
        </p:nvSpPr>
        <p:spPr>
          <a:xfrm>
            <a:off x="1238250" y="4057650"/>
            <a:ext cx="10191750" cy="9525"/>
          </a:xfrm>
          <a:prstGeom prst="rect">
            <a:avLst/>
          </a:prstGeom>
          <a:solidFill>
            <a:srgbClr val="D0D5DD"/>
          </a:solidFill>
          <a:ln w="9525">
            <a:solidFill>
              <a:srgbClr val="D0D5DD"/>
            </a:solidFill>
            <a:prstDash val="solid"/>
          </a:ln>
        </p:spPr>
        <p:txBody>
          <a:bodyPr/>
          <a:p/>
        </p:txBody>
      </p:sp>
      <p:sp>
        <p:nvSpPr>
          <p:cNvPr id="910" name="圆角矩形 21"/>
          <p:cNvSpPr>
            <a:spLocks noGrp="1"/>
          </p:cNvSpPr>
          <p:nvPr/>
        </p:nvSpPr>
        <p:spPr>
          <a:xfrm>
            <a:off x="495300" y="4267200"/>
            <a:ext cx="514350" cy="514350"/>
          </a:xfrm>
          <a:prstGeom prst="roundRect">
            <a:avLst>
              <a:gd name="adj" fmla="val 14815"/>
            </a:avLst>
          </a:prstGeom>
          <a:solidFill>
            <a:srgbClr val="EAF2FF"/>
          </a:solidFill>
          <a:ln w="0">
            <a:noFill/>
            <a:prstDash val="solid"/>
          </a:ln>
        </p:spPr>
        <p:txBody>
          <a:bodyPr wrap="square" lIns="0" tIns="0" rIns="0" bIns="0" anchor="ctr">
            <a:normAutofit/>
          </a:bodyPr>
          <a:lstStyle/>
          <a:p>
            <a:pPr algn="ctr">
              <a:lnSpc>
                <a:spcPct val="108000"/>
              </a:lnSpc>
              <a:buNone/>
              <a:defRPr sz="2100" b="1">
                <a:solidFill>
                  <a:srgbClr val="1769FF"/>
                </a:solidFill>
                <a:latin typeface="Noto Sans CJK SC"/>
                <a:ea typeface="Noto Sans CJK SC"/>
                <a:cs typeface="Noto Sans CJK SC"/>
              </a:defRPr>
            </a:pPr>
            <a:r>
              <a:rPr sz="2100" b="1">
                <a:solidFill>
                  <a:srgbClr val="1769FF"/>
                </a:solidFill>
                <a:latin typeface="Noto Sans CJK SC"/>
                <a:ea typeface="Noto Sans CJK SC"/>
                <a:cs typeface="Noto Sans CJK SC"/>
              </a:rPr>
              <a:t>04</a:t>
            </a:r>
            <a:endParaRPr sz="2100" b="1">
              <a:solidFill>
                <a:srgbClr val="1769FF"/>
              </a:solidFill>
              <a:latin typeface="Noto Sans CJK SC"/>
              <a:ea typeface="Noto Sans CJK SC"/>
              <a:cs typeface="Noto Sans CJK SC"/>
            </a:endParaRPr>
          </a:p>
        </p:txBody>
      </p:sp>
      <p:sp>
        <p:nvSpPr>
          <p:cNvPr id="911" name="矩形 22"/>
          <p:cNvSpPr>
            <a:spLocks noGrp="1"/>
          </p:cNvSpPr>
          <p:nvPr/>
        </p:nvSpPr>
        <p:spPr>
          <a:xfrm>
            <a:off x="1238250" y="4305300"/>
            <a:ext cx="1809750" cy="3048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HEAD 研究能力</a:t>
            </a:r>
            <a:endParaRPr sz="1650" b="1">
              <a:solidFill>
                <a:srgbClr val="111827"/>
              </a:solidFill>
              <a:latin typeface="Noto Sans CJK SC"/>
              <a:ea typeface="Noto Sans CJK SC"/>
              <a:cs typeface="Noto Sans CJK SC"/>
            </a:endParaRPr>
          </a:p>
        </p:txBody>
      </p:sp>
      <p:sp>
        <p:nvSpPr>
          <p:cNvPr id="912" name="矩形 23"/>
          <p:cNvSpPr>
            <a:spLocks noGrp="1"/>
          </p:cNvSpPr>
          <p:nvPr/>
        </p:nvSpPr>
        <p:spPr>
          <a:xfrm>
            <a:off x="3190875" y="4305300"/>
            <a:ext cx="3238500" cy="304800"/>
          </a:xfrm>
          <a:prstGeom prst="rect">
            <a:avLst/>
          </a:prstGeom>
          <a:noFill/>
          <a:ln w="0">
            <a:noFill/>
            <a:prstDash val="solid"/>
          </a:ln>
        </p:spPr>
        <p:txBody>
          <a:bodyPr wrap="square" lIns="0" tIns="0" rIns="0" bIns="0" anchor="t">
            <a:normAutofit fontScale="85034"/>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Foundation / F11 / one-to-one / diagnostics</a:t>
            </a:r>
            <a:endParaRPr sz="1425" b="1">
              <a:solidFill>
                <a:srgbClr val="111827"/>
              </a:solidFill>
              <a:latin typeface="Noto Sans CJK SC"/>
              <a:ea typeface="Noto Sans CJK SC"/>
              <a:cs typeface="Noto Sans CJK SC"/>
            </a:endParaRPr>
          </a:p>
        </p:txBody>
      </p:sp>
      <p:sp>
        <p:nvSpPr>
          <p:cNvPr id="913" name="矩形 24"/>
          <p:cNvSpPr>
            <a:spLocks noGrp="1"/>
          </p:cNvSpPr>
          <p:nvPr/>
        </p:nvSpPr>
        <p:spPr>
          <a:xfrm>
            <a:off x="6667500" y="4305300"/>
            <a:ext cx="4762500" cy="51435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可用接口≠已验证精度；无匹配 artifact 不宣称精度/延迟</a:t>
            </a:r>
            <a:endParaRPr sz="1275" b="0">
              <a:solidFill>
                <a:srgbClr val="667085"/>
              </a:solidFill>
              <a:latin typeface="Noto Sans CJK SC"/>
              <a:ea typeface="Noto Sans CJK SC"/>
              <a:cs typeface="Noto Sans CJK SC"/>
            </a:endParaRPr>
          </a:p>
        </p:txBody>
      </p:sp>
      <p:sp>
        <p:nvSpPr>
          <p:cNvPr id="914" name="矩形 25"/>
          <p:cNvSpPr>
            <a:spLocks noGrp="1"/>
          </p:cNvSpPr>
          <p:nvPr/>
        </p:nvSpPr>
        <p:spPr>
          <a:xfrm>
            <a:off x="1238250" y="4953000"/>
            <a:ext cx="10191750" cy="9525"/>
          </a:xfrm>
          <a:prstGeom prst="rect">
            <a:avLst/>
          </a:prstGeom>
          <a:solidFill>
            <a:srgbClr val="D0D5DD"/>
          </a:solidFill>
          <a:ln w="9525">
            <a:solidFill>
              <a:srgbClr val="D0D5DD"/>
            </a:solidFill>
            <a:prstDash val="solid"/>
          </a:ln>
        </p:spPr>
        <p:txBody>
          <a:bodyPr/>
          <a:p/>
        </p:txBody>
      </p:sp>
      <p:sp>
        <p:nvSpPr>
          <p:cNvPr id="915" name="圆角矩形 26"/>
          <p:cNvSpPr>
            <a:spLocks noGrp="1"/>
          </p:cNvSpPr>
          <p:nvPr/>
        </p:nvSpPr>
        <p:spPr>
          <a:xfrm>
            <a:off x="495300" y="5162550"/>
            <a:ext cx="514350" cy="514350"/>
          </a:xfrm>
          <a:prstGeom prst="roundRect">
            <a:avLst>
              <a:gd name="adj" fmla="val 14815"/>
            </a:avLst>
          </a:prstGeom>
          <a:solidFill>
            <a:srgbClr val="EAF2FF"/>
          </a:solidFill>
          <a:ln w="0">
            <a:noFill/>
            <a:prstDash val="solid"/>
          </a:ln>
        </p:spPr>
        <p:txBody>
          <a:bodyPr wrap="square" lIns="0" tIns="0" rIns="0" bIns="0" anchor="ctr">
            <a:normAutofit/>
          </a:bodyPr>
          <a:lstStyle/>
          <a:p>
            <a:pPr algn="ctr">
              <a:lnSpc>
                <a:spcPct val="108000"/>
              </a:lnSpc>
              <a:buNone/>
              <a:defRPr sz="2100" b="1">
                <a:solidFill>
                  <a:srgbClr val="1769FF"/>
                </a:solidFill>
                <a:latin typeface="Noto Sans CJK SC"/>
                <a:ea typeface="Noto Sans CJK SC"/>
                <a:cs typeface="Noto Sans CJK SC"/>
              </a:defRPr>
            </a:pPr>
            <a:r>
              <a:rPr sz="2100" b="1">
                <a:solidFill>
                  <a:srgbClr val="1769FF"/>
                </a:solidFill>
                <a:latin typeface="Noto Sans CJK SC"/>
                <a:ea typeface="Noto Sans CJK SC"/>
                <a:cs typeface="Noto Sans CJK SC"/>
              </a:rPr>
              <a:t>05</a:t>
            </a:r>
            <a:endParaRPr sz="2100" b="1">
              <a:solidFill>
                <a:srgbClr val="1769FF"/>
              </a:solidFill>
              <a:latin typeface="Noto Sans CJK SC"/>
              <a:ea typeface="Noto Sans CJK SC"/>
              <a:cs typeface="Noto Sans CJK SC"/>
            </a:endParaRPr>
          </a:p>
        </p:txBody>
      </p:sp>
      <p:sp>
        <p:nvSpPr>
          <p:cNvPr id="916" name="矩形 27"/>
          <p:cNvSpPr>
            <a:spLocks noGrp="1"/>
          </p:cNvSpPr>
          <p:nvPr/>
        </p:nvSpPr>
        <p:spPr>
          <a:xfrm>
            <a:off x="1238250" y="5200650"/>
            <a:ext cx="1809750" cy="3048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统一规则</a:t>
            </a:r>
            <a:endParaRPr sz="1650" b="1">
              <a:solidFill>
                <a:srgbClr val="111827"/>
              </a:solidFill>
              <a:latin typeface="Noto Sans CJK SC"/>
              <a:ea typeface="Noto Sans CJK SC"/>
              <a:cs typeface="Noto Sans CJK SC"/>
            </a:endParaRPr>
          </a:p>
        </p:txBody>
      </p:sp>
      <p:sp>
        <p:nvSpPr>
          <p:cNvPr id="917" name="矩形 28"/>
          <p:cNvSpPr>
            <a:spLocks noGrp="1"/>
          </p:cNvSpPr>
          <p:nvPr/>
        </p:nvSpPr>
        <p:spPr>
          <a:xfrm>
            <a:off x="3190875" y="5200650"/>
            <a:ext cx="3238500" cy="30480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P0 默认稳定 tag</a:t>
            </a:r>
            <a:endParaRPr sz="1425" b="1">
              <a:solidFill>
                <a:srgbClr val="111827"/>
              </a:solidFill>
              <a:latin typeface="Noto Sans CJK SC"/>
              <a:ea typeface="Noto Sans CJK SC"/>
              <a:cs typeface="Noto Sans CJK SC"/>
            </a:endParaRPr>
          </a:p>
        </p:txBody>
      </p:sp>
      <p:sp>
        <p:nvSpPr>
          <p:cNvPr id="918" name="矩形 29"/>
          <p:cNvSpPr>
            <a:spLocks noGrp="1"/>
          </p:cNvSpPr>
          <p:nvPr/>
        </p:nvSpPr>
        <p:spPr>
          <a:xfrm>
            <a:off x="6667500" y="5200650"/>
            <a:ext cx="4762500" cy="51435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仅题目必须依赖 HEAD 才切换；所有组登记 tag/commit</a:t>
            </a:r>
            <a:endParaRPr sz="1275" b="0">
              <a:solidFill>
                <a:srgbClr val="667085"/>
              </a:solidFill>
              <a:latin typeface="Noto Sans CJK SC"/>
              <a:ea typeface="Noto Sans CJK SC"/>
              <a:cs typeface="Noto Sans CJK SC"/>
            </a:endParaRPr>
          </a:p>
        </p:txBody>
      </p:sp>
    </p:spTree>
  </p:cSld>
  <p:clrMapOvr>
    <a:masterClrMapping/>
  </p:clrMapOvr>
</p:sld>
</file>

<file path=ppt/slides/slide7.xml><?xml version="1.0" encoding="utf-8"?>
<p:sld xmlns:a="http://schemas.openxmlformats.org/drawingml/2006/main" xmlns:p="http://schemas.openxmlformats.org/presentationml/2006/main">
  <p:cSld>
    <p:bg>
      <p:bgPr>
        <a:solidFill>
          <a:srgbClr val="FFFFFF"/>
        </a:solidFill>
        <a:effectLst/>
      </p:bgPr>
    </p:bg>
    <p:spTree>
      <p:nvGrpSpPr>
        <p:cNvPr id="919" name=""/>
        <p:cNvGrpSpPr/>
        <p:nvPr/>
      </p:nvGrpSpPr>
      <p:grpSpPr>
        <a:xfrm>
          <a:off x="0" y="0"/>
          <a:ext cx="0" cy="0"/>
          <a:chOff x="0" y="0"/>
          <a:chExt cx="0" cy="0"/>
        </a:xfrm>
      </p:grpSpPr>
      <p:sp>
        <p:nvSpPr>
          <p:cNvPr id="920" name="矩形 3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TOPIC WAVES</a:t>
            </a:r>
            <a:endParaRPr sz="1125" b="1">
              <a:solidFill>
                <a:srgbClr val="1769FF"/>
              </a:solidFill>
              <a:latin typeface="Noto Sans CJK SC"/>
              <a:ea typeface="Noto Sans CJK SC"/>
              <a:cs typeface="Noto Sans CJK SC"/>
            </a:endParaRPr>
          </a:p>
        </p:txBody>
      </p:sp>
      <p:sp>
        <p:nvSpPr>
          <p:cNvPr id="921"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8.21 冻结共同底座，8.24 后才进入并行攻坚</a:t>
            </a:r>
            <a:endParaRPr sz="3000" b="1">
              <a:solidFill>
                <a:srgbClr val="111827"/>
              </a:solidFill>
              <a:latin typeface="Noto Sans CJK SC"/>
              <a:ea typeface="Noto Sans CJK SC"/>
              <a:cs typeface="Noto Sans CJK SC"/>
            </a:endParaRPr>
          </a:p>
        </p:txBody>
      </p:sp>
      <p:sp>
        <p:nvSpPr>
          <p:cNvPr id="922"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923"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924"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925"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07</a:t>
            </a:r>
            <a:endParaRPr sz="975" b="1">
              <a:solidFill>
                <a:srgbClr val="667085"/>
              </a:solidFill>
              <a:latin typeface="Noto Sans CJK SC"/>
              <a:ea typeface="Noto Sans CJK SC"/>
              <a:cs typeface="Noto Sans CJK SC"/>
            </a:endParaRPr>
          </a:p>
        </p:txBody>
      </p:sp>
      <p:sp>
        <p:nvSpPr>
          <p:cNvPr id="926" name="圆角矩形 6"/>
          <p:cNvSpPr>
            <a:spLocks noGrp="1"/>
          </p:cNvSpPr>
          <p:nvPr/>
        </p:nvSpPr>
        <p:spPr>
          <a:xfrm>
            <a:off x="457200" y="15240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927" name="矩形 7"/>
          <p:cNvSpPr>
            <a:spLocks noGrp="1"/>
          </p:cNvSpPr>
          <p:nvPr/>
        </p:nvSpPr>
        <p:spPr>
          <a:xfrm>
            <a:off x="590550" y="16097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8.14–8.20</a:t>
            </a:r>
            <a:endParaRPr sz="1500" b="1">
              <a:solidFill>
                <a:srgbClr val="1769FF"/>
              </a:solidFill>
              <a:latin typeface="Noto Sans CJK SC"/>
              <a:ea typeface="Noto Sans CJK SC"/>
              <a:cs typeface="Noto Sans CJK SC"/>
            </a:endParaRPr>
          </a:p>
        </p:txBody>
      </p:sp>
      <p:sp>
        <p:nvSpPr>
          <p:cNvPr id="928" name="矩形 8"/>
          <p:cNvSpPr>
            <a:spLocks noGrp="1"/>
          </p:cNvSpPr>
          <p:nvPr/>
        </p:nvSpPr>
        <p:spPr>
          <a:xfrm>
            <a:off x="3143250" y="16097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已过/8.21 追认：组队、仓库熟悉、数据与算力清单；缺项写入风险。</a:t>
            </a:r>
            <a:endParaRPr sz="1350" b="0">
              <a:solidFill>
                <a:srgbClr val="111827"/>
              </a:solidFill>
              <a:latin typeface="Noto Sans CJK SC"/>
              <a:ea typeface="Noto Sans CJK SC"/>
              <a:cs typeface="Noto Sans CJK SC"/>
            </a:endParaRPr>
          </a:p>
        </p:txBody>
      </p:sp>
      <p:sp>
        <p:nvSpPr>
          <p:cNvPr id="929" name="矩形 9"/>
          <p:cNvSpPr>
            <a:spLocks noGrp="1"/>
          </p:cNvSpPr>
          <p:nvPr/>
        </p:nvSpPr>
        <p:spPr>
          <a:xfrm>
            <a:off x="3143250" y="2143125"/>
            <a:ext cx="8191500" cy="9525"/>
          </a:xfrm>
          <a:prstGeom prst="rect">
            <a:avLst/>
          </a:prstGeom>
          <a:solidFill>
            <a:srgbClr val="D0D5DD"/>
          </a:solidFill>
          <a:ln w="9525">
            <a:solidFill>
              <a:srgbClr val="D0D5DD"/>
            </a:solidFill>
            <a:prstDash val="solid"/>
          </a:ln>
        </p:spPr>
        <p:txBody>
          <a:bodyPr/>
          <a:p/>
        </p:txBody>
      </p:sp>
      <p:sp>
        <p:nvSpPr>
          <p:cNvPr id="930" name="圆角矩形 10"/>
          <p:cNvSpPr>
            <a:spLocks noGrp="1"/>
          </p:cNvSpPr>
          <p:nvPr/>
        </p:nvSpPr>
        <p:spPr>
          <a:xfrm>
            <a:off x="457200" y="22669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931" name="矩形 11"/>
          <p:cNvSpPr>
            <a:spLocks noGrp="1"/>
          </p:cNvSpPr>
          <p:nvPr/>
        </p:nvSpPr>
        <p:spPr>
          <a:xfrm>
            <a:off x="590550" y="23526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8.21–8.24</a:t>
            </a:r>
            <a:endParaRPr sz="1500" b="1">
              <a:solidFill>
                <a:srgbClr val="111827"/>
              </a:solidFill>
              <a:latin typeface="Noto Sans CJK SC"/>
              <a:ea typeface="Noto Sans CJK SC"/>
              <a:cs typeface="Noto Sans CJK SC"/>
            </a:endParaRPr>
          </a:p>
        </p:txBody>
      </p:sp>
      <p:sp>
        <p:nvSpPr>
          <p:cNvPr id="932" name="矩形 12"/>
          <p:cNvSpPr>
            <a:spLocks noGrp="1"/>
          </p:cNvSpPr>
          <p:nvPr/>
        </p:nvSpPr>
        <p:spPr>
          <a:xfrm>
            <a:off x="3143250" y="23526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散会即锁：Owner、主/备选、tag/commit、P0、GPU、数据；完成 24h 冒烟。</a:t>
            </a:r>
            <a:endParaRPr sz="1350" b="0">
              <a:solidFill>
                <a:srgbClr val="111827"/>
              </a:solidFill>
              <a:latin typeface="Noto Sans CJK SC"/>
              <a:ea typeface="Noto Sans CJK SC"/>
              <a:cs typeface="Noto Sans CJK SC"/>
            </a:endParaRPr>
          </a:p>
        </p:txBody>
      </p:sp>
      <p:sp>
        <p:nvSpPr>
          <p:cNvPr id="933" name="矩形 13"/>
          <p:cNvSpPr>
            <a:spLocks noGrp="1"/>
          </p:cNvSpPr>
          <p:nvPr/>
        </p:nvSpPr>
        <p:spPr>
          <a:xfrm>
            <a:off x="3143250" y="2886075"/>
            <a:ext cx="8191500" cy="9525"/>
          </a:xfrm>
          <a:prstGeom prst="rect">
            <a:avLst/>
          </a:prstGeom>
          <a:solidFill>
            <a:srgbClr val="D0D5DD"/>
          </a:solidFill>
          <a:ln w="9525">
            <a:solidFill>
              <a:srgbClr val="D0D5DD"/>
            </a:solidFill>
            <a:prstDash val="solid"/>
          </a:ln>
        </p:spPr>
        <p:txBody>
          <a:bodyPr/>
          <a:p/>
        </p:txBody>
      </p:sp>
      <p:sp>
        <p:nvSpPr>
          <p:cNvPr id="934" name="圆角矩形 14"/>
          <p:cNvSpPr>
            <a:spLocks noGrp="1"/>
          </p:cNvSpPr>
          <p:nvPr/>
        </p:nvSpPr>
        <p:spPr>
          <a:xfrm>
            <a:off x="457200" y="30099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935" name="矩形 15"/>
          <p:cNvSpPr>
            <a:spLocks noGrp="1"/>
          </p:cNvSpPr>
          <p:nvPr/>
        </p:nvSpPr>
        <p:spPr>
          <a:xfrm>
            <a:off x="590550" y="30956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8.25–8.31</a:t>
            </a:r>
            <a:endParaRPr sz="1500" b="1">
              <a:solidFill>
                <a:srgbClr val="1769FF"/>
              </a:solidFill>
              <a:latin typeface="Noto Sans CJK SC"/>
              <a:ea typeface="Noto Sans CJK SC"/>
              <a:cs typeface="Noto Sans CJK SC"/>
            </a:endParaRPr>
          </a:p>
        </p:txBody>
      </p:sp>
      <p:sp>
        <p:nvSpPr>
          <p:cNvPr id="936" name="矩形 16"/>
          <p:cNvSpPr>
            <a:spLocks noGrp="1"/>
          </p:cNvSpPr>
          <p:nvPr/>
        </p:nvSpPr>
        <p:spPr>
          <a:xfrm>
            <a:off x="3143250" y="30956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已开放课题产出首个可比数字；跨组基础设施开始复用。</a:t>
            </a:r>
            <a:endParaRPr sz="1350" b="0">
              <a:solidFill>
                <a:srgbClr val="111827"/>
              </a:solidFill>
              <a:latin typeface="Noto Sans CJK SC"/>
              <a:ea typeface="Noto Sans CJK SC"/>
              <a:cs typeface="Noto Sans CJK SC"/>
            </a:endParaRPr>
          </a:p>
        </p:txBody>
      </p:sp>
      <p:sp>
        <p:nvSpPr>
          <p:cNvPr id="937" name="矩形 17"/>
          <p:cNvSpPr>
            <a:spLocks noGrp="1"/>
          </p:cNvSpPr>
          <p:nvPr/>
        </p:nvSpPr>
        <p:spPr>
          <a:xfrm>
            <a:off x="3143250" y="3629025"/>
            <a:ext cx="8191500" cy="9525"/>
          </a:xfrm>
          <a:prstGeom prst="rect">
            <a:avLst/>
          </a:prstGeom>
          <a:solidFill>
            <a:srgbClr val="D0D5DD"/>
          </a:solidFill>
          <a:ln w="9525">
            <a:solidFill>
              <a:srgbClr val="D0D5DD"/>
            </a:solidFill>
            <a:prstDash val="solid"/>
          </a:ln>
        </p:spPr>
        <p:txBody>
          <a:bodyPr/>
          <a:p/>
        </p:txBody>
      </p:sp>
      <p:sp>
        <p:nvSpPr>
          <p:cNvPr id="938" name="圆角矩形 18"/>
          <p:cNvSpPr>
            <a:spLocks noGrp="1"/>
          </p:cNvSpPr>
          <p:nvPr/>
        </p:nvSpPr>
        <p:spPr>
          <a:xfrm>
            <a:off x="457200" y="37528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939" name="矩形 19"/>
          <p:cNvSpPr>
            <a:spLocks noGrp="1"/>
          </p:cNvSpPr>
          <p:nvPr/>
        </p:nvSpPr>
        <p:spPr>
          <a:xfrm>
            <a:off x="590550" y="38385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9.01–9.07</a:t>
            </a:r>
            <a:endParaRPr sz="1500" b="1">
              <a:solidFill>
                <a:srgbClr val="111827"/>
              </a:solidFill>
              <a:latin typeface="Noto Sans CJK SC"/>
              <a:ea typeface="Noto Sans CJK SC"/>
              <a:cs typeface="Noto Sans CJK SC"/>
            </a:endParaRPr>
          </a:p>
        </p:txBody>
      </p:sp>
      <p:sp>
        <p:nvSpPr>
          <p:cNvPr id="940" name="矩形 20"/>
          <p:cNvSpPr>
            <a:spLocks noGrp="1"/>
          </p:cNvSpPr>
          <p:nvPr/>
        </p:nvSpPr>
        <p:spPr>
          <a:xfrm>
            <a:off x="3143250" y="38385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集中中期演示：端到端分支、路由蒸馏、量化与数据折扣统一评审。</a:t>
            </a:r>
            <a:endParaRPr sz="1350" b="0">
              <a:solidFill>
                <a:srgbClr val="111827"/>
              </a:solidFill>
              <a:latin typeface="Noto Sans CJK SC"/>
              <a:ea typeface="Noto Sans CJK SC"/>
              <a:cs typeface="Noto Sans CJK SC"/>
            </a:endParaRPr>
          </a:p>
        </p:txBody>
      </p:sp>
      <p:sp>
        <p:nvSpPr>
          <p:cNvPr id="941" name="矩形 21"/>
          <p:cNvSpPr>
            <a:spLocks noGrp="1"/>
          </p:cNvSpPr>
          <p:nvPr/>
        </p:nvSpPr>
        <p:spPr>
          <a:xfrm>
            <a:off x="3143250" y="4371975"/>
            <a:ext cx="8191500" cy="9525"/>
          </a:xfrm>
          <a:prstGeom prst="rect">
            <a:avLst/>
          </a:prstGeom>
          <a:solidFill>
            <a:srgbClr val="D0D5DD"/>
          </a:solidFill>
          <a:ln w="9525">
            <a:solidFill>
              <a:srgbClr val="D0D5DD"/>
            </a:solidFill>
            <a:prstDash val="solid"/>
          </a:ln>
        </p:spPr>
        <p:txBody>
          <a:bodyPr/>
          <a:p/>
        </p:txBody>
      </p:sp>
      <p:sp>
        <p:nvSpPr>
          <p:cNvPr id="942" name="圆角矩形 22"/>
          <p:cNvSpPr>
            <a:spLocks noGrp="1"/>
          </p:cNvSpPr>
          <p:nvPr/>
        </p:nvSpPr>
        <p:spPr>
          <a:xfrm>
            <a:off x="457200" y="44958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943" name="矩形 23"/>
          <p:cNvSpPr>
            <a:spLocks noGrp="1"/>
          </p:cNvSpPr>
          <p:nvPr/>
        </p:nvSpPr>
        <p:spPr>
          <a:xfrm>
            <a:off x="590550" y="45815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9.08–9.12</a:t>
            </a:r>
            <a:endParaRPr sz="1500" b="1">
              <a:solidFill>
                <a:srgbClr val="1769FF"/>
              </a:solidFill>
              <a:latin typeface="Noto Sans CJK SC"/>
              <a:ea typeface="Noto Sans CJK SC"/>
              <a:cs typeface="Noto Sans CJK SC"/>
            </a:endParaRPr>
          </a:p>
        </p:txBody>
      </p:sp>
      <p:sp>
        <p:nvSpPr>
          <p:cNvPr id="944" name="矩形 24"/>
          <p:cNvSpPr>
            <a:spLocks noGrp="1"/>
          </p:cNvSpPr>
          <p:nvPr/>
        </p:nvSpPr>
        <p:spPr>
          <a:xfrm>
            <a:off x="3143250" y="45815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研究课题补多 seed 与消融；工程课题补兼容性、脚本和 README；PR 进入冻结。</a:t>
            </a:r>
            <a:endParaRPr sz="1350" b="0">
              <a:solidFill>
                <a:srgbClr val="111827"/>
              </a:solidFill>
              <a:latin typeface="Noto Sans CJK SC"/>
              <a:ea typeface="Noto Sans CJK SC"/>
              <a:cs typeface="Noto Sans CJK SC"/>
            </a:endParaRPr>
          </a:p>
        </p:txBody>
      </p:sp>
      <p:sp>
        <p:nvSpPr>
          <p:cNvPr id="945" name="矩形 25"/>
          <p:cNvSpPr>
            <a:spLocks noGrp="1"/>
          </p:cNvSpPr>
          <p:nvPr/>
        </p:nvSpPr>
        <p:spPr>
          <a:xfrm>
            <a:off x="3143250" y="5114925"/>
            <a:ext cx="8191500" cy="9525"/>
          </a:xfrm>
          <a:prstGeom prst="rect">
            <a:avLst/>
          </a:prstGeom>
          <a:solidFill>
            <a:srgbClr val="D0D5DD"/>
          </a:solidFill>
          <a:ln w="9525">
            <a:solidFill>
              <a:srgbClr val="D0D5DD"/>
            </a:solidFill>
            <a:prstDash val="solid"/>
          </a:ln>
        </p:spPr>
        <p:txBody>
          <a:bodyPr/>
          <a:p/>
        </p:txBody>
      </p:sp>
      <p:sp>
        <p:nvSpPr>
          <p:cNvPr id="946" name="圆角矩形 26"/>
          <p:cNvSpPr>
            <a:spLocks noGrp="1"/>
          </p:cNvSpPr>
          <p:nvPr/>
        </p:nvSpPr>
        <p:spPr>
          <a:xfrm>
            <a:off x="457200" y="52387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947" name="矩形 27"/>
          <p:cNvSpPr>
            <a:spLocks noGrp="1"/>
          </p:cNvSpPr>
          <p:nvPr/>
        </p:nvSpPr>
        <p:spPr>
          <a:xfrm>
            <a:off x="590550" y="53244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9.13–9.14</a:t>
            </a:r>
            <a:endParaRPr sz="1500" b="1">
              <a:solidFill>
                <a:srgbClr val="111827"/>
              </a:solidFill>
              <a:latin typeface="Noto Sans CJK SC"/>
              <a:ea typeface="Noto Sans CJK SC"/>
              <a:cs typeface="Noto Sans CJK SC"/>
            </a:endParaRPr>
          </a:p>
        </p:txBody>
      </p:sp>
      <p:sp>
        <p:nvSpPr>
          <p:cNvPr id="948" name="矩形 28"/>
          <p:cNvSpPr>
            <a:spLocks noGrp="1"/>
          </p:cNvSpPr>
          <p:nvPr/>
        </p:nvSpPr>
        <p:spPr>
          <a:xfrm>
            <a:off x="3143250" y="53244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提交配置、复现命令、报告、Demo 与 PR；统一答辩并按 P0/P1/P2 验收。</a:t>
            </a:r>
            <a:endParaRPr sz="1350" b="0">
              <a:solidFill>
                <a:srgbClr val="111827"/>
              </a:solidFill>
              <a:latin typeface="Noto Sans CJK SC"/>
              <a:ea typeface="Noto Sans CJK SC"/>
              <a:cs typeface="Noto Sans CJK SC"/>
            </a:endParaRPr>
          </a:p>
        </p:txBody>
      </p:sp>
      <p:sp>
        <p:nvSpPr>
          <p:cNvPr id="949" name="矩形 29"/>
          <p:cNvSpPr>
            <a:spLocks noGrp="1"/>
          </p:cNvSpPr>
          <p:nvPr/>
        </p:nvSpPr>
        <p:spPr>
          <a:xfrm>
            <a:off x="457200" y="5981700"/>
            <a:ext cx="10477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667085"/>
                </a:solidFill>
                <a:latin typeface="Noto Sans CJK SC"/>
                <a:ea typeface="Noto Sans CJK SC"/>
                <a:cs typeface="Noto Sans CJK SC"/>
              </a:defRPr>
            </a:pPr>
            <a:r>
              <a:rPr sz="1275" b="1">
                <a:solidFill>
                  <a:srgbClr val="667085"/>
                </a:solidFill>
                <a:latin typeface="Noto Sans CJK SC"/>
                <a:ea typeface="Noto Sans CJK SC"/>
                <a:cs typeface="Noto Sans CJK SC"/>
              </a:rPr>
              <a:t>跨组依赖：E3→B1/D1/A3；E1↔E2；A2→C1；D2→F11；B2→C1；A3↔E1。</a:t>
            </a:r>
            <a:endParaRPr sz="1275" b="1">
              <a:solidFill>
                <a:srgbClr val="667085"/>
              </a:solidFill>
              <a:latin typeface="Noto Sans CJK SC"/>
              <a:ea typeface="Noto Sans CJK SC"/>
              <a:cs typeface="Noto Sans CJK SC"/>
            </a:endParaRPr>
          </a:p>
        </p:txBody>
      </p:sp>
    </p:spTree>
  </p:cSld>
  <p:clrMapOvr>
    <a:masterClrMapping/>
  </p:clrMapOvr>
</p:sld>
</file>

<file path=ppt/slides/slide8.xml><?xml version="1.0" encoding="utf-8"?>
<p:sld xmlns:a="http://schemas.openxmlformats.org/drawingml/2006/main" xmlns:p="http://schemas.openxmlformats.org/presentationml/2006/main">
  <p:cSld>
    <p:bg>
      <p:bgPr>
        <a:solidFill>
          <a:srgbClr val="FFFFFF"/>
        </a:solidFill>
        <a:effectLst/>
      </p:bgPr>
    </p:bg>
    <p:spTree>
      <p:nvGrpSpPr>
        <p:cNvPr id="950" name=""/>
        <p:cNvGrpSpPr/>
        <p:nvPr/>
      </p:nvGrpSpPr>
      <p:grpSpPr>
        <a:xfrm>
          <a:off x="0" y="0"/>
          <a:ext cx="0" cy="0"/>
          <a:chOff x="0" y="0"/>
          <a:chExt cx="0" cy="0"/>
        </a:xfrm>
      </p:grpSpPr>
      <p:sp>
        <p:nvSpPr>
          <p:cNvPr id="951" name="矩形 27"/>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EVIDENCE CONTRACT</a:t>
            </a:r>
            <a:endParaRPr sz="1125" b="1">
              <a:solidFill>
                <a:srgbClr val="1769FF"/>
              </a:solidFill>
              <a:latin typeface="Noto Sans CJK SC"/>
              <a:ea typeface="Noto Sans CJK SC"/>
              <a:cs typeface="Noto Sans CJK SC"/>
            </a:endParaRPr>
          </a:p>
        </p:txBody>
      </p:sp>
      <p:sp>
        <p:nvSpPr>
          <p:cNvPr id="952"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P0 是结项底线，P1 是优秀候选线，P2 是激励提名加分项</a:t>
            </a:r>
            <a:endParaRPr sz="3000" b="1">
              <a:solidFill>
                <a:srgbClr val="111827"/>
              </a:solidFill>
              <a:latin typeface="Noto Sans CJK SC"/>
              <a:ea typeface="Noto Sans CJK SC"/>
              <a:cs typeface="Noto Sans CJK SC"/>
            </a:endParaRPr>
          </a:p>
        </p:txBody>
      </p:sp>
      <p:sp>
        <p:nvSpPr>
          <p:cNvPr id="953"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954"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955"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956"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05</a:t>
            </a:r>
            <a:endParaRPr sz="975" b="1">
              <a:solidFill>
                <a:srgbClr val="667085"/>
              </a:solidFill>
              <a:latin typeface="Noto Sans CJK SC"/>
              <a:ea typeface="Noto Sans CJK SC"/>
              <a:cs typeface="Noto Sans CJK SC"/>
            </a:endParaRPr>
          </a:p>
        </p:txBody>
      </p:sp>
      <p:sp>
        <p:nvSpPr>
          <p:cNvPr id="957" name="圆角矩形 6"/>
          <p:cNvSpPr>
            <a:spLocks noGrp="1"/>
          </p:cNvSpPr>
          <p:nvPr/>
        </p:nvSpPr>
        <p:spPr>
          <a:xfrm>
            <a:off x="457200" y="1657350"/>
            <a:ext cx="3429000" cy="2000250"/>
          </a:xfrm>
          <a:prstGeom prst="roundRect">
            <a:avLst>
              <a:gd name="adj" fmla="val 3810"/>
            </a:avLst>
          </a:prstGeom>
          <a:solidFill>
            <a:srgbClr val="F2F4F7"/>
          </a:solidFill>
          <a:ln w="9525">
            <a:solidFill>
              <a:srgbClr val="111827"/>
            </a:solidFill>
            <a:prstDash val="solid"/>
          </a:ln>
        </p:spPr>
        <p:txBody>
          <a:bodyPr/>
          <a:p/>
        </p:txBody>
      </p:sp>
      <p:sp>
        <p:nvSpPr>
          <p:cNvPr id="958" name="矩形 7"/>
          <p:cNvSpPr>
            <a:spLocks noGrp="1"/>
          </p:cNvSpPr>
          <p:nvPr/>
        </p:nvSpPr>
        <p:spPr>
          <a:xfrm>
            <a:off x="647700" y="1885950"/>
            <a:ext cx="800100" cy="55245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P0</a:t>
            </a:r>
            <a:endParaRPr sz="3150" b="1">
              <a:solidFill>
                <a:srgbClr val="111827"/>
              </a:solidFill>
              <a:latin typeface="Noto Sans CJK SC"/>
              <a:ea typeface="Noto Sans CJK SC"/>
              <a:cs typeface="Noto Sans CJK SC"/>
            </a:endParaRPr>
          </a:p>
        </p:txBody>
      </p:sp>
      <p:sp>
        <p:nvSpPr>
          <p:cNvPr id="959" name="矩形 8"/>
          <p:cNvSpPr>
            <a:spLocks noGrp="1"/>
          </p:cNvSpPr>
          <p:nvPr/>
        </p:nvSpPr>
        <p:spPr>
          <a:xfrm>
            <a:off x="1581150" y="1952625"/>
            <a:ext cx="1524000"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结项底线</a:t>
            </a:r>
            <a:endParaRPr sz="1800" b="1">
              <a:solidFill>
                <a:srgbClr val="111827"/>
              </a:solidFill>
              <a:latin typeface="Noto Sans CJK SC"/>
              <a:ea typeface="Noto Sans CJK SC"/>
              <a:cs typeface="Noto Sans CJK SC"/>
            </a:endParaRPr>
          </a:p>
        </p:txBody>
      </p:sp>
      <p:sp>
        <p:nvSpPr>
          <p:cNvPr id="960" name="矩形 9"/>
          <p:cNvSpPr>
            <a:spLocks noGrp="1"/>
          </p:cNvSpPr>
          <p:nvPr/>
        </p:nvSpPr>
        <p:spPr>
          <a:xfrm>
            <a:off x="647700" y="2714625"/>
            <a:ext cx="2952750" cy="5905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跑通闭环、结果可信、证据可复现</a:t>
            </a:r>
            <a:endParaRPr sz="1500" b="0">
              <a:solidFill>
                <a:srgbClr val="667085"/>
              </a:solidFill>
              <a:latin typeface="Noto Sans CJK SC"/>
              <a:ea typeface="Noto Sans CJK SC"/>
              <a:cs typeface="Noto Sans CJK SC"/>
            </a:endParaRPr>
          </a:p>
        </p:txBody>
      </p:sp>
      <p:sp>
        <p:nvSpPr>
          <p:cNvPr id="961" name="圆角矩形 10"/>
          <p:cNvSpPr>
            <a:spLocks noGrp="1"/>
          </p:cNvSpPr>
          <p:nvPr/>
        </p:nvSpPr>
        <p:spPr>
          <a:xfrm>
            <a:off x="4229100" y="1657350"/>
            <a:ext cx="3429000" cy="2000250"/>
          </a:xfrm>
          <a:prstGeom prst="roundRect">
            <a:avLst>
              <a:gd name="adj" fmla="val 3810"/>
            </a:avLst>
          </a:prstGeom>
          <a:solidFill>
            <a:srgbClr val="EAF2FF"/>
          </a:solidFill>
          <a:ln w="9525">
            <a:solidFill>
              <a:srgbClr val="1769FF"/>
            </a:solidFill>
            <a:prstDash val="solid"/>
          </a:ln>
        </p:spPr>
        <p:txBody>
          <a:bodyPr/>
          <a:p/>
        </p:txBody>
      </p:sp>
      <p:sp>
        <p:nvSpPr>
          <p:cNvPr id="962" name="矩形 11"/>
          <p:cNvSpPr>
            <a:spLocks noGrp="1"/>
          </p:cNvSpPr>
          <p:nvPr/>
        </p:nvSpPr>
        <p:spPr>
          <a:xfrm>
            <a:off x="4419600" y="1885950"/>
            <a:ext cx="800100" cy="55245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769FF"/>
                </a:solidFill>
                <a:latin typeface="Noto Sans CJK SC"/>
                <a:ea typeface="Noto Sans CJK SC"/>
                <a:cs typeface="Noto Sans CJK SC"/>
              </a:defRPr>
            </a:pPr>
            <a:r>
              <a:rPr sz="3150" b="1">
                <a:solidFill>
                  <a:srgbClr val="1769FF"/>
                </a:solidFill>
                <a:latin typeface="Noto Sans CJK SC"/>
                <a:ea typeface="Noto Sans CJK SC"/>
                <a:cs typeface="Noto Sans CJK SC"/>
              </a:rPr>
              <a:t>P1</a:t>
            </a:r>
            <a:endParaRPr sz="3150" b="1">
              <a:solidFill>
                <a:srgbClr val="1769FF"/>
              </a:solidFill>
              <a:latin typeface="Noto Sans CJK SC"/>
              <a:ea typeface="Noto Sans CJK SC"/>
              <a:cs typeface="Noto Sans CJK SC"/>
            </a:endParaRPr>
          </a:p>
        </p:txBody>
      </p:sp>
      <p:sp>
        <p:nvSpPr>
          <p:cNvPr id="963" name="矩形 12"/>
          <p:cNvSpPr>
            <a:spLocks noGrp="1"/>
          </p:cNvSpPr>
          <p:nvPr/>
        </p:nvSpPr>
        <p:spPr>
          <a:xfrm>
            <a:off x="5353050" y="1952625"/>
            <a:ext cx="1524000"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优秀候选</a:t>
            </a:r>
            <a:endParaRPr sz="1800" b="1">
              <a:solidFill>
                <a:srgbClr val="111827"/>
              </a:solidFill>
              <a:latin typeface="Noto Sans CJK SC"/>
              <a:ea typeface="Noto Sans CJK SC"/>
              <a:cs typeface="Noto Sans CJK SC"/>
            </a:endParaRPr>
          </a:p>
        </p:txBody>
      </p:sp>
      <p:sp>
        <p:nvSpPr>
          <p:cNvPr id="964" name="矩形 13"/>
          <p:cNvSpPr>
            <a:spLocks noGrp="1"/>
          </p:cNvSpPr>
          <p:nvPr/>
        </p:nvSpPr>
        <p:spPr>
          <a:xfrm>
            <a:off x="4419600" y="2714625"/>
            <a:ext cx="2952750" cy="5905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机制成立、指标达线、形成可评审贡献</a:t>
            </a:r>
            <a:endParaRPr sz="1500" b="0">
              <a:solidFill>
                <a:srgbClr val="667085"/>
              </a:solidFill>
              <a:latin typeface="Noto Sans CJK SC"/>
              <a:ea typeface="Noto Sans CJK SC"/>
              <a:cs typeface="Noto Sans CJK SC"/>
            </a:endParaRPr>
          </a:p>
        </p:txBody>
      </p:sp>
      <p:sp>
        <p:nvSpPr>
          <p:cNvPr id="965" name="圆角矩形 14"/>
          <p:cNvSpPr>
            <a:spLocks noGrp="1"/>
          </p:cNvSpPr>
          <p:nvPr/>
        </p:nvSpPr>
        <p:spPr>
          <a:xfrm>
            <a:off x="8001000" y="1657350"/>
            <a:ext cx="3429000" cy="2000250"/>
          </a:xfrm>
          <a:prstGeom prst="roundRect">
            <a:avLst>
              <a:gd name="adj" fmla="val 3810"/>
            </a:avLst>
          </a:prstGeom>
          <a:solidFill>
            <a:srgbClr val="FFF1E6"/>
          </a:solidFill>
          <a:ln w="9525">
            <a:solidFill>
              <a:srgbClr val="FF7A00"/>
            </a:solidFill>
            <a:prstDash val="solid"/>
          </a:ln>
        </p:spPr>
        <p:txBody>
          <a:bodyPr/>
          <a:p/>
        </p:txBody>
      </p:sp>
      <p:sp>
        <p:nvSpPr>
          <p:cNvPr id="966" name="矩形 15"/>
          <p:cNvSpPr>
            <a:spLocks noGrp="1"/>
          </p:cNvSpPr>
          <p:nvPr/>
        </p:nvSpPr>
        <p:spPr>
          <a:xfrm>
            <a:off x="8191500" y="1885950"/>
            <a:ext cx="800100" cy="55245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FF7A00"/>
                </a:solidFill>
                <a:latin typeface="Noto Sans CJK SC"/>
                <a:ea typeface="Noto Sans CJK SC"/>
                <a:cs typeface="Noto Sans CJK SC"/>
              </a:defRPr>
            </a:pPr>
            <a:r>
              <a:rPr sz="3150" b="1">
                <a:solidFill>
                  <a:srgbClr val="FF7A00"/>
                </a:solidFill>
                <a:latin typeface="Noto Sans CJK SC"/>
                <a:ea typeface="Noto Sans CJK SC"/>
                <a:cs typeface="Noto Sans CJK SC"/>
              </a:rPr>
              <a:t>P2</a:t>
            </a:r>
            <a:endParaRPr sz="3150" b="1">
              <a:solidFill>
                <a:srgbClr val="FF7A00"/>
              </a:solidFill>
              <a:latin typeface="Noto Sans CJK SC"/>
              <a:ea typeface="Noto Sans CJK SC"/>
              <a:cs typeface="Noto Sans CJK SC"/>
            </a:endParaRPr>
          </a:p>
        </p:txBody>
      </p:sp>
      <p:sp>
        <p:nvSpPr>
          <p:cNvPr id="967" name="矩形 16"/>
          <p:cNvSpPr>
            <a:spLocks noGrp="1"/>
          </p:cNvSpPr>
          <p:nvPr/>
        </p:nvSpPr>
        <p:spPr>
          <a:xfrm>
            <a:off x="9124950" y="1952625"/>
            <a:ext cx="1524000"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提名加分</a:t>
            </a:r>
            <a:endParaRPr sz="1800" b="1">
              <a:solidFill>
                <a:srgbClr val="111827"/>
              </a:solidFill>
              <a:latin typeface="Noto Sans CJK SC"/>
              <a:ea typeface="Noto Sans CJK SC"/>
              <a:cs typeface="Noto Sans CJK SC"/>
            </a:endParaRPr>
          </a:p>
        </p:txBody>
      </p:sp>
      <p:sp>
        <p:nvSpPr>
          <p:cNvPr id="968" name="矩形 17"/>
          <p:cNvSpPr>
            <a:spLocks noGrp="1"/>
          </p:cNvSpPr>
          <p:nvPr/>
        </p:nvSpPr>
        <p:spPr>
          <a:xfrm>
            <a:off x="8191500" y="2714625"/>
            <a:ext cx="2952750" cy="5905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泛化/分析/发布，形成额外影响力</a:t>
            </a:r>
            <a:endParaRPr sz="1500" b="0">
              <a:solidFill>
                <a:srgbClr val="667085"/>
              </a:solidFill>
              <a:latin typeface="Noto Sans CJK SC"/>
              <a:ea typeface="Noto Sans CJK SC"/>
              <a:cs typeface="Noto Sans CJK SC"/>
            </a:endParaRPr>
          </a:p>
        </p:txBody>
      </p:sp>
      <p:sp>
        <p:nvSpPr>
          <p:cNvPr id="969" name="矩形 18"/>
          <p:cNvSpPr>
            <a:spLocks noGrp="1"/>
          </p:cNvSpPr>
          <p:nvPr/>
        </p:nvSpPr>
        <p:spPr>
          <a:xfrm>
            <a:off x="457200" y="4095750"/>
            <a:ext cx="5334000" cy="3238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内部技术分级；最终“通过/优秀”以官方评审为准</a:t>
            </a:r>
            <a:endParaRPr sz="1800" b="1">
              <a:solidFill>
                <a:srgbClr val="111827"/>
              </a:solidFill>
              <a:latin typeface="Noto Sans CJK SC"/>
              <a:ea typeface="Noto Sans CJK SC"/>
              <a:cs typeface="Noto Sans CJK SC"/>
            </a:endParaRPr>
          </a:p>
        </p:txBody>
      </p:sp>
      <p:sp>
        <p:nvSpPr>
          <p:cNvPr id="970" name="矩形 19"/>
          <p:cNvSpPr>
            <a:spLocks noGrp="1"/>
          </p:cNvSpPr>
          <p:nvPr/>
        </p:nvSpPr>
        <p:spPr>
          <a:xfrm>
            <a:off x="457200" y="46482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971" name="矩形 20"/>
          <p:cNvSpPr>
            <a:spLocks noGrp="1"/>
          </p:cNvSpPr>
          <p:nvPr/>
        </p:nvSpPr>
        <p:spPr>
          <a:xfrm>
            <a:off x="857250" y="46672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复现命令 + 配置 + tag/commit</a:t>
            </a:r>
            <a:endParaRPr sz="1425" b="1">
              <a:solidFill>
                <a:srgbClr val="111827"/>
              </a:solidFill>
              <a:latin typeface="Noto Sans CJK SC"/>
              <a:ea typeface="Noto Sans CJK SC"/>
              <a:cs typeface="Noto Sans CJK SC"/>
            </a:endParaRPr>
          </a:p>
        </p:txBody>
      </p:sp>
      <p:sp>
        <p:nvSpPr>
          <p:cNvPr id="972" name="矩形 21"/>
          <p:cNvSpPr>
            <a:spLocks noGrp="1"/>
          </p:cNvSpPr>
          <p:nvPr/>
        </p:nvSpPr>
        <p:spPr>
          <a:xfrm>
            <a:off x="6038850" y="46482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973" name="矩形 22"/>
          <p:cNvSpPr>
            <a:spLocks noGrp="1"/>
          </p:cNvSpPr>
          <p:nvPr/>
        </p:nvSpPr>
        <p:spPr>
          <a:xfrm>
            <a:off x="6438900" y="46672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≥3 seed 或单 seed 局限声明</a:t>
            </a:r>
            <a:endParaRPr sz="1425" b="1">
              <a:solidFill>
                <a:srgbClr val="111827"/>
              </a:solidFill>
              <a:latin typeface="Noto Sans CJK SC"/>
              <a:ea typeface="Noto Sans CJK SC"/>
              <a:cs typeface="Noto Sans CJK SC"/>
            </a:endParaRPr>
          </a:p>
        </p:txBody>
      </p:sp>
      <p:sp>
        <p:nvSpPr>
          <p:cNvPr id="974" name="矩形 23"/>
          <p:cNvSpPr>
            <a:spLocks noGrp="1"/>
          </p:cNvSpPr>
          <p:nvPr/>
        </p:nvSpPr>
        <p:spPr>
          <a:xfrm>
            <a:off x="457200" y="52959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975" name="矩形 24"/>
          <p:cNvSpPr>
            <a:spLocks noGrp="1"/>
          </p:cNvSpPr>
          <p:nvPr/>
        </p:nvSpPr>
        <p:spPr>
          <a:xfrm>
            <a:off x="857250" y="53149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测试/消融/已知局限</a:t>
            </a:r>
            <a:endParaRPr sz="1425" b="1">
              <a:solidFill>
                <a:srgbClr val="111827"/>
              </a:solidFill>
              <a:latin typeface="Noto Sans CJK SC"/>
              <a:ea typeface="Noto Sans CJK SC"/>
              <a:cs typeface="Noto Sans CJK SC"/>
            </a:endParaRPr>
          </a:p>
        </p:txBody>
      </p:sp>
      <p:sp>
        <p:nvSpPr>
          <p:cNvPr id="976" name="矩形 25"/>
          <p:cNvSpPr>
            <a:spLocks noGrp="1"/>
          </p:cNvSpPr>
          <p:nvPr/>
        </p:nvSpPr>
        <p:spPr>
          <a:xfrm>
            <a:off x="6038850" y="52959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977" name="矩形 26"/>
          <p:cNvSpPr>
            <a:spLocks noGrp="1"/>
          </p:cNvSpPr>
          <p:nvPr/>
        </p:nvSpPr>
        <p:spPr>
          <a:xfrm>
            <a:off x="6438900" y="53149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可评审的 PR 或正式 issue</a:t>
            </a:r>
            <a:endParaRPr sz="1425" b="1">
              <a:solidFill>
                <a:srgbClr val="111827"/>
              </a:solidFill>
              <a:latin typeface="Noto Sans CJK SC"/>
              <a:ea typeface="Noto Sans CJK SC"/>
              <a:cs typeface="Noto Sans CJK SC"/>
            </a:endParaRPr>
          </a:p>
        </p:txBody>
      </p:sp>
    </p:spTree>
  </p:cSld>
  <p:clrMapOvr>
    <a:masterClrMapping/>
  </p:clrMapOvr>
</p:sld>
</file>

<file path=ppt/slides/slide9.xml><?xml version="1.0" encoding="utf-8"?>
<p:sld xmlns:a="http://schemas.openxmlformats.org/drawingml/2006/main" xmlns:p="http://schemas.openxmlformats.org/presentationml/2006/main">
  <p:cSld>
    <p:bg>
      <p:bgPr>
        <a:solidFill>
          <a:srgbClr val="FFFFFF"/>
        </a:solidFill>
        <a:effectLst/>
      </p:bgPr>
    </p:bg>
    <p:spTree>
      <p:nvGrpSpPr>
        <p:cNvPr id="978" name=""/>
        <p:cNvGrpSpPr/>
        <p:nvPr/>
      </p:nvGrpSpPr>
      <p:grpSpPr>
        <a:xfrm>
          <a:off x="0" y="0"/>
          <a:ext cx="0" cy="0"/>
          <a:chOff x="0" y="0"/>
          <a:chExt cx="0" cy="0"/>
        </a:xfrm>
      </p:grpSpPr>
      <p:sp>
        <p:nvSpPr>
          <p:cNvPr id="979" name="矩形 33"/>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PRACTICE CALENDAR</a:t>
            </a:r>
            <a:endParaRPr sz="1125" b="1">
              <a:solidFill>
                <a:srgbClr val="1769FF"/>
              </a:solidFill>
              <a:latin typeface="Noto Sans CJK SC"/>
              <a:ea typeface="Noto Sans CJK SC"/>
              <a:cs typeface="Noto Sans CJK SC"/>
            </a:endParaRPr>
          </a:p>
        </p:txBody>
      </p:sp>
      <p:sp>
        <p:nvSpPr>
          <p:cNvPr id="980"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8.21 起进入 W2：补齐开题冻结，剩余 24 天交付证据链</a:t>
            </a:r>
            <a:endParaRPr sz="3000" b="1">
              <a:solidFill>
                <a:srgbClr val="111827"/>
              </a:solidFill>
              <a:latin typeface="Noto Sans CJK SC"/>
              <a:ea typeface="Noto Sans CJK SC"/>
              <a:cs typeface="Noto Sans CJK SC"/>
            </a:endParaRPr>
          </a:p>
        </p:txBody>
      </p:sp>
      <p:sp>
        <p:nvSpPr>
          <p:cNvPr id="981" name="矩形 2"/>
          <p:cNvSpPr>
            <a:spLocks noGrp="1"/>
          </p:cNvSpPr>
          <p:nvPr/>
        </p:nvSpPr>
        <p:spPr>
          <a:xfrm>
            <a:off x="457200" y="1200150"/>
            <a:ext cx="10953750" cy="3048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667085"/>
                </a:solidFill>
                <a:latin typeface="Noto Sans CJK SC"/>
                <a:ea typeface="Noto Sans CJK SC"/>
                <a:cs typeface="Noto Sans CJK SC"/>
              </a:defRPr>
            </a:pPr>
            <a:r>
              <a:rPr sz="1350" b="0">
                <a:solidFill>
                  <a:srgbClr val="667085"/>
                </a:solidFill>
                <a:latin typeface="Noto Sans CJK SC"/>
                <a:ea typeface="Noto Sans CJK SC"/>
                <a:cs typeface="Noto Sans CJK SC"/>
              </a:rPr>
              <a:t>W1 已过，不追责但必须追认；8.24 前完成环境与最小冒烟。</a:t>
            </a:r>
            <a:endParaRPr sz="1350" b="0">
              <a:solidFill>
                <a:srgbClr val="667085"/>
              </a:solidFill>
              <a:latin typeface="Noto Sans CJK SC"/>
              <a:ea typeface="Noto Sans CJK SC"/>
              <a:cs typeface="Noto Sans CJK SC"/>
            </a:endParaRPr>
          </a:p>
        </p:txBody>
      </p:sp>
      <p:sp>
        <p:nvSpPr>
          <p:cNvPr id="982" name="矩形 3"/>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983" name="矩形 4"/>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984" name="矩形 5"/>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985" name="矩形 6"/>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06</a:t>
            </a:r>
            <a:endParaRPr sz="975" b="1">
              <a:solidFill>
                <a:srgbClr val="667085"/>
              </a:solidFill>
              <a:latin typeface="Noto Sans CJK SC"/>
              <a:ea typeface="Noto Sans CJK SC"/>
              <a:cs typeface="Noto Sans CJK SC"/>
            </a:endParaRPr>
          </a:p>
        </p:txBody>
      </p:sp>
      <p:sp>
        <p:nvSpPr>
          <p:cNvPr id="986" name="矩形 7"/>
          <p:cNvSpPr>
            <a:spLocks noGrp="1"/>
          </p:cNvSpPr>
          <p:nvPr/>
        </p:nvSpPr>
        <p:spPr>
          <a:xfrm>
            <a:off x="781050" y="3429000"/>
            <a:ext cx="10572750" cy="19050"/>
          </a:xfrm>
          <a:prstGeom prst="rect">
            <a:avLst/>
          </a:prstGeom>
          <a:solidFill>
            <a:srgbClr val="111827"/>
          </a:solidFill>
          <a:ln w="9525">
            <a:solidFill>
              <a:srgbClr val="111827"/>
            </a:solidFill>
            <a:prstDash val="solid"/>
          </a:ln>
        </p:spPr>
        <p:txBody>
          <a:bodyPr/>
          <a:p/>
        </p:txBody>
      </p:sp>
      <p:sp>
        <p:nvSpPr>
          <p:cNvPr id="987" name="圆角矩形 8"/>
          <p:cNvSpPr>
            <a:spLocks noGrp="1"/>
          </p:cNvSpPr>
          <p:nvPr/>
        </p:nvSpPr>
        <p:spPr>
          <a:xfrm>
            <a:off x="762000" y="3333750"/>
            <a:ext cx="171450" cy="171450"/>
          </a:xfrm>
          <a:prstGeom prst="roundRect">
            <a:avLst>
              <a:gd name="adj" fmla="val 50000"/>
            </a:avLst>
          </a:prstGeom>
          <a:solidFill>
            <a:srgbClr val="1769FF"/>
          </a:solidFill>
          <a:ln w="9525">
            <a:solidFill>
              <a:srgbClr val="1769FF"/>
            </a:solidFill>
            <a:prstDash val="solid"/>
          </a:ln>
        </p:spPr>
        <p:txBody>
          <a:bodyPr/>
          <a:p/>
        </p:txBody>
      </p:sp>
      <p:sp>
        <p:nvSpPr>
          <p:cNvPr id="988" name="矩形 9"/>
          <p:cNvSpPr>
            <a:spLocks noGrp="1"/>
          </p:cNvSpPr>
          <p:nvPr/>
        </p:nvSpPr>
        <p:spPr>
          <a:xfrm>
            <a:off x="495300" y="1762125"/>
            <a:ext cx="1143000" cy="3429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769FF"/>
                </a:solidFill>
                <a:latin typeface="Noto Sans CJK SC"/>
                <a:ea typeface="Noto Sans CJK SC"/>
                <a:cs typeface="Noto Sans CJK SC"/>
              </a:defRPr>
            </a:pPr>
            <a:r>
              <a:rPr sz="1800" b="1">
                <a:solidFill>
                  <a:srgbClr val="1769FF"/>
                </a:solidFill>
                <a:latin typeface="Noto Sans CJK SC"/>
                <a:ea typeface="Noto Sans CJK SC"/>
                <a:cs typeface="Noto Sans CJK SC"/>
              </a:rPr>
              <a:t>W1</a:t>
            </a:r>
            <a:endParaRPr sz="1800" b="1">
              <a:solidFill>
                <a:srgbClr val="1769FF"/>
              </a:solidFill>
              <a:latin typeface="Noto Sans CJK SC"/>
              <a:ea typeface="Noto Sans CJK SC"/>
              <a:cs typeface="Noto Sans CJK SC"/>
            </a:endParaRPr>
          </a:p>
        </p:txBody>
      </p:sp>
      <p:sp>
        <p:nvSpPr>
          <p:cNvPr id="989" name="矩形 10"/>
          <p:cNvSpPr>
            <a:spLocks noGrp="1"/>
          </p:cNvSpPr>
          <p:nvPr/>
        </p:nvSpPr>
        <p:spPr>
          <a:xfrm>
            <a:off x="495300" y="2238375"/>
            <a:ext cx="1571625" cy="419100"/>
          </a:xfrm>
          <a:prstGeom prst="rect">
            <a:avLst/>
          </a:prstGeom>
          <a:noFill/>
          <a:ln w="0">
            <a:noFill/>
            <a:prstDash val="solid"/>
          </a:ln>
        </p:spPr>
        <p:txBody>
          <a:bodyPr wrap="square" lIns="0" tIns="0" rIns="0" bIns="0" anchor="t">
            <a:normAutofit/>
          </a:bodyPr>
          <a:lstStyle/>
          <a:p>
            <a:pPr algn="l">
              <a:lnSpc>
                <a:spcPct val="108000"/>
              </a:lnSpc>
              <a:buNone/>
              <a:defRPr sz="1575" b="1">
                <a:solidFill>
                  <a:srgbClr val="111827"/>
                </a:solidFill>
                <a:latin typeface="Noto Sans CJK SC"/>
                <a:ea typeface="Noto Sans CJK SC"/>
                <a:cs typeface="Noto Sans CJK SC"/>
              </a:defRPr>
            </a:pPr>
            <a:r>
              <a:rPr sz="1575" b="1">
                <a:solidFill>
                  <a:srgbClr val="111827"/>
                </a:solidFill>
                <a:latin typeface="Noto Sans CJK SC"/>
                <a:ea typeface="Noto Sans CJK SC"/>
                <a:cs typeface="Noto Sans CJK SC"/>
              </a:rPr>
              <a:t>8.14–8.20</a:t>
            </a:r>
            <a:endParaRPr sz="1575" b="1">
              <a:solidFill>
                <a:srgbClr val="111827"/>
              </a:solidFill>
              <a:latin typeface="Noto Sans CJK SC"/>
              <a:ea typeface="Noto Sans CJK SC"/>
              <a:cs typeface="Noto Sans CJK SC"/>
            </a:endParaRPr>
          </a:p>
        </p:txBody>
      </p:sp>
      <p:sp>
        <p:nvSpPr>
          <p:cNvPr id="990" name="矩形 11"/>
          <p:cNvSpPr>
            <a:spLocks noGrp="1"/>
          </p:cNvSpPr>
          <p:nvPr/>
        </p:nvSpPr>
        <p:spPr>
          <a:xfrm>
            <a:off x="495300" y="3762375"/>
            <a:ext cx="1619250" cy="10477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资料 / 组队 / 仓库熟悉（8.21 追认）</a:t>
            </a:r>
            <a:endParaRPr sz="1200" b="0">
              <a:solidFill>
                <a:srgbClr val="667085"/>
              </a:solidFill>
              <a:latin typeface="Noto Sans CJK SC"/>
              <a:ea typeface="Noto Sans CJK SC"/>
              <a:cs typeface="Noto Sans CJK SC"/>
            </a:endParaRPr>
          </a:p>
        </p:txBody>
      </p:sp>
      <p:sp>
        <p:nvSpPr>
          <p:cNvPr id="991" name="圆角矩形 12"/>
          <p:cNvSpPr>
            <a:spLocks noGrp="1"/>
          </p:cNvSpPr>
          <p:nvPr/>
        </p:nvSpPr>
        <p:spPr>
          <a:xfrm>
            <a:off x="2647950" y="3333750"/>
            <a:ext cx="171450" cy="171450"/>
          </a:xfrm>
          <a:prstGeom prst="roundRect">
            <a:avLst>
              <a:gd name="adj" fmla="val 50000"/>
            </a:avLst>
          </a:prstGeom>
          <a:solidFill>
            <a:srgbClr val="1769FF"/>
          </a:solidFill>
          <a:ln w="9525">
            <a:solidFill>
              <a:srgbClr val="1769FF"/>
            </a:solidFill>
            <a:prstDash val="solid"/>
          </a:ln>
        </p:spPr>
        <p:txBody>
          <a:bodyPr/>
          <a:p/>
        </p:txBody>
      </p:sp>
      <p:sp>
        <p:nvSpPr>
          <p:cNvPr id="992" name="矩形 13"/>
          <p:cNvSpPr>
            <a:spLocks noGrp="1"/>
          </p:cNvSpPr>
          <p:nvPr/>
        </p:nvSpPr>
        <p:spPr>
          <a:xfrm>
            <a:off x="2381250" y="1762125"/>
            <a:ext cx="1143000" cy="3429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769FF"/>
                </a:solidFill>
                <a:latin typeface="Noto Sans CJK SC"/>
                <a:ea typeface="Noto Sans CJK SC"/>
                <a:cs typeface="Noto Sans CJK SC"/>
              </a:defRPr>
            </a:pPr>
            <a:r>
              <a:rPr sz="1800" b="1">
                <a:solidFill>
                  <a:srgbClr val="1769FF"/>
                </a:solidFill>
                <a:latin typeface="Noto Sans CJK SC"/>
                <a:ea typeface="Noto Sans CJK SC"/>
                <a:cs typeface="Noto Sans CJK SC"/>
              </a:rPr>
              <a:t>W2</a:t>
            </a:r>
            <a:endParaRPr sz="1800" b="1">
              <a:solidFill>
                <a:srgbClr val="1769FF"/>
              </a:solidFill>
              <a:latin typeface="Noto Sans CJK SC"/>
              <a:ea typeface="Noto Sans CJK SC"/>
              <a:cs typeface="Noto Sans CJK SC"/>
            </a:endParaRPr>
          </a:p>
        </p:txBody>
      </p:sp>
      <p:sp>
        <p:nvSpPr>
          <p:cNvPr id="993" name="矩形 14"/>
          <p:cNvSpPr>
            <a:spLocks noGrp="1"/>
          </p:cNvSpPr>
          <p:nvPr/>
        </p:nvSpPr>
        <p:spPr>
          <a:xfrm>
            <a:off x="2381250" y="2238375"/>
            <a:ext cx="1571625" cy="419100"/>
          </a:xfrm>
          <a:prstGeom prst="rect">
            <a:avLst/>
          </a:prstGeom>
          <a:noFill/>
          <a:ln w="0">
            <a:noFill/>
            <a:prstDash val="solid"/>
          </a:ln>
        </p:spPr>
        <p:txBody>
          <a:bodyPr wrap="square" lIns="0" tIns="0" rIns="0" bIns="0" anchor="t">
            <a:normAutofit/>
          </a:bodyPr>
          <a:lstStyle/>
          <a:p>
            <a:pPr algn="l">
              <a:lnSpc>
                <a:spcPct val="108000"/>
              </a:lnSpc>
              <a:buNone/>
              <a:defRPr sz="1575" b="1">
                <a:solidFill>
                  <a:srgbClr val="111827"/>
                </a:solidFill>
                <a:latin typeface="Noto Sans CJK SC"/>
                <a:ea typeface="Noto Sans CJK SC"/>
                <a:cs typeface="Noto Sans CJK SC"/>
              </a:defRPr>
            </a:pPr>
            <a:r>
              <a:rPr sz="1575" b="1">
                <a:solidFill>
                  <a:srgbClr val="111827"/>
                </a:solidFill>
                <a:latin typeface="Noto Sans CJK SC"/>
                <a:ea typeface="Noto Sans CJK SC"/>
                <a:cs typeface="Noto Sans CJK SC"/>
              </a:rPr>
              <a:t>8.21–8.24</a:t>
            </a:r>
            <a:endParaRPr sz="1575" b="1">
              <a:solidFill>
                <a:srgbClr val="111827"/>
              </a:solidFill>
              <a:latin typeface="Noto Sans CJK SC"/>
              <a:ea typeface="Noto Sans CJK SC"/>
              <a:cs typeface="Noto Sans CJK SC"/>
            </a:endParaRPr>
          </a:p>
        </p:txBody>
      </p:sp>
      <p:sp>
        <p:nvSpPr>
          <p:cNvPr id="994" name="矩形 15"/>
          <p:cNvSpPr>
            <a:spLocks noGrp="1"/>
          </p:cNvSpPr>
          <p:nvPr/>
        </p:nvSpPr>
        <p:spPr>
          <a:xfrm>
            <a:off x="2381250" y="3762375"/>
            <a:ext cx="1619250" cy="10477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冻结题目 / commit / GPU / 数据；24h 冒烟</a:t>
            </a:r>
            <a:endParaRPr sz="1200" b="0">
              <a:solidFill>
                <a:srgbClr val="667085"/>
              </a:solidFill>
              <a:latin typeface="Noto Sans CJK SC"/>
              <a:ea typeface="Noto Sans CJK SC"/>
              <a:cs typeface="Noto Sans CJK SC"/>
            </a:endParaRPr>
          </a:p>
        </p:txBody>
      </p:sp>
      <p:sp>
        <p:nvSpPr>
          <p:cNvPr id="995" name="圆角矩形 16"/>
          <p:cNvSpPr>
            <a:spLocks noGrp="1"/>
          </p:cNvSpPr>
          <p:nvPr/>
        </p:nvSpPr>
        <p:spPr>
          <a:xfrm>
            <a:off x="4533900" y="3333750"/>
            <a:ext cx="171450" cy="171450"/>
          </a:xfrm>
          <a:prstGeom prst="roundRect">
            <a:avLst>
              <a:gd name="adj" fmla="val 50000"/>
            </a:avLst>
          </a:prstGeom>
          <a:solidFill>
            <a:srgbClr val="1769FF"/>
          </a:solidFill>
          <a:ln w="9525">
            <a:solidFill>
              <a:srgbClr val="1769FF"/>
            </a:solidFill>
            <a:prstDash val="solid"/>
          </a:ln>
        </p:spPr>
        <p:txBody>
          <a:bodyPr/>
          <a:p/>
        </p:txBody>
      </p:sp>
      <p:sp>
        <p:nvSpPr>
          <p:cNvPr id="996" name="矩形 17"/>
          <p:cNvSpPr>
            <a:spLocks noGrp="1"/>
          </p:cNvSpPr>
          <p:nvPr/>
        </p:nvSpPr>
        <p:spPr>
          <a:xfrm>
            <a:off x="4267200" y="1762125"/>
            <a:ext cx="1143000" cy="3429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769FF"/>
                </a:solidFill>
                <a:latin typeface="Noto Sans CJK SC"/>
                <a:ea typeface="Noto Sans CJK SC"/>
                <a:cs typeface="Noto Sans CJK SC"/>
              </a:defRPr>
            </a:pPr>
            <a:r>
              <a:rPr sz="1800" b="1">
                <a:solidFill>
                  <a:srgbClr val="1769FF"/>
                </a:solidFill>
                <a:latin typeface="Noto Sans CJK SC"/>
                <a:ea typeface="Noto Sans CJK SC"/>
                <a:cs typeface="Noto Sans CJK SC"/>
              </a:rPr>
              <a:t>W3</a:t>
            </a:r>
            <a:endParaRPr sz="1800" b="1">
              <a:solidFill>
                <a:srgbClr val="1769FF"/>
              </a:solidFill>
              <a:latin typeface="Noto Sans CJK SC"/>
              <a:ea typeface="Noto Sans CJK SC"/>
              <a:cs typeface="Noto Sans CJK SC"/>
            </a:endParaRPr>
          </a:p>
        </p:txBody>
      </p:sp>
      <p:sp>
        <p:nvSpPr>
          <p:cNvPr id="997" name="矩形 18"/>
          <p:cNvSpPr>
            <a:spLocks noGrp="1"/>
          </p:cNvSpPr>
          <p:nvPr/>
        </p:nvSpPr>
        <p:spPr>
          <a:xfrm>
            <a:off x="4267200" y="2238375"/>
            <a:ext cx="1571625" cy="419100"/>
          </a:xfrm>
          <a:prstGeom prst="rect">
            <a:avLst/>
          </a:prstGeom>
          <a:noFill/>
          <a:ln w="0">
            <a:noFill/>
            <a:prstDash val="solid"/>
          </a:ln>
        </p:spPr>
        <p:txBody>
          <a:bodyPr wrap="square" lIns="0" tIns="0" rIns="0" bIns="0" anchor="t">
            <a:normAutofit/>
          </a:bodyPr>
          <a:lstStyle/>
          <a:p>
            <a:pPr algn="l">
              <a:lnSpc>
                <a:spcPct val="108000"/>
              </a:lnSpc>
              <a:buNone/>
              <a:defRPr sz="1575" b="1">
                <a:solidFill>
                  <a:srgbClr val="111827"/>
                </a:solidFill>
                <a:latin typeface="Noto Sans CJK SC"/>
                <a:ea typeface="Noto Sans CJK SC"/>
                <a:cs typeface="Noto Sans CJK SC"/>
              </a:defRPr>
            </a:pPr>
            <a:r>
              <a:rPr sz="1575" b="1">
                <a:solidFill>
                  <a:srgbClr val="111827"/>
                </a:solidFill>
                <a:latin typeface="Noto Sans CJK SC"/>
                <a:ea typeface="Noto Sans CJK SC"/>
                <a:cs typeface="Noto Sans CJK SC"/>
              </a:rPr>
              <a:t>8.25–8.31</a:t>
            </a:r>
            <a:endParaRPr sz="1575" b="1">
              <a:solidFill>
                <a:srgbClr val="111827"/>
              </a:solidFill>
              <a:latin typeface="Noto Sans CJK SC"/>
              <a:ea typeface="Noto Sans CJK SC"/>
              <a:cs typeface="Noto Sans CJK SC"/>
            </a:endParaRPr>
          </a:p>
        </p:txBody>
      </p:sp>
      <p:sp>
        <p:nvSpPr>
          <p:cNvPr id="998" name="矩形 19"/>
          <p:cNvSpPr>
            <a:spLocks noGrp="1"/>
          </p:cNvSpPr>
          <p:nvPr/>
        </p:nvSpPr>
        <p:spPr>
          <a:xfrm>
            <a:off x="4267200" y="3762375"/>
            <a:ext cx="1619250" cy="10477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首轮全量 / 双周详报 / 首个可比数字</a:t>
            </a:r>
            <a:endParaRPr sz="1200" b="0">
              <a:solidFill>
                <a:srgbClr val="667085"/>
              </a:solidFill>
              <a:latin typeface="Noto Sans CJK SC"/>
              <a:ea typeface="Noto Sans CJK SC"/>
              <a:cs typeface="Noto Sans CJK SC"/>
            </a:endParaRPr>
          </a:p>
        </p:txBody>
      </p:sp>
      <p:sp>
        <p:nvSpPr>
          <p:cNvPr id="999" name="圆角矩形 20"/>
          <p:cNvSpPr>
            <a:spLocks noGrp="1"/>
          </p:cNvSpPr>
          <p:nvPr/>
        </p:nvSpPr>
        <p:spPr>
          <a:xfrm>
            <a:off x="6419850" y="3333750"/>
            <a:ext cx="171450" cy="171450"/>
          </a:xfrm>
          <a:prstGeom prst="roundRect">
            <a:avLst>
              <a:gd name="adj" fmla="val 50000"/>
            </a:avLst>
          </a:prstGeom>
          <a:solidFill>
            <a:srgbClr val="1769FF"/>
          </a:solidFill>
          <a:ln w="9525">
            <a:solidFill>
              <a:srgbClr val="1769FF"/>
            </a:solidFill>
            <a:prstDash val="solid"/>
          </a:ln>
        </p:spPr>
        <p:txBody>
          <a:bodyPr/>
          <a:p/>
        </p:txBody>
      </p:sp>
      <p:sp>
        <p:nvSpPr>
          <p:cNvPr id="1000" name="矩形 21"/>
          <p:cNvSpPr>
            <a:spLocks noGrp="1"/>
          </p:cNvSpPr>
          <p:nvPr/>
        </p:nvSpPr>
        <p:spPr>
          <a:xfrm>
            <a:off x="6153150" y="1762125"/>
            <a:ext cx="1143000" cy="3429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769FF"/>
                </a:solidFill>
                <a:latin typeface="Noto Sans CJK SC"/>
                <a:ea typeface="Noto Sans CJK SC"/>
                <a:cs typeface="Noto Sans CJK SC"/>
              </a:defRPr>
            </a:pPr>
            <a:r>
              <a:rPr sz="1800" b="1">
                <a:solidFill>
                  <a:srgbClr val="1769FF"/>
                </a:solidFill>
                <a:latin typeface="Noto Sans CJK SC"/>
                <a:ea typeface="Noto Sans CJK SC"/>
                <a:cs typeface="Noto Sans CJK SC"/>
              </a:rPr>
              <a:t>W4</a:t>
            </a:r>
            <a:endParaRPr sz="1800" b="1">
              <a:solidFill>
                <a:srgbClr val="1769FF"/>
              </a:solidFill>
              <a:latin typeface="Noto Sans CJK SC"/>
              <a:ea typeface="Noto Sans CJK SC"/>
              <a:cs typeface="Noto Sans CJK SC"/>
            </a:endParaRPr>
          </a:p>
        </p:txBody>
      </p:sp>
      <p:sp>
        <p:nvSpPr>
          <p:cNvPr id="1001" name="矩形 22"/>
          <p:cNvSpPr>
            <a:spLocks noGrp="1"/>
          </p:cNvSpPr>
          <p:nvPr/>
        </p:nvSpPr>
        <p:spPr>
          <a:xfrm>
            <a:off x="6153150" y="2238375"/>
            <a:ext cx="1571625" cy="419100"/>
          </a:xfrm>
          <a:prstGeom prst="rect">
            <a:avLst/>
          </a:prstGeom>
          <a:noFill/>
          <a:ln w="0">
            <a:noFill/>
            <a:prstDash val="solid"/>
          </a:ln>
        </p:spPr>
        <p:txBody>
          <a:bodyPr wrap="square" lIns="0" tIns="0" rIns="0" bIns="0" anchor="t">
            <a:normAutofit/>
          </a:bodyPr>
          <a:lstStyle/>
          <a:p>
            <a:pPr algn="l">
              <a:lnSpc>
                <a:spcPct val="108000"/>
              </a:lnSpc>
              <a:buNone/>
              <a:defRPr sz="1575" b="1">
                <a:solidFill>
                  <a:srgbClr val="111827"/>
                </a:solidFill>
                <a:latin typeface="Noto Sans CJK SC"/>
                <a:ea typeface="Noto Sans CJK SC"/>
                <a:cs typeface="Noto Sans CJK SC"/>
              </a:defRPr>
            </a:pPr>
            <a:r>
              <a:rPr sz="1575" b="1">
                <a:solidFill>
                  <a:srgbClr val="111827"/>
                </a:solidFill>
                <a:latin typeface="Noto Sans CJK SC"/>
                <a:ea typeface="Noto Sans CJK SC"/>
                <a:cs typeface="Noto Sans CJK SC"/>
              </a:rPr>
              <a:t>9.01–9.07</a:t>
            </a:r>
            <a:endParaRPr sz="1575" b="1">
              <a:solidFill>
                <a:srgbClr val="111827"/>
              </a:solidFill>
              <a:latin typeface="Noto Sans CJK SC"/>
              <a:ea typeface="Noto Sans CJK SC"/>
              <a:cs typeface="Noto Sans CJK SC"/>
            </a:endParaRPr>
          </a:p>
        </p:txBody>
      </p:sp>
      <p:sp>
        <p:nvSpPr>
          <p:cNvPr id="1002" name="矩形 23"/>
          <p:cNvSpPr>
            <a:spLocks noGrp="1"/>
          </p:cNvSpPr>
          <p:nvPr/>
        </p:nvSpPr>
        <p:spPr>
          <a:xfrm>
            <a:off x="6153150" y="3762375"/>
            <a:ext cx="1619250" cy="10477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中期演示 / 机制分析 / 消融设计</a:t>
            </a:r>
            <a:endParaRPr sz="1200" b="0">
              <a:solidFill>
                <a:srgbClr val="667085"/>
              </a:solidFill>
              <a:latin typeface="Noto Sans CJK SC"/>
              <a:ea typeface="Noto Sans CJK SC"/>
              <a:cs typeface="Noto Sans CJK SC"/>
            </a:endParaRPr>
          </a:p>
        </p:txBody>
      </p:sp>
      <p:sp>
        <p:nvSpPr>
          <p:cNvPr id="1003" name="圆角矩形 24"/>
          <p:cNvSpPr>
            <a:spLocks noGrp="1"/>
          </p:cNvSpPr>
          <p:nvPr/>
        </p:nvSpPr>
        <p:spPr>
          <a:xfrm>
            <a:off x="8305800" y="3333750"/>
            <a:ext cx="171450" cy="171450"/>
          </a:xfrm>
          <a:prstGeom prst="roundRect">
            <a:avLst>
              <a:gd name="adj" fmla="val 50000"/>
            </a:avLst>
          </a:prstGeom>
          <a:solidFill>
            <a:srgbClr val="1769FF"/>
          </a:solidFill>
          <a:ln w="9525">
            <a:solidFill>
              <a:srgbClr val="1769FF"/>
            </a:solidFill>
            <a:prstDash val="solid"/>
          </a:ln>
        </p:spPr>
        <p:txBody>
          <a:bodyPr/>
          <a:p/>
        </p:txBody>
      </p:sp>
      <p:sp>
        <p:nvSpPr>
          <p:cNvPr id="1004" name="矩形 25"/>
          <p:cNvSpPr>
            <a:spLocks noGrp="1"/>
          </p:cNvSpPr>
          <p:nvPr/>
        </p:nvSpPr>
        <p:spPr>
          <a:xfrm>
            <a:off x="8039100" y="1762125"/>
            <a:ext cx="1143000" cy="3429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769FF"/>
                </a:solidFill>
                <a:latin typeface="Noto Sans CJK SC"/>
                <a:ea typeface="Noto Sans CJK SC"/>
                <a:cs typeface="Noto Sans CJK SC"/>
              </a:defRPr>
            </a:pPr>
            <a:r>
              <a:rPr sz="1800" b="1">
                <a:solidFill>
                  <a:srgbClr val="1769FF"/>
                </a:solidFill>
                <a:latin typeface="Noto Sans CJK SC"/>
                <a:ea typeface="Noto Sans CJK SC"/>
                <a:cs typeface="Noto Sans CJK SC"/>
              </a:rPr>
              <a:t>W5</a:t>
            </a:r>
            <a:endParaRPr sz="1800" b="1">
              <a:solidFill>
                <a:srgbClr val="1769FF"/>
              </a:solidFill>
              <a:latin typeface="Noto Sans CJK SC"/>
              <a:ea typeface="Noto Sans CJK SC"/>
              <a:cs typeface="Noto Sans CJK SC"/>
            </a:endParaRPr>
          </a:p>
        </p:txBody>
      </p:sp>
      <p:sp>
        <p:nvSpPr>
          <p:cNvPr id="1005" name="矩形 26"/>
          <p:cNvSpPr>
            <a:spLocks noGrp="1"/>
          </p:cNvSpPr>
          <p:nvPr/>
        </p:nvSpPr>
        <p:spPr>
          <a:xfrm>
            <a:off x="8039100" y="2238375"/>
            <a:ext cx="1571625" cy="419100"/>
          </a:xfrm>
          <a:prstGeom prst="rect">
            <a:avLst/>
          </a:prstGeom>
          <a:noFill/>
          <a:ln w="0">
            <a:noFill/>
            <a:prstDash val="solid"/>
          </a:ln>
        </p:spPr>
        <p:txBody>
          <a:bodyPr wrap="square" lIns="0" tIns="0" rIns="0" bIns="0" anchor="t">
            <a:normAutofit/>
          </a:bodyPr>
          <a:lstStyle/>
          <a:p>
            <a:pPr algn="l">
              <a:lnSpc>
                <a:spcPct val="108000"/>
              </a:lnSpc>
              <a:buNone/>
              <a:defRPr sz="1575" b="1">
                <a:solidFill>
                  <a:srgbClr val="111827"/>
                </a:solidFill>
                <a:latin typeface="Noto Sans CJK SC"/>
                <a:ea typeface="Noto Sans CJK SC"/>
                <a:cs typeface="Noto Sans CJK SC"/>
              </a:defRPr>
            </a:pPr>
            <a:r>
              <a:rPr sz="1575" b="1">
                <a:solidFill>
                  <a:srgbClr val="111827"/>
                </a:solidFill>
                <a:latin typeface="Noto Sans CJK SC"/>
                <a:ea typeface="Noto Sans CJK SC"/>
                <a:cs typeface="Noto Sans CJK SC"/>
              </a:rPr>
              <a:t>9.08–9.12</a:t>
            </a:r>
            <a:endParaRPr sz="1575" b="1">
              <a:solidFill>
                <a:srgbClr val="111827"/>
              </a:solidFill>
              <a:latin typeface="Noto Sans CJK SC"/>
              <a:ea typeface="Noto Sans CJK SC"/>
              <a:cs typeface="Noto Sans CJK SC"/>
            </a:endParaRPr>
          </a:p>
        </p:txBody>
      </p:sp>
      <p:sp>
        <p:nvSpPr>
          <p:cNvPr id="1006" name="矩形 27"/>
          <p:cNvSpPr>
            <a:spLocks noGrp="1"/>
          </p:cNvSpPr>
          <p:nvPr/>
        </p:nvSpPr>
        <p:spPr>
          <a:xfrm>
            <a:off x="8039100" y="3762375"/>
            <a:ext cx="1619250" cy="10477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多 seed / 参数扫描 / PR 冻结</a:t>
            </a:r>
            <a:endParaRPr sz="1200" b="0">
              <a:solidFill>
                <a:srgbClr val="667085"/>
              </a:solidFill>
              <a:latin typeface="Noto Sans CJK SC"/>
              <a:ea typeface="Noto Sans CJK SC"/>
              <a:cs typeface="Noto Sans CJK SC"/>
            </a:endParaRPr>
          </a:p>
        </p:txBody>
      </p:sp>
      <p:sp>
        <p:nvSpPr>
          <p:cNvPr id="1007" name="圆角矩形 28"/>
          <p:cNvSpPr>
            <a:spLocks noGrp="1"/>
          </p:cNvSpPr>
          <p:nvPr/>
        </p:nvSpPr>
        <p:spPr>
          <a:xfrm>
            <a:off x="10191750" y="3333750"/>
            <a:ext cx="171450" cy="171450"/>
          </a:xfrm>
          <a:prstGeom prst="roundRect">
            <a:avLst>
              <a:gd name="adj" fmla="val 50000"/>
            </a:avLst>
          </a:prstGeom>
          <a:solidFill>
            <a:srgbClr val="FF7A00"/>
          </a:solidFill>
          <a:ln w="9525">
            <a:solidFill>
              <a:srgbClr val="FF7A00"/>
            </a:solidFill>
            <a:prstDash val="solid"/>
          </a:ln>
        </p:spPr>
        <p:txBody>
          <a:bodyPr/>
          <a:p/>
        </p:txBody>
      </p:sp>
      <p:sp>
        <p:nvSpPr>
          <p:cNvPr id="1008" name="矩形 29"/>
          <p:cNvSpPr>
            <a:spLocks noGrp="1"/>
          </p:cNvSpPr>
          <p:nvPr/>
        </p:nvSpPr>
        <p:spPr>
          <a:xfrm>
            <a:off x="9925050" y="1762125"/>
            <a:ext cx="1143000" cy="34290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FF7A00"/>
                </a:solidFill>
                <a:latin typeface="Noto Sans CJK SC"/>
                <a:ea typeface="Noto Sans CJK SC"/>
                <a:cs typeface="Noto Sans CJK SC"/>
              </a:defRPr>
            </a:pPr>
            <a:r>
              <a:rPr sz="1800" b="1">
                <a:solidFill>
                  <a:srgbClr val="FF7A00"/>
                </a:solidFill>
                <a:latin typeface="Noto Sans CJK SC"/>
                <a:ea typeface="Noto Sans CJK SC"/>
                <a:cs typeface="Noto Sans CJK SC"/>
              </a:rPr>
              <a:t>W6</a:t>
            </a:r>
            <a:endParaRPr sz="1800" b="1">
              <a:solidFill>
                <a:srgbClr val="FF7A00"/>
              </a:solidFill>
              <a:latin typeface="Noto Sans CJK SC"/>
              <a:ea typeface="Noto Sans CJK SC"/>
              <a:cs typeface="Noto Sans CJK SC"/>
            </a:endParaRPr>
          </a:p>
        </p:txBody>
      </p:sp>
      <p:sp>
        <p:nvSpPr>
          <p:cNvPr id="1009" name="矩形 30"/>
          <p:cNvSpPr>
            <a:spLocks noGrp="1"/>
          </p:cNvSpPr>
          <p:nvPr/>
        </p:nvSpPr>
        <p:spPr>
          <a:xfrm>
            <a:off x="9925050" y="2238375"/>
            <a:ext cx="1571625" cy="419100"/>
          </a:xfrm>
          <a:prstGeom prst="rect">
            <a:avLst/>
          </a:prstGeom>
          <a:noFill/>
          <a:ln w="0">
            <a:noFill/>
            <a:prstDash val="solid"/>
          </a:ln>
        </p:spPr>
        <p:txBody>
          <a:bodyPr wrap="square" lIns="0" tIns="0" rIns="0" bIns="0" anchor="t">
            <a:normAutofit/>
          </a:bodyPr>
          <a:lstStyle/>
          <a:p>
            <a:pPr algn="l">
              <a:lnSpc>
                <a:spcPct val="108000"/>
              </a:lnSpc>
              <a:buNone/>
              <a:defRPr sz="1575" b="1">
                <a:solidFill>
                  <a:srgbClr val="111827"/>
                </a:solidFill>
                <a:latin typeface="Noto Sans CJK SC"/>
                <a:ea typeface="Noto Sans CJK SC"/>
                <a:cs typeface="Noto Sans CJK SC"/>
              </a:defRPr>
            </a:pPr>
            <a:r>
              <a:rPr sz="1575" b="1">
                <a:solidFill>
                  <a:srgbClr val="111827"/>
                </a:solidFill>
                <a:latin typeface="Noto Sans CJK SC"/>
                <a:ea typeface="Noto Sans CJK SC"/>
                <a:cs typeface="Noto Sans CJK SC"/>
              </a:rPr>
              <a:t>9.13–9.14</a:t>
            </a:r>
            <a:endParaRPr sz="1575" b="1">
              <a:solidFill>
                <a:srgbClr val="111827"/>
              </a:solidFill>
              <a:latin typeface="Noto Sans CJK SC"/>
              <a:ea typeface="Noto Sans CJK SC"/>
              <a:cs typeface="Noto Sans CJK SC"/>
            </a:endParaRPr>
          </a:p>
        </p:txBody>
      </p:sp>
      <p:sp>
        <p:nvSpPr>
          <p:cNvPr id="1010" name="矩形 31"/>
          <p:cNvSpPr>
            <a:spLocks noGrp="1"/>
          </p:cNvSpPr>
          <p:nvPr/>
        </p:nvSpPr>
        <p:spPr>
          <a:xfrm>
            <a:off x="9925050" y="3762375"/>
            <a:ext cx="1619250" cy="10477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结项报告 / Demo / 答辩与验收</a:t>
            </a:r>
            <a:endParaRPr sz="1200" b="0">
              <a:solidFill>
                <a:srgbClr val="667085"/>
              </a:solidFill>
              <a:latin typeface="Noto Sans CJK SC"/>
              <a:ea typeface="Noto Sans CJK SC"/>
              <a:cs typeface="Noto Sans CJK SC"/>
            </a:endParaRPr>
          </a:p>
        </p:txBody>
      </p:sp>
      <p:sp>
        <p:nvSpPr>
          <p:cNvPr id="1011" name="矩形 32"/>
          <p:cNvSpPr>
            <a:spLocks noGrp="1"/>
          </p:cNvSpPr>
          <p:nvPr/>
        </p:nvSpPr>
        <p:spPr>
          <a:xfrm>
            <a:off x="495300" y="5476875"/>
            <a:ext cx="10858500" cy="41910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关键门禁：8.21 冻结登记；8.24 冒烟；8.31 首轮；9.07 中期；9.12 冻结；9.14 答辩。</a:t>
            </a:r>
            <a:endParaRPr sz="1425" b="1">
              <a:solidFill>
                <a:srgbClr val="111827"/>
              </a:solidFill>
              <a:latin typeface="Noto Sans CJK SC"/>
              <a:ea typeface="Noto Sans CJK SC"/>
              <a:cs typeface="Noto Sans CJK SC"/>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2" name=""/>
        <p:cNvGrpSpPr/>
        <p:nvPr/>
      </p:nvGrpSpPr>
      <p:grpSpPr>
        <a:xfrm>
          <a:off x="0" y="0"/>
          <a:ext cx="0" cy="0"/>
          <a:chOff x="0" y="0"/>
          <a:chExt cx="0" cy="0"/>
        </a:xfrm>
      </p:grpSpPr>
      <p:pic>
        <p:nvPicPr>
          <p:cNvPr id="13" name="图片 14"/>
          <p:cNvPicPr>
            <a:picLocks noChangeAspect="1"/>
          </p:cNvPicPr>
          <p:nvPr/>
        </p:nvPicPr>
        <p:blipFill>
          <a:blip r:embed="rId2"/>
          <a:srcRect t="27" b="27"/>
          <a:stretch>
            <a:fillRect/>
          </a:stretch>
        </p:blipFill>
        <p:spPr>
          <a:xfrm>
            <a:off x="0" y="0"/>
            <a:ext cx="12192000" cy="6858000"/>
          </a:xfrm>
          <a:prstGeom prst="rect">
            <a:avLst/>
          </a:prstGeom>
        </p:spPr>
      </p:pic>
      <p:sp>
        <p:nvSpPr>
          <p:cNvPr id="14"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15" name="矩形 2"/>
          <p:cNvSpPr>
            <a:spLocks noGrp="1"/>
          </p:cNvSpPr>
          <p:nvPr/>
        </p:nvSpPr>
        <p:spPr>
          <a:xfrm>
            <a:off x="495300" y="514350"/>
            <a:ext cx="2095500" cy="3048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THEME A</a:t>
            </a:r>
            <a:endParaRPr sz="1275" b="1">
              <a:solidFill>
                <a:srgbClr val="1769FF"/>
              </a:solidFill>
              <a:latin typeface="Noto Sans CJK SC"/>
              <a:ea typeface="Noto Sans CJK SC"/>
              <a:cs typeface="Noto Sans CJK SC"/>
            </a:endParaRPr>
          </a:p>
        </p:txBody>
      </p:sp>
      <p:sp>
        <p:nvSpPr>
          <p:cNvPr id="16" name="矩形 3"/>
          <p:cNvSpPr>
            <a:spLocks noGrp="1"/>
          </p:cNvSpPr>
          <p:nvPr/>
        </p:nvSpPr>
        <p:spPr>
          <a:xfrm>
            <a:off x="495300" y="1238250"/>
            <a:ext cx="4476750" cy="60960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对标 YOLO26</a:t>
            </a:r>
            <a:endParaRPr sz="3150" b="1">
              <a:solidFill>
                <a:srgbClr val="111827"/>
              </a:solidFill>
              <a:latin typeface="Noto Sans CJK SC"/>
              <a:ea typeface="Noto Sans CJK SC"/>
              <a:cs typeface="Noto Sans CJK SC"/>
            </a:endParaRPr>
          </a:p>
        </p:txBody>
      </p:sp>
      <p:sp>
        <p:nvSpPr>
          <p:cNvPr id="17" name="矩形 4"/>
          <p:cNvSpPr>
            <a:spLocks noGrp="1"/>
          </p:cNvSpPr>
          <p:nvPr/>
        </p:nvSpPr>
        <p:spPr>
          <a:xfrm>
            <a:off x="495300" y="2076450"/>
            <a:ext cx="4095750" cy="1047750"/>
          </a:xfrm>
          <a:prstGeom prst="rect">
            <a:avLst/>
          </a:prstGeom>
          <a:noFill/>
          <a:ln w="0">
            <a:noFill/>
            <a:prstDash val="solid"/>
          </a:ln>
        </p:spPr>
        <p:txBody>
          <a:bodyPr wrap="square" lIns="0" tIns="0" rIns="0" bIns="0" anchor="t">
            <a:normAutofit/>
          </a:bodyPr>
          <a:lstStyle/>
          <a:p>
            <a:pPr algn="l">
              <a:lnSpc>
                <a:spcPct val="108000"/>
              </a:lnSpc>
              <a:buNone/>
              <a:defRPr sz="1875" b="0">
                <a:solidFill>
                  <a:srgbClr val="667085"/>
                </a:solidFill>
                <a:latin typeface="Noto Sans CJK SC"/>
                <a:ea typeface="Noto Sans CJK SC"/>
                <a:cs typeface="Noto Sans CJK SC"/>
              </a:defRPr>
            </a:pPr>
            <a:r>
              <a:rPr sz="1875" b="0">
                <a:solidFill>
                  <a:srgbClr val="667085"/>
                </a:solidFill>
                <a:latin typeface="Noto Sans CJK SC"/>
                <a:ea typeface="Noto Sans CJK SC"/>
                <a:cs typeface="Noto Sans CJK SC"/>
              </a:rPr>
              <a:t>把训练与部署的新机制装进 yolo-master</a:t>
            </a:r>
            <a:endParaRPr sz="1875" b="0">
              <a:solidFill>
                <a:srgbClr val="667085"/>
              </a:solidFill>
              <a:latin typeface="Noto Sans CJK SC"/>
              <a:ea typeface="Noto Sans CJK SC"/>
              <a:cs typeface="Noto Sans CJK SC"/>
            </a:endParaRPr>
          </a:p>
        </p:txBody>
      </p:sp>
      <p:sp>
        <p:nvSpPr>
          <p:cNvPr id="18" name="矩形 5"/>
          <p:cNvSpPr>
            <a:spLocks noGrp="1"/>
          </p:cNvSpPr>
          <p:nvPr/>
        </p:nvSpPr>
        <p:spPr>
          <a:xfrm>
            <a:off x="495300" y="3381375"/>
            <a:ext cx="3238500" cy="47625"/>
          </a:xfrm>
          <a:prstGeom prst="rect">
            <a:avLst/>
          </a:prstGeom>
          <a:solidFill>
            <a:srgbClr val="1769FF"/>
          </a:solidFill>
          <a:ln w="9525">
            <a:solidFill>
              <a:srgbClr val="1769FF"/>
            </a:solidFill>
            <a:prstDash val="solid"/>
          </a:ln>
        </p:spPr>
        <p:txBody>
          <a:bodyPr/>
          <a:p/>
        </p:txBody>
      </p:sp>
      <p:sp>
        <p:nvSpPr>
          <p:cNvPr id="19" name="矩形 6"/>
          <p:cNvSpPr>
            <a:spLocks noGrp="1"/>
          </p:cNvSpPr>
          <p:nvPr/>
        </p:nvSpPr>
        <p:spPr>
          <a:xfrm>
            <a:off x="495300" y="37719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01</a:t>
            </a:r>
            <a:endParaRPr sz="1350" b="1">
              <a:solidFill>
                <a:srgbClr val="1769FF"/>
              </a:solidFill>
              <a:latin typeface="Noto Sans CJK SC"/>
              <a:ea typeface="Noto Sans CJK SC"/>
              <a:cs typeface="Noto Sans CJK SC"/>
            </a:endParaRPr>
          </a:p>
        </p:txBody>
      </p:sp>
      <p:sp>
        <p:nvSpPr>
          <p:cNvPr id="20" name="矩形 7"/>
          <p:cNvSpPr>
            <a:spLocks noGrp="1"/>
          </p:cNvSpPr>
          <p:nvPr/>
        </p:nvSpPr>
        <p:spPr>
          <a:xfrm>
            <a:off x="1028700" y="37623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A1 NMS-free</a:t>
            </a:r>
            <a:endParaRPr sz="1500" b="1">
              <a:solidFill>
                <a:srgbClr val="111827"/>
              </a:solidFill>
              <a:latin typeface="Noto Sans CJK SC"/>
              <a:ea typeface="Noto Sans CJK SC"/>
              <a:cs typeface="Noto Sans CJK SC"/>
            </a:endParaRPr>
          </a:p>
        </p:txBody>
      </p:sp>
      <p:sp>
        <p:nvSpPr>
          <p:cNvPr id="21" name="矩形 8"/>
          <p:cNvSpPr>
            <a:spLocks noGrp="1"/>
          </p:cNvSpPr>
          <p:nvPr/>
        </p:nvSpPr>
        <p:spPr>
          <a:xfrm>
            <a:off x="495300" y="43815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02</a:t>
            </a:r>
            <a:endParaRPr sz="1350" b="1">
              <a:solidFill>
                <a:srgbClr val="1769FF"/>
              </a:solidFill>
              <a:latin typeface="Noto Sans CJK SC"/>
              <a:ea typeface="Noto Sans CJK SC"/>
              <a:cs typeface="Noto Sans CJK SC"/>
            </a:endParaRPr>
          </a:p>
        </p:txBody>
      </p:sp>
      <p:sp>
        <p:nvSpPr>
          <p:cNvPr id="22" name="矩形 9"/>
          <p:cNvSpPr>
            <a:spLocks noGrp="1"/>
          </p:cNvSpPr>
          <p:nvPr/>
        </p:nvSpPr>
        <p:spPr>
          <a:xfrm>
            <a:off x="1028700" y="43719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A2 STAL</a:t>
            </a:r>
            <a:endParaRPr sz="1500" b="1">
              <a:solidFill>
                <a:srgbClr val="111827"/>
              </a:solidFill>
              <a:latin typeface="Noto Sans CJK SC"/>
              <a:ea typeface="Noto Sans CJK SC"/>
              <a:cs typeface="Noto Sans CJK SC"/>
            </a:endParaRPr>
          </a:p>
        </p:txBody>
      </p:sp>
      <p:sp>
        <p:nvSpPr>
          <p:cNvPr id="23" name="矩形 10"/>
          <p:cNvSpPr>
            <a:spLocks noGrp="1"/>
          </p:cNvSpPr>
          <p:nvPr/>
        </p:nvSpPr>
        <p:spPr>
          <a:xfrm>
            <a:off x="495300" y="49911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03</a:t>
            </a:r>
            <a:endParaRPr sz="1350" b="1">
              <a:solidFill>
                <a:srgbClr val="1769FF"/>
              </a:solidFill>
              <a:latin typeface="Noto Sans CJK SC"/>
              <a:ea typeface="Noto Sans CJK SC"/>
              <a:cs typeface="Noto Sans CJK SC"/>
            </a:endParaRPr>
          </a:p>
        </p:txBody>
      </p:sp>
      <p:sp>
        <p:nvSpPr>
          <p:cNvPr id="24" name="矩形 11"/>
          <p:cNvSpPr>
            <a:spLocks noGrp="1"/>
          </p:cNvSpPr>
          <p:nvPr/>
        </p:nvSpPr>
        <p:spPr>
          <a:xfrm>
            <a:off x="1028700" y="49815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A3 Export Gap</a:t>
            </a:r>
            <a:endParaRPr sz="1500" b="1">
              <a:solidFill>
                <a:srgbClr val="111827"/>
              </a:solidFill>
              <a:latin typeface="Noto Sans CJK SC"/>
              <a:ea typeface="Noto Sans CJK SC"/>
              <a:cs typeface="Noto Sans CJK SC"/>
            </a:endParaRPr>
          </a:p>
        </p:txBody>
      </p:sp>
      <p:sp>
        <p:nvSpPr>
          <p:cNvPr id="25" name="矩形 12"/>
          <p:cNvSpPr>
            <a:spLocks noGrp="1"/>
          </p:cNvSpPr>
          <p:nvPr/>
        </p:nvSpPr>
        <p:spPr>
          <a:xfrm>
            <a:off x="11049000" y="6191250"/>
            <a:ext cx="685800" cy="323850"/>
          </a:xfrm>
          <a:prstGeom prst="rect">
            <a:avLst/>
          </a:prstGeom>
          <a:noFill/>
          <a:ln w="0">
            <a:noFill/>
            <a:prstDash val="solid"/>
          </a:ln>
        </p:spPr>
        <p:txBody>
          <a:bodyPr wrap="square" lIns="0" tIns="0" rIns="0" bIns="0" anchor="t">
            <a:normAutofit/>
          </a:bodyPr>
          <a:lstStyle/>
          <a:p>
            <a:pPr algn="r">
              <a:lnSpc>
                <a:spcPct val="108000"/>
              </a:lnSpc>
              <a:buNone/>
              <a:defRPr sz="1050" b="1">
                <a:solidFill>
                  <a:srgbClr val="667085"/>
                </a:solidFill>
                <a:latin typeface="Noto Sans CJK SC"/>
                <a:ea typeface="Noto Sans CJK SC"/>
                <a:cs typeface="Noto Sans CJK SC"/>
              </a:defRPr>
            </a:pPr>
            <a:r>
              <a:rPr sz="1050" b="1">
                <a:solidFill>
                  <a:srgbClr val="667085"/>
                </a:solidFill>
                <a:latin typeface="Noto Sans CJK SC"/>
                <a:ea typeface="Noto Sans CJK SC"/>
                <a:cs typeface="Noto Sans CJK SC"/>
              </a:rPr>
              <a:t>08</a:t>
            </a:r>
            <a:endParaRPr sz="1050" b="1">
              <a:solidFill>
                <a:srgbClr val="667085"/>
              </a:solidFill>
              <a:latin typeface="Noto Sans CJK SC"/>
              <a:ea typeface="Noto Sans CJK SC"/>
              <a:cs typeface="Noto Sans CJK SC"/>
            </a:endParaRPr>
          </a:p>
        </p:txBody>
      </p:sp>
    </p:spTree>
  </p:cSld>
  <p:clrMapOvr>
    <a:masterClrMapping/>
  </p:clrMapOvr>
</p:sld>
</file>

<file path=ppt/slides/slide11.xml><?xml version="1.0" encoding="utf-8"?>
<p:sld xmlns:a="http://schemas.openxmlformats.org/drawingml/2006/main" xmlns:p="http://schemas.openxmlformats.org/presentationml/2006/main">
  <p:cSld>
    <p:bg>
      <p:bgPr>
        <a:solidFill>
          <a:srgbClr val="FFFFFF"/>
        </a:solidFill>
        <a:effectLst/>
      </p:bgPr>
    </p:bg>
    <p:spTree>
      <p:nvGrpSpPr>
        <p:cNvPr id="26" name=""/>
        <p:cNvGrpSpPr/>
        <p:nvPr/>
      </p:nvGrpSpPr>
      <p:grpSpPr>
        <a:xfrm>
          <a:off x="0" y="0"/>
          <a:ext cx="0" cy="0"/>
          <a:chOff x="0" y="0"/>
          <a:chExt cx="0" cy="0"/>
        </a:xfrm>
      </p:grpSpPr>
      <p:sp>
        <p:nvSpPr>
          <p:cNvPr id="27"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THEME A  /  A1</a:t>
            </a:r>
            <a:endParaRPr sz="1125" b="1">
              <a:solidFill>
                <a:srgbClr val="1769FF"/>
              </a:solidFill>
              <a:latin typeface="Noto Sans CJK SC"/>
              <a:ea typeface="Noto Sans CJK SC"/>
              <a:cs typeface="Noto Sans CJK SC"/>
            </a:endParaRPr>
          </a:p>
        </p:txBody>
      </p:sp>
      <p:sp>
        <p:nvSpPr>
          <p:cNvPr id="28"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MoE × End-to-End：现有 one-to-one 能否真正免 NMS？</a:t>
            </a:r>
            <a:endParaRPr sz="2925" b="1">
              <a:solidFill>
                <a:srgbClr val="111827"/>
              </a:solidFill>
              <a:latin typeface="Noto Sans CJK SC"/>
              <a:ea typeface="Noto Sans CJK SC"/>
              <a:cs typeface="Noto Sans CJK SC"/>
            </a:endParaRPr>
          </a:p>
        </p:txBody>
      </p:sp>
      <p:sp>
        <p:nvSpPr>
          <p:cNvPr id="29" name="矩形 2"/>
          <p:cNvSpPr>
            <a:spLocks noGrp="1"/>
          </p:cNvSpPr>
          <p:nvPr/>
        </p:nvSpPr>
        <p:spPr>
          <a:xfrm>
            <a:off x="457200" y="1352550"/>
            <a:ext cx="11277600" cy="28575"/>
          </a:xfrm>
          <a:prstGeom prst="rect">
            <a:avLst/>
          </a:prstGeom>
          <a:solidFill>
            <a:srgbClr val="1769FF"/>
          </a:solidFill>
          <a:ln w="9525">
            <a:solidFill>
              <a:srgbClr val="1769FF"/>
            </a:solidFill>
            <a:prstDash val="solid"/>
          </a:ln>
        </p:spPr>
        <p:txBody>
          <a:bodyPr/>
          <a:p/>
        </p:txBody>
      </p:sp>
      <p:sp>
        <p:nvSpPr>
          <p:cNvPr id="30"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核心问题</a:t>
            </a:r>
            <a:endParaRPr sz="1275" b="1">
              <a:solidFill>
                <a:srgbClr val="1769FF"/>
              </a:solidFill>
              <a:latin typeface="Noto Sans CJK SC"/>
              <a:ea typeface="Noto Sans CJK SC"/>
              <a:cs typeface="Noto Sans CJK SC"/>
            </a:endParaRPr>
          </a:p>
        </p:txBody>
      </p:sp>
      <p:sp>
        <p:nvSpPr>
          <p:cNvPr id="31"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MultiTaskHead 已内置 one-to-many + one-to-one；还差训练、推理/导出与 NMS-free 基准闭环。</a:t>
            </a:r>
            <a:endParaRPr sz="1650" b="1">
              <a:solidFill>
                <a:srgbClr val="111827"/>
              </a:solidFill>
              <a:latin typeface="Noto Sans CJK SC"/>
              <a:ea typeface="Noto Sans CJK SC"/>
              <a:cs typeface="Noto Sans CJK SC"/>
            </a:endParaRPr>
          </a:p>
        </p:txBody>
      </p:sp>
      <p:sp>
        <p:nvSpPr>
          <p:cNvPr id="32"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仓库切入 / 关键提醒</a:t>
            </a:r>
            <a:endParaRPr sz="1275" b="1">
              <a:solidFill>
                <a:srgbClr val="1769FF"/>
              </a:solidFill>
              <a:latin typeface="Noto Sans CJK SC"/>
              <a:ea typeface="Noto Sans CJK SC"/>
              <a:cs typeface="Noto Sans CJK SC"/>
            </a:endParaRPr>
          </a:p>
        </p:txBody>
      </p:sp>
      <p:sp>
        <p:nvSpPr>
          <p:cNvPr id="33"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不要从零造 head：从 end2end=True、one2one 分支与 NMS 开关做 2×2 消融。</a:t>
            </a:r>
            <a:endParaRPr sz="1275" b="0">
              <a:solidFill>
                <a:srgbClr val="667085"/>
              </a:solidFill>
              <a:latin typeface="Noto Sans CJK SC"/>
              <a:ea typeface="Noto Sans CJK SC"/>
              <a:cs typeface="Noto Sans CJK SC"/>
            </a:endParaRPr>
          </a:p>
        </p:txBody>
      </p:sp>
      <p:sp>
        <p:nvSpPr>
          <p:cNvPr id="34"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数据与环境</a:t>
            </a:r>
            <a:endParaRPr sz="1275" b="1">
              <a:solidFill>
                <a:srgbClr val="1769FF"/>
              </a:solidFill>
              <a:latin typeface="Noto Sans CJK SC"/>
              <a:ea typeface="Noto Sans CJK SC"/>
              <a:cs typeface="Noto Sans CJK SC"/>
            </a:endParaRPr>
          </a:p>
        </p:txBody>
      </p:sp>
      <p:sp>
        <p:nvSpPr>
          <p:cNvPr id="35"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 / VisDrone 子集；单卡 3090/4090；延迟固定 batch=1。</a:t>
            </a:r>
            <a:endParaRPr sz="1275" b="0">
              <a:solidFill>
                <a:srgbClr val="111827"/>
              </a:solidFill>
              <a:latin typeface="Noto Sans CJK SC"/>
              <a:ea typeface="Noto Sans CJK SC"/>
              <a:cs typeface="Noto Sans CJK SC"/>
            </a:endParaRPr>
          </a:p>
        </p:txBody>
      </p:sp>
      <p:sp>
        <p:nvSpPr>
          <p:cNvPr id="36"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37"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若现有分支训练不稳，优先修损失/匹配与双分支协同，禁止重复实现同类 head。</a:t>
            </a:r>
            <a:endParaRPr sz="1200" b="0">
              <a:solidFill>
                <a:srgbClr val="667085"/>
              </a:solidFill>
              <a:latin typeface="Noto Sans CJK SC"/>
              <a:ea typeface="Noto Sans CJK SC"/>
              <a:cs typeface="Noto Sans CJK SC"/>
            </a:endParaRPr>
          </a:p>
        </p:txBody>
      </p:sp>
      <p:sp>
        <p:nvSpPr>
          <p:cNvPr id="38"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P0｜复现当前 end2end/one2one 路径；建立 NMS on/off 的 mAP 与 CPU/GPU 延迟基线。</a:t>
            </a:r>
            <a:endParaRPr sz="1275" b="1">
              <a:solidFill>
                <a:srgbClr val="111827"/>
              </a:solidFill>
              <a:latin typeface="Noto Sans CJK SC"/>
              <a:ea typeface="Noto Sans CJK SC"/>
              <a:cs typeface="Noto Sans CJK SC"/>
            </a:endParaRPr>
          </a:p>
        </p:txBody>
      </p:sp>
      <p:sp>
        <p:nvSpPr>
          <p:cNvPr id="39" name="圆角矩形 12"/>
          <p:cNvSpPr>
            <a:spLocks noGrp="1"/>
          </p:cNvSpPr>
          <p:nvPr/>
        </p:nvSpPr>
        <p:spPr>
          <a:xfrm>
            <a:off x="4762500" y="2438400"/>
            <a:ext cx="6896100" cy="723900"/>
          </a:xfrm>
          <a:prstGeom prst="roundRect">
            <a:avLst>
              <a:gd name="adj" fmla="val 10526"/>
            </a:avLst>
          </a:prstGeom>
          <a:solidFill>
            <a:srgbClr val="EAF2FF"/>
          </a:solidFill>
          <a:ln w="9525">
            <a:solidFill>
              <a:srgbClr val="1769FF"/>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P1｜补齐可训练、可导出、可评测闭环；mAP 掉点 ≤2，且 CPU 延迟有可测改善。</a:t>
            </a:r>
            <a:endParaRPr sz="1275" b="1">
              <a:solidFill>
                <a:srgbClr val="111827"/>
              </a:solidFill>
              <a:latin typeface="Noto Sans CJK SC"/>
              <a:ea typeface="Noto Sans CJK SC"/>
              <a:cs typeface="Noto Sans CJK SC"/>
            </a:endParaRPr>
          </a:p>
        </p:txBody>
      </p:sp>
      <p:sp>
        <p:nvSpPr>
          <p:cNvPr id="40"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P2｜扩展至 seg/pose，或解释 TaskRouter 与 one2one 分支旁路对 MoE 结论的影响。</a:t>
            </a:r>
            <a:endParaRPr sz="1275" b="1">
              <a:solidFill>
                <a:srgbClr val="111827"/>
              </a:solidFill>
              <a:latin typeface="Noto Sans CJK SC"/>
              <a:ea typeface="Noto Sans CJK SC"/>
              <a:cs typeface="Noto Sans CJK SC"/>
            </a:endParaRPr>
          </a:p>
        </p:txBody>
      </p:sp>
      <p:sp>
        <p:nvSpPr>
          <p:cNvPr id="41"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六周路径</a:t>
            </a:r>
            <a:endParaRPr sz="1275" b="1">
              <a:solidFill>
                <a:srgbClr val="1769FF"/>
              </a:solidFill>
              <a:latin typeface="Noto Sans CJK SC"/>
              <a:ea typeface="Noto Sans CJK SC"/>
              <a:cs typeface="Noto Sans CJK SC"/>
            </a:endParaRPr>
          </a:p>
        </p:txBody>
      </p:sp>
      <p:sp>
        <p:nvSpPr>
          <p:cNvPr id="42"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3"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基线/论文</a:t>
            </a:r>
            <a:endParaRPr sz="1050" b="1">
              <a:solidFill>
                <a:srgbClr val="111827"/>
              </a:solidFill>
              <a:latin typeface="Noto Sans CJK SC"/>
              <a:ea typeface="Noto Sans CJK SC"/>
              <a:cs typeface="Noto Sans CJK SC"/>
            </a:endParaRPr>
          </a:p>
        </p:txBody>
      </p:sp>
      <p:sp>
        <p:nvSpPr>
          <p:cNvPr id="44"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5"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最小分支</a:t>
            </a:r>
            <a:endParaRPr sz="1050" b="1">
              <a:solidFill>
                <a:srgbClr val="111827"/>
              </a:solidFill>
              <a:latin typeface="Noto Sans CJK SC"/>
              <a:ea typeface="Noto Sans CJK SC"/>
              <a:cs typeface="Noto Sans CJK SC"/>
            </a:endParaRPr>
          </a:p>
        </p:txBody>
      </p:sp>
      <p:sp>
        <p:nvSpPr>
          <p:cNvPr id="46"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7"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全量训练</a:t>
            </a:r>
            <a:endParaRPr sz="1050" b="1">
              <a:solidFill>
                <a:srgbClr val="111827"/>
              </a:solidFill>
              <a:latin typeface="Noto Sans CJK SC"/>
              <a:ea typeface="Noto Sans CJK SC"/>
              <a:cs typeface="Noto Sans CJK SC"/>
            </a:endParaRPr>
          </a:p>
        </p:txBody>
      </p:sp>
      <p:sp>
        <p:nvSpPr>
          <p:cNvPr id="48"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9"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2×2 中期</a:t>
            </a:r>
            <a:endParaRPr sz="1050" b="1">
              <a:solidFill>
                <a:srgbClr val="111827"/>
              </a:solidFill>
              <a:latin typeface="Noto Sans CJK SC"/>
              <a:ea typeface="Noto Sans CJK SC"/>
              <a:cs typeface="Noto Sans CJK SC"/>
            </a:endParaRPr>
          </a:p>
        </p:txBody>
      </p:sp>
      <p:sp>
        <p:nvSpPr>
          <p:cNvPr id="50"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51"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3 seed + PR</a:t>
            </a:r>
            <a:endParaRPr sz="1050" b="1">
              <a:solidFill>
                <a:srgbClr val="111827"/>
              </a:solidFill>
              <a:latin typeface="Noto Sans CJK SC"/>
              <a:ea typeface="Noto Sans CJK SC"/>
              <a:cs typeface="Noto Sans CJK SC"/>
            </a:endParaRPr>
          </a:p>
        </p:txBody>
      </p:sp>
      <p:sp>
        <p:nvSpPr>
          <p:cNvPr id="52" name="圆角矩形 25"/>
          <p:cNvSpPr>
            <a:spLocks noGrp="1"/>
          </p:cNvSpPr>
          <p:nvPr/>
        </p:nvSpPr>
        <p:spPr>
          <a:xfrm>
            <a:off x="10525125" y="4610100"/>
            <a:ext cx="1000125" cy="457200"/>
          </a:xfrm>
          <a:prstGeom prst="roundRect">
            <a:avLst>
              <a:gd name="adj" fmla="val 12500"/>
            </a:avLst>
          </a:prstGeom>
          <a:solidFill>
            <a:srgbClr val="1769FF"/>
          </a:solidFill>
          <a:ln w="9525">
            <a:solidFill>
              <a:srgbClr val="1769FF"/>
            </a:solidFill>
            <a:prstDash val="solid"/>
          </a:ln>
        </p:spPr>
        <p:txBody>
          <a:bodyPr/>
          <a:p/>
        </p:txBody>
      </p:sp>
      <p:sp>
        <p:nvSpPr>
          <p:cNvPr id="53"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结项答辩</a:t>
            </a:r>
            <a:endParaRPr sz="1050" b="1">
              <a:solidFill>
                <a:srgbClr val="FFFFFF"/>
              </a:solidFill>
              <a:latin typeface="Noto Sans CJK SC"/>
              <a:ea typeface="Noto Sans CJK SC"/>
              <a:cs typeface="Noto Sans CJK SC"/>
            </a:endParaRPr>
          </a:p>
        </p:txBody>
      </p:sp>
      <p:sp>
        <p:nvSpPr>
          <p:cNvPr id="54"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交付物</a:t>
            </a:r>
            <a:endParaRPr sz="1200" b="1">
              <a:solidFill>
                <a:srgbClr val="1769FF"/>
              </a:solidFill>
              <a:latin typeface="Noto Sans CJK SC"/>
              <a:ea typeface="Noto Sans CJK SC"/>
              <a:cs typeface="Noto Sans CJK SC"/>
            </a:endParaRPr>
          </a:p>
        </p:txBody>
      </p:sp>
      <p:sp>
        <p:nvSpPr>
          <p:cNvPr id="55"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端到端闭环修复 PR、2×2 消融矩阵、多 seed 报告。</a:t>
            </a:r>
            <a:endParaRPr sz="1200" b="0">
              <a:solidFill>
                <a:srgbClr val="111827"/>
              </a:solidFill>
              <a:latin typeface="Noto Sans CJK SC"/>
              <a:ea typeface="Noto Sans CJK SC"/>
              <a:cs typeface="Noto Sans CJK SC"/>
            </a:endParaRPr>
          </a:p>
        </p:txBody>
      </p:sp>
      <p:sp>
        <p:nvSpPr>
          <p:cNvPr id="56"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验收线</a:t>
            </a:r>
            <a:endParaRPr sz="1200" b="1">
              <a:solidFill>
                <a:srgbClr val="1769FF"/>
              </a:solidFill>
              <a:latin typeface="Noto Sans CJK SC"/>
              <a:ea typeface="Noto Sans CJK SC"/>
              <a:cs typeface="Noto Sans CJK SC"/>
            </a:endParaRPr>
          </a:p>
        </p:txBody>
      </p:sp>
      <p:sp>
        <p:nvSpPr>
          <p:cNvPr id="57"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现有分支可复现；P1 同时满足精度护栏、导出通过与 CPU 延迟改善。</a:t>
            </a:r>
            <a:endParaRPr sz="1200" b="1">
              <a:solidFill>
                <a:srgbClr val="111827"/>
              </a:solidFill>
              <a:latin typeface="Noto Sans CJK SC"/>
              <a:ea typeface="Noto Sans CJK SC"/>
              <a:cs typeface="Noto Sans CJK SC"/>
            </a:endParaRPr>
          </a:p>
        </p:txBody>
      </p:sp>
      <p:sp>
        <p:nvSpPr>
          <p:cNvPr id="58"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59"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60" name="矩形 33"/>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61"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09</a:t>
            </a:r>
            <a:endParaRPr sz="975" b="1">
              <a:solidFill>
                <a:srgbClr val="667085"/>
              </a:solidFill>
              <a:latin typeface="Noto Sans CJK SC"/>
              <a:ea typeface="Noto Sans CJK SC"/>
              <a:cs typeface="Noto Sans CJK SC"/>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62" name=""/>
        <p:cNvGrpSpPr/>
        <p:nvPr/>
      </p:nvGrpSpPr>
      <p:grpSpPr>
        <a:xfrm>
          <a:off x="0" y="0"/>
          <a:ext cx="0" cy="0"/>
          <a:chOff x="0" y="0"/>
          <a:chExt cx="0" cy="0"/>
        </a:xfrm>
      </p:grpSpPr>
      <p:pic>
        <p:nvPicPr>
          <p:cNvPr id="63" name="图片 1"/>
          <p:cNvPicPr>
            <a:picLocks noChangeAspect="1"/>
          </p:cNvPicPr>
          <p:nvPr/>
        </p:nvPicPr>
        <p:blipFill>
          <a:blip r:embed="rId2"/>
          <a:srcRect/>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p:cSld>
    <p:bg>
      <p:bgPr>
        <a:solidFill>
          <a:srgbClr val="FFFFFF"/>
        </a:solidFill>
        <a:effectLst/>
      </p:bgPr>
    </p:bg>
    <p:spTree>
      <p:nvGrpSpPr>
        <p:cNvPr id="64" name=""/>
        <p:cNvGrpSpPr/>
        <p:nvPr/>
      </p:nvGrpSpPr>
      <p:grpSpPr>
        <a:xfrm>
          <a:off x="0" y="0"/>
          <a:ext cx="0" cy="0"/>
          <a:chOff x="0" y="0"/>
          <a:chExt cx="0" cy="0"/>
        </a:xfrm>
      </p:grpSpPr>
      <p:sp>
        <p:nvSpPr>
          <p:cNvPr id="65"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THEME A  /  A3</a:t>
            </a:r>
            <a:endParaRPr sz="1125" b="1">
              <a:solidFill>
                <a:srgbClr val="1769FF"/>
              </a:solidFill>
              <a:latin typeface="Noto Sans CJK SC"/>
              <a:ea typeface="Noto Sans CJK SC"/>
              <a:cs typeface="Noto Sans CJK SC"/>
            </a:endParaRPr>
          </a:p>
        </p:txBody>
      </p:sp>
      <p:sp>
        <p:nvSpPr>
          <p:cNvPr id="66"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Export Gap：稀疏路由与 dense fallback 谁更端侧友好？</a:t>
            </a:r>
            <a:endParaRPr sz="2925" b="1">
              <a:solidFill>
                <a:srgbClr val="111827"/>
              </a:solidFill>
              <a:latin typeface="Noto Sans CJK SC"/>
              <a:ea typeface="Noto Sans CJK SC"/>
              <a:cs typeface="Noto Sans CJK SC"/>
            </a:endParaRPr>
          </a:p>
        </p:txBody>
      </p:sp>
      <p:sp>
        <p:nvSpPr>
          <p:cNvPr id="67" name="矩形 2"/>
          <p:cNvSpPr>
            <a:spLocks noGrp="1"/>
          </p:cNvSpPr>
          <p:nvPr/>
        </p:nvSpPr>
        <p:spPr>
          <a:xfrm>
            <a:off x="457200" y="1352550"/>
            <a:ext cx="11277600" cy="28575"/>
          </a:xfrm>
          <a:prstGeom prst="rect">
            <a:avLst/>
          </a:prstGeom>
          <a:solidFill>
            <a:srgbClr val="1769FF"/>
          </a:solidFill>
          <a:ln w="9525">
            <a:solidFill>
              <a:srgbClr val="1769FF"/>
            </a:solidFill>
            <a:prstDash val="solid"/>
          </a:ln>
        </p:spPr>
        <p:txBody>
          <a:bodyPr/>
          <a:p/>
        </p:txBody>
      </p:sp>
      <p:sp>
        <p:nvSpPr>
          <p:cNvPr id="68"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核心问题</a:t>
            </a:r>
            <a:endParaRPr sz="1275" b="1">
              <a:solidFill>
                <a:srgbClr val="1769FF"/>
              </a:solidFill>
              <a:latin typeface="Noto Sans CJK SC"/>
              <a:ea typeface="Noto Sans CJK SC"/>
              <a:cs typeface="Noto Sans CJK SC"/>
            </a:endParaRPr>
          </a:p>
        </p:txBody>
      </p:sp>
      <p:sp>
        <p:nvSpPr>
          <p:cNvPr id="69"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eager 可稀疏，而 ONNX/TorchScript 采用 dense fallback；INT8 后精度、时延和专家选择差多少？</a:t>
            </a:r>
            <a:endParaRPr sz="1650" b="1">
              <a:solidFill>
                <a:srgbClr val="111827"/>
              </a:solidFill>
              <a:latin typeface="Noto Sans CJK SC"/>
              <a:ea typeface="Noto Sans CJK SC"/>
              <a:cs typeface="Noto Sans CJK SC"/>
            </a:endParaRPr>
          </a:p>
        </p:txBody>
      </p:sp>
      <p:sp>
        <p:nvSpPr>
          <p:cNvPr id="70"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仓库切入 / 关键提醒</a:t>
            </a:r>
            <a:endParaRPr sz="1275" b="1">
              <a:solidFill>
                <a:srgbClr val="1769FF"/>
              </a:solidFill>
              <a:latin typeface="Noto Sans CJK SC"/>
              <a:ea typeface="Noto Sans CJK SC"/>
              <a:cs typeface="Noto Sans CJK SC"/>
            </a:endParaRPr>
          </a:p>
        </p:txBody>
      </p:sp>
      <p:sp>
        <p:nvSpPr>
          <p:cNvPr id="71"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优先复用 export_capabilities、preflight 与 validation；把“导出后变密集”列为实验变量。</a:t>
            </a:r>
            <a:endParaRPr sz="1275" b="0">
              <a:solidFill>
                <a:srgbClr val="667085"/>
              </a:solidFill>
              <a:latin typeface="Noto Sans CJK SC"/>
              <a:ea typeface="Noto Sans CJK SC"/>
              <a:cs typeface="Noto Sans CJK SC"/>
            </a:endParaRPr>
          </a:p>
        </p:txBody>
      </p:sp>
      <p:sp>
        <p:nvSpPr>
          <p:cNvPr id="72"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数据与环境</a:t>
            </a:r>
            <a:endParaRPr sz="1275" b="1">
              <a:solidFill>
                <a:srgbClr val="1769FF"/>
              </a:solidFill>
              <a:latin typeface="Noto Sans CJK SC"/>
              <a:ea typeface="Noto Sans CJK SC"/>
              <a:cs typeface="Noto Sans CJK SC"/>
            </a:endParaRPr>
          </a:p>
        </p:txBody>
      </p:sp>
      <p:sp>
        <p:nvSpPr>
          <p:cNvPr id="73"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 val 5000 张；TensorRT + ONNX Runtime；可选 NCNN/RKNN。</a:t>
            </a:r>
            <a:endParaRPr sz="1275" b="0">
              <a:solidFill>
                <a:srgbClr val="111827"/>
              </a:solidFill>
              <a:latin typeface="Noto Sans CJK SC"/>
              <a:ea typeface="Noto Sans CJK SC"/>
              <a:cs typeface="Noto Sans CJK SC"/>
            </a:endParaRPr>
          </a:p>
        </p:txBody>
      </p:sp>
      <p:sp>
        <p:nvSpPr>
          <p:cNvPr id="74"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75"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若后端不支持稀疏语义，保留 dense fallback，测清 eager↔export 的计算与精度差。</a:t>
            </a:r>
            <a:endParaRPr sz="1200" b="0">
              <a:solidFill>
                <a:srgbClr val="667085"/>
              </a:solidFill>
              <a:latin typeface="Noto Sans CJK SC"/>
              <a:ea typeface="Noto Sans CJK SC"/>
              <a:cs typeface="Noto Sans CJK SC"/>
            </a:endParaRPr>
          </a:p>
        </p:txBody>
      </p:sp>
      <p:sp>
        <p:nvSpPr>
          <p:cNvPr id="76"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P0｜复用现有导出检查，跑通 detect + ES-MoE/MoT 的 ONNX/TRT FP16 并校准精度。</a:t>
            </a:r>
            <a:endParaRPr sz="1275" b="1">
              <a:solidFill>
                <a:srgbClr val="111827"/>
              </a:solidFill>
              <a:latin typeface="Noto Sans CJK SC"/>
              <a:ea typeface="Noto Sans CJK SC"/>
              <a:cs typeface="Noto Sans CJK SC"/>
            </a:endParaRPr>
          </a:p>
        </p:txBody>
      </p:sp>
      <p:sp>
        <p:nvSpPr>
          <p:cNvPr id="77" name="圆角矩形 12"/>
          <p:cNvSpPr>
            <a:spLocks noGrp="1"/>
          </p:cNvSpPr>
          <p:nvPr/>
        </p:nvSpPr>
        <p:spPr>
          <a:xfrm>
            <a:off x="4762500" y="2438400"/>
            <a:ext cx="6896100" cy="723900"/>
          </a:xfrm>
          <a:prstGeom prst="roundRect">
            <a:avLst>
              <a:gd name="adj" fmla="val 10526"/>
            </a:avLst>
          </a:prstGeom>
          <a:solidFill>
            <a:srgbClr val="EAF2FF"/>
          </a:solidFill>
          <a:ln w="9525">
            <a:solidFill>
              <a:srgbClr val="1769FF"/>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P1｜至少两类路由模块完成 INT8 PTQ；记录 dense fallback 后的精度、延迟与模型尺寸。</a:t>
            </a:r>
            <a:endParaRPr sz="1275" b="1">
              <a:solidFill>
                <a:srgbClr val="111827"/>
              </a:solidFill>
              <a:latin typeface="Noto Sans CJK SC"/>
              <a:ea typeface="Noto Sans CJK SC"/>
              <a:cs typeface="Noto Sans CJK SC"/>
            </a:endParaRPr>
          </a:p>
        </p:txBody>
      </p:sp>
      <p:sp>
        <p:nvSpPr>
          <p:cNvPr id="78"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P2｜补齐更多路由族；分析 FP32/INT8 专家选择一致率，并尝试 QAT 挽回精度。</a:t>
            </a:r>
            <a:endParaRPr sz="1275" b="1">
              <a:solidFill>
                <a:srgbClr val="111827"/>
              </a:solidFill>
              <a:latin typeface="Noto Sans CJK SC"/>
              <a:ea typeface="Noto Sans CJK SC"/>
              <a:cs typeface="Noto Sans CJK SC"/>
            </a:endParaRPr>
          </a:p>
        </p:txBody>
      </p:sp>
      <p:sp>
        <p:nvSpPr>
          <p:cNvPr id="79"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六周路径</a:t>
            </a:r>
            <a:endParaRPr sz="1275" b="1">
              <a:solidFill>
                <a:srgbClr val="1769FF"/>
              </a:solidFill>
              <a:latin typeface="Noto Sans CJK SC"/>
              <a:ea typeface="Noto Sans CJK SC"/>
              <a:cs typeface="Noto Sans CJK SC"/>
            </a:endParaRPr>
          </a:p>
        </p:txBody>
      </p:sp>
      <p:sp>
        <p:nvSpPr>
          <p:cNvPr id="80"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81"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导出排坑</a:t>
            </a:r>
            <a:endParaRPr sz="1050" b="1">
              <a:solidFill>
                <a:srgbClr val="111827"/>
              </a:solidFill>
              <a:latin typeface="Noto Sans CJK SC"/>
              <a:ea typeface="Noto Sans CJK SC"/>
              <a:cs typeface="Noto Sans CJK SC"/>
            </a:endParaRPr>
          </a:p>
        </p:txBody>
      </p:sp>
      <p:sp>
        <p:nvSpPr>
          <p:cNvPr id="82"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83"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FP16/敏感度</a:t>
            </a:r>
            <a:endParaRPr sz="1050" b="1">
              <a:solidFill>
                <a:srgbClr val="111827"/>
              </a:solidFill>
              <a:latin typeface="Noto Sans CJK SC"/>
              <a:ea typeface="Noto Sans CJK SC"/>
              <a:cs typeface="Noto Sans CJK SC"/>
            </a:endParaRPr>
          </a:p>
        </p:txBody>
      </p:sp>
      <p:sp>
        <p:nvSpPr>
          <p:cNvPr id="84"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85"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两族 INT8</a:t>
            </a:r>
            <a:endParaRPr sz="1050" b="1">
              <a:solidFill>
                <a:srgbClr val="111827"/>
              </a:solidFill>
              <a:latin typeface="Noto Sans CJK SC"/>
              <a:ea typeface="Noto Sans CJK SC"/>
              <a:cs typeface="Noto Sans CJK SC"/>
            </a:endParaRPr>
          </a:p>
        </p:txBody>
      </p:sp>
      <p:sp>
        <p:nvSpPr>
          <p:cNvPr id="86"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87"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散点图中期</a:t>
            </a:r>
            <a:endParaRPr sz="1050" b="1">
              <a:solidFill>
                <a:srgbClr val="111827"/>
              </a:solidFill>
              <a:latin typeface="Noto Sans CJK SC"/>
              <a:ea typeface="Noto Sans CJK SC"/>
              <a:cs typeface="Noto Sans CJK SC"/>
            </a:endParaRPr>
          </a:p>
        </p:txBody>
      </p:sp>
      <p:sp>
        <p:nvSpPr>
          <p:cNvPr id="88"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89"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五族/QAT</a:t>
            </a:r>
            <a:endParaRPr sz="1050" b="1">
              <a:solidFill>
                <a:srgbClr val="111827"/>
              </a:solidFill>
              <a:latin typeface="Noto Sans CJK SC"/>
              <a:ea typeface="Noto Sans CJK SC"/>
              <a:cs typeface="Noto Sans CJK SC"/>
            </a:endParaRPr>
          </a:p>
        </p:txBody>
      </p:sp>
      <p:sp>
        <p:nvSpPr>
          <p:cNvPr id="90" name="圆角矩形 25"/>
          <p:cNvSpPr>
            <a:spLocks noGrp="1"/>
          </p:cNvSpPr>
          <p:nvPr/>
        </p:nvSpPr>
        <p:spPr>
          <a:xfrm>
            <a:off x="10525125" y="4610100"/>
            <a:ext cx="1000125" cy="457200"/>
          </a:xfrm>
          <a:prstGeom prst="roundRect">
            <a:avLst>
              <a:gd name="adj" fmla="val 12500"/>
            </a:avLst>
          </a:prstGeom>
          <a:solidFill>
            <a:srgbClr val="1769FF"/>
          </a:solidFill>
          <a:ln w="9525">
            <a:solidFill>
              <a:srgbClr val="1769FF"/>
            </a:solidFill>
            <a:prstDash val="solid"/>
          </a:ln>
        </p:spPr>
        <p:txBody>
          <a:bodyPr/>
          <a:p/>
        </p:txBody>
      </p:sp>
      <p:sp>
        <p:nvSpPr>
          <p:cNvPr id="91"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白皮书</a:t>
            </a:r>
            <a:endParaRPr sz="1050" b="1">
              <a:solidFill>
                <a:srgbClr val="FFFFFF"/>
              </a:solidFill>
              <a:latin typeface="Noto Sans CJK SC"/>
              <a:ea typeface="Noto Sans CJK SC"/>
              <a:cs typeface="Noto Sans CJK SC"/>
            </a:endParaRPr>
          </a:p>
        </p:txBody>
      </p:sp>
      <p:sp>
        <p:nvSpPr>
          <p:cNvPr id="92"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交付物</a:t>
            </a:r>
            <a:endParaRPr sz="1200" b="1">
              <a:solidFill>
                <a:srgbClr val="1769FF"/>
              </a:solidFill>
              <a:latin typeface="Noto Sans CJK SC"/>
              <a:ea typeface="Noto Sans CJK SC"/>
              <a:cs typeface="Noto Sans CJK SC"/>
            </a:endParaRPr>
          </a:p>
        </p:txBody>
      </p:sp>
      <p:sp>
        <p:nvSpPr>
          <p:cNvPr id="93"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导出语义清单、量化表、路由一致率、fallback gap 白皮书。</a:t>
            </a:r>
            <a:endParaRPr sz="1200" b="0">
              <a:solidFill>
                <a:srgbClr val="111827"/>
              </a:solidFill>
              <a:latin typeface="Noto Sans CJK SC"/>
              <a:ea typeface="Noto Sans CJK SC"/>
              <a:cs typeface="Noto Sans CJK SC"/>
            </a:endParaRPr>
          </a:p>
        </p:txBody>
      </p:sp>
      <p:sp>
        <p:nvSpPr>
          <p:cNvPr id="94"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验收线</a:t>
            </a:r>
            <a:endParaRPr sz="1200" b="1">
              <a:solidFill>
                <a:srgbClr val="1769FF"/>
              </a:solidFill>
              <a:latin typeface="Noto Sans CJK SC"/>
              <a:ea typeface="Noto Sans CJK SC"/>
              <a:cs typeface="Noto Sans CJK SC"/>
            </a:endParaRPr>
          </a:p>
        </p:txBody>
      </p:sp>
      <p:sp>
        <p:nvSpPr>
          <p:cNvPr id="95"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有可复现 INT8 流水线，并完成至少两类路由模块的完整数据。</a:t>
            </a:r>
            <a:endParaRPr sz="1200" b="1">
              <a:solidFill>
                <a:srgbClr val="111827"/>
              </a:solidFill>
              <a:latin typeface="Noto Sans CJK SC"/>
              <a:ea typeface="Noto Sans CJK SC"/>
              <a:cs typeface="Noto Sans CJK SC"/>
            </a:endParaRPr>
          </a:p>
        </p:txBody>
      </p:sp>
      <p:sp>
        <p:nvSpPr>
          <p:cNvPr id="96"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97"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98" name="矩形 33"/>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99"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11</a:t>
            </a:r>
            <a:endParaRPr sz="975" b="1">
              <a:solidFill>
                <a:srgbClr val="667085"/>
              </a:solidFill>
              <a:latin typeface="Noto Sans CJK SC"/>
              <a:ea typeface="Noto Sans CJK SC"/>
              <a:cs typeface="Noto Sans CJK SC"/>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00" name=""/>
        <p:cNvGrpSpPr/>
        <p:nvPr/>
      </p:nvGrpSpPr>
      <p:grpSpPr>
        <a:xfrm>
          <a:off x="0" y="0"/>
          <a:ext cx="0" cy="0"/>
          <a:chOff x="0" y="0"/>
          <a:chExt cx="0" cy="0"/>
        </a:xfrm>
      </p:grpSpPr>
      <p:pic>
        <p:nvPicPr>
          <p:cNvPr id="101" name="图片 12"/>
          <p:cNvPicPr>
            <a:picLocks noChangeAspect="1"/>
          </p:cNvPicPr>
          <p:nvPr/>
        </p:nvPicPr>
        <p:blipFill>
          <a:blip r:embed="rId2"/>
          <a:srcRect t="27" b="27"/>
          <a:stretch>
            <a:fillRect/>
          </a:stretch>
        </p:blipFill>
        <p:spPr>
          <a:xfrm>
            <a:off x="0" y="0"/>
            <a:ext cx="12192000" cy="6858000"/>
          </a:xfrm>
          <a:prstGeom prst="rect">
            <a:avLst/>
          </a:prstGeom>
        </p:spPr>
      </p:pic>
      <p:sp>
        <p:nvSpPr>
          <p:cNvPr id="102"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103" name="矩形 2"/>
          <p:cNvSpPr>
            <a:spLocks noGrp="1"/>
          </p:cNvSpPr>
          <p:nvPr/>
        </p:nvSpPr>
        <p:spPr>
          <a:xfrm>
            <a:off x="495300" y="514350"/>
            <a:ext cx="2095500" cy="3048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6A6"/>
                </a:solidFill>
                <a:latin typeface="Noto Sans CJK SC"/>
                <a:ea typeface="Noto Sans CJK SC"/>
                <a:cs typeface="Noto Sans CJK SC"/>
              </a:defRPr>
            </a:pPr>
            <a:r>
              <a:rPr sz="1275" b="1">
                <a:solidFill>
                  <a:srgbClr val="00A6A6"/>
                </a:solidFill>
                <a:latin typeface="Noto Sans CJK SC"/>
                <a:ea typeface="Noto Sans CJK SC"/>
                <a:cs typeface="Noto Sans CJK SC"/>
              </a:rPr>
              <a:t>THEME B</a:t>
            </a:r>
            <a:endParaRPr sz="1275" b="1">
              <a:solidFill>
                <a:srgbClr val="00A6A6"/>
              </a:solidFill>
              <a:latin typeface="Noto Sans CJK SC"/>
              <a:ea typeface="Noto Sans CJK SC"/>
              <a:cs typeface="Noto Sans CJK SC"/>
            </a:endParaRPr>
          </a:p>
        </p:txBody>
      </p:sp>
      <p:sp>
        <p:nvSpPr>
          <p:cNvPr id="104" name="矩形 3"/>
          <p:cNvSpPr>
            <a:spLocks noGrp="1"/>
          </p:cNvSpPr>
          <p:nvPr/>
        </p:nvSpPr>
        <p:spPr>
          <a:xfrm>
            <a:off x="495300" y="1238250"/>
            <a:ext cx="4476750" cy="60960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开放世界</a:t>
            </a:r>
            <a:endParaRPr sz="3150" b="1">
              <a:solidFill>
                <a:srgbClr val="111827"/>
              </a:solidFill>
              <a:latin typeface="Noto Sans CJK SC"/>
              <a:ea typeface="Noto Sans CJK SC"/>
              <a:cs typeface="Noto Sans CJK SC"/>
            </a:endParaRPr>
          </a:p>
        </p:txBody>
      </p:sp>
      <p:sp>
        <p:nvSpPr>
          <p:cNvPr id="105" name="矩形 4"/>
          <p:cNvSpPr>
            <a:spLocks noGrp="1"/>
          </p:cNvSpPr>
          <p:nvPr/>
        </p:nvSpPr>
        <p:spPr>
          <a:xfrm>
            <a:off x="495300" y="2076450"/>
            <a:ext cx="4095750" cy="1047750"/>
          </a:xfrm>
          <a:prstGeom prst="rect">
            <a:avLst/>
          </a:prstGeom>
          <a:noFill/>
          <a:ln w="0">
            <a:noFill/>
            <a:prstDash val="solid"/>
          </a:ln>
        </p:spPr>
        <p:txBody>
          <a:bodyPr wrap="square" lIns="0" tIns="0" rIns="0" bIns="0" anchor="t">
            <a:normAutofit/>
          </a:bodyPr>
          <a:lstStyle/>
          <a:p>
            <a:pPr algn="l">
              <a:lnSpc>
                <a:spcPct val="108000"/>
              </a:lnSpc>
              <a:buNone/>
              <a:defRPr sz="1875" b="0">
                <a:solidFill>
                  <a:srgbClr val="667085"/>
                </a:solidFill>
                <a:latin typeface="Noto Sans CJK SC"/>
                <a:ea typeface="Noto Sans CJK SC"/>
                <a:cs typeface="Noto Sans CJK SC"/>
              </a:defRPr>
            </a:pPr>
            <a:r>
              <a:rPr sz="1875" b="0">
                <a:solidFill>
                  <a:srgbClr val="667085"/>
                </a:solidFill>
                <a:latin typeface="Noto Sans CJK SC"/>
                <a:ea typeface="Noto Sans CJK SC"/>
                <a:cs typeface="Noto Sans CJK SC"/>
              </a:rPr>
              <a:t>让检测器理解文本，并用基础模型造数据</a:t>
            </a:r>
            <a:endParaRPr sz="1875" b="0">
              <a:solidFill>
                <a:srgbClr val="667085"/>
              </a:solidFill>
              <a:latin typeface="Noto Sans CJK SC"/>
              <a:ea typeface="Noto Sans CJK SC"/>
              <a:cs typeface="Noto Sans CJK SC"/>
            </a:endParaRPr>
          </a:p>
        </p:txBody>
      </p:sp>
      <p:sp>
        <p:nvSpPr>
          <p:cNvPr id="106" name="矩形 5"/>
          <p:cNvSpPr>
            <a:spLocks noGrp="1"/>
          </p:cNvSpPr>
          <p:nvPr/>
        </p:nvSpPr>
        <p:spPr>
          <a:xfrm>
            <a:off x="495300" y="3381375"/>
            <a:ext cx="3238500" cy="47625"/>
          </a:xfrm>
          <a:prstGeom prst="rect">
            <a:avLst/>
          </a:prstGeom>
          <a:solidFill>
            <a:srgbClr val="00A6A6"/>
          </a:solidFill>
          <a:ln w="9525">
            <a:solidFill>
              <a:srgbClr val="00A6A6"/>
            </a:solidFill>
            <a:prstDash val="solid"/>
          </a:ln>
        </p:spPr>
        <p:txBody>
          <a:bodyPr/>
          <a:p/>
        </p:txBody>
      </p:sp>
      <p:sp>
        <p:nvSpPr>
          <p:cNvPr id="107" name="矩形 6"/>
          <p:cNvSpPr>
            <a:spLocks noGrp="1"/>
          </p:cNvSpPr>
          <p:nvPr/>
        </p:nvSpPr>
        <p:spPr>
          <a:xfrm>
            <a:off x="495300" y="37719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00A6A6"/>
                </a:solidFill>
                <a:latin typeface="Noto Sans CJK SC"/>
                <a:ea typeface="Noto Sans CJK SC"/>
                <a:cs typeface="Noto Sans CJK SC"/>
              </a:defRPr>
            </a:pPr>
            <a:r>
              <a:rPr sz="1350" b="1">
                <a:solidFill>
                  <a:srgbClr val="00A6A6"/>
                </a:solidFill>
                <a:latin typeface="Noto Sans CJK SC"/>
                <a:ea typeface="Noto Sans CJK SC"/>
                <a:cs typeface="Noto Sans CJK SC"/>
              </a:rPr>
              <a:t>01</a:t>
            </a:r>
            <a:endParaRPr sz="1350" b="1">
              <a:solidFill>
                <a:srgbClr val="00A6A6"/>
              </a:solidFill>
              <a:latin typeface="Noto Sans CJK SC"/>
              <a:ea typeface="Noto Sans CJK SC"/>
              <a:cs typeface="Noto Sans CJK SC"/>
            </a:endParaRPr>
          </a:p>
        </p:txBody>
      </p:sp>
      <p:sp>
        <p:nvSpPr>
          <p:cNvPr id="108" name="矩形 7"/>
          <p:cNvSpPr>
            <a:spLocks noGrp="1"/>
          </p:cNvSpPr>
          <p:nvPr/>
        </p:nvSpPr>
        <p:spPr>
          <a:xfrm>
            <a:off x="1028700" y="37623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B1 文本条件路由</a:t>
            </a:r>
            <a:endParaRPr sz="1500" b="1">
              <a:solidFill>
                <a:srgbClr val="111827"/>
              </a:solidFill>
              <a:latin typeface="Noto Sans CJK SC"/>
              <a:ea typeface="Noto Sans CJK SC"/>
              <a:cs typeface="Noto Sans CJK SC"/>
            </a:endParaRPr>
          </a:p>
        </p:txBody>
      </p:sp>
      <p:sp>
        <p:nvSpPr>
          <p:cNvPr id="109" name="矩形 8"/>
          <p:cNvSpPr>
            <a:spLocks noGrp="1"/>
          </p:cNvSpPr>
          <p:nvPr/>
        </p:nvSpPr>
        <p:spPr>
          <a:xfrm>
            <a:off x="495300" y="43815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00A6A6"/>
                </a:solidFill>
                <a:latin typeface="Noto Sans CJK SC"/>
                <a:ea typeface="Noto Sans CJK SC"/>
                <a:cs typeface="Noto Sans CJK SC"/>
              </a:defRPr>
            </a:pPr>
            <a:r>
              <a:rPr sz="1350" b="1">
                <a:solidFill>
                  <a:srgbClr val="00A6A6"/>
                </a:solidFill>
                <a:latin typeface="Noto Sans CJK SC"/>
                <a:ea typeface="Noto Sans CJK SC"/>
                <a:cs typeface="Noto Sans CJK SC"/>
              </a:rPr>
              <a:t>02</a:t>
            </a:r>
            <a:endParaRPr sz="1350" b="1">
              <a:solidFill>
                <a:srgbClr val="00A6A6"/>
              </a:solidFill>
              <a:latin typeface="Noto Sans CJK SC"/>
              <a:ea typeface="Noto Sans CJK SC"/>
              <a:cs typeface="Noto Sans CJK SC"/>
            </a:endParaRPr>
          </a:p>
        </p:txBody>
      </p:sp>
      <p:sp>
        <p:nvSpPr>
          <p:cNvPr id="110" name="矩形 9"/>
          <p:cNvSpPr>
            <a:spLocks noGrp="1"/>
          </p:cNvSpPr>
          <p:nvPr/>
        </p:nvSpPr>
        <p:spPr>
          <a:xfrm>
            <a:off x="1028700" y="43719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B2 Grounded-SAM 2 数据引擎</a:t>
            </a:r>
            <a:endParaRPr sz="1500" b="1">
              <a:solidFill>
                <a:srgbClr val="111827"/>
              </a:solidFill>
              <a:latin typeface="Noto Sans CJK SC"/>
              <a:ea typeface="Noto Sans CJK SC"/>
              <a:cs typeface="Noto Sans CJK SC"/>
            </a:endParaRPr>
          </a:p>
        </p:txBody>
      </p:sp>
      <p:sp>
        <p:nvSpPr>
          <p:cNvPr id="111" name="矩形 10"/>
          <p:cNvSpPr>
            <a:spLocks noGrp="1"/>
          </p:cNvSpPr>
          <p:nvPr/>
        </p:nvSpPr>
        <p:spPr>
          <a:xfrm>
            <a:off x="11049000" y="6191250"/>
            <a:ext cx="685800" cy="323850"/>
          </a:xfrm>
          <a:prstGeom prst="rect">
            <a:avLst/>
          </a:prstGeom>
          <a:noFill/>
          <a:ln w="0">
            <a:noFill/>
            <a:prstDash val="solid"/>
          </a:ln>
        </p:spPr>
        <p:txBody>
          <a:bodyPr wrap="square" lIns="0" tIns="0" rIns="0" bIns="0" anchor="t">
            <a:normAutofit/>
          </a:bodyPr>
          <a:lstStyle/>
          <a:p>
            <a:pPr algn="r">
              <a:lnSpc>
                <a:spcPct val="108000"/>
              </a:lnSpc>
              <a:buNone/>
              <a:defRPr sz="1050" b="1">
                <a:solidFill>
                  <a:srgbClr val="667085"/>
                </a:solidFill>
                <a:latin typeface="Noto Sans CJK SC"/>
                <a:ea typeface="Noto Sans CJK SC"/>
                <a:cs typeface="Noto Sans CJK SC"/>
              </a:defRPr>
            </a:pPr>
            <a:r>
              <a:rPr sz="1050" b="1">
                <a:solidFill>
                  <a:srgbClr val="667085"/>
                </a:solidFill>
                <a:latin typeface="Noto Sans CJK SC"/>
                <a:ea typeface="Noto Sans CJK SC"/>
                <a:cs typeface="Noto Sans CJK SC"/>
              </a:rPr>
              <a:t>12</a:t>
            </a:r>
            <a:endParaRPr sz="1050" b="1">
              <a:solidFill>
                <a:srgbClr val="667085"/>
              </a:solidFill>
              <a:latin typeface="Noto Sans CJK SC"/>
              <a:ea typeface="Noto Sans CJK SC"/>
              <a:cs typeface="Noto Sans CJK SC"/>
            </a:endParaRPr>
          </a:p>
        </p:txBody>
      </p:sp>
    </p:spTree>
  </p:cSld>
  <p:clrMapOvr>
    <a:masterClrMapping/>
  </p:clrMapOvr>
</p:sld>
</file>

<file path=ppt/slides/slide15.xml><?xml version="1.0" encoding="utf-8"?>
<p:sld xmlns:a="http://schemas.openxmlformats.org/drawingml/2006/main" xmlns:p="http://schemas.openxmlformats.org/presentationml/2006/main">
  <p:cSld>
    <p:bg>
      <p:bgPr>
        <a:solidFill>
          <a:srgbClr val="FFFFFF"/>
        </a:solidFill>
        <a:effectLst/>
      </p:bgPr>
    </p:bg>
    <p:spTree>
      <p:nvGrpSpPr>
        <p:cNvPr id="112" name=""/>
        <p:cNvGrpSpPr/>
        <p:nvPr/>
      </p:nvGrpSpPr>
      <p:grpSpPr>
        <a:xfrm>
          <a:off x="0" y="0"/>
          <a:ext cx="0" cy="0"/>
          <a:chOff x="0" y="0"/>
          <a:chExt cx="0" cy="0"/>
        </a:xfrm>
      </p:grpSpPr>
      <p:sp>
        <p:nvSpPr>
          <p:cNvPr id="113"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00A6A6"/>
                </a:solidFill>
                <a:latin typeface="Noto Sans CJK SC"/>
                <a:ea typeface="Noto Sans CJK SC"/>
                <a:cs typeface="Noto Sans CJK SC"/>
              </a:defRPr>
            </a:pPr>
            <a:r>
              <a:rPr sz="1125" b="1">
                <a:solidFill>
                  <a:srgbClr val="00A6A6"/>
                </a:solidFill>
                <a:latin typeface="Noto Sans CJK SC"/>
                <a:ea typeface="Noto Sans CJK SC"/>
                <a:cs typeface="Noto Sans CJK SC"/>
              </a:rPr>
              <a:t>THEME B  /  B1</a:t>
            </a:r>
            <a:endParaRPr sz="1125" b="1">
              <a:solidFill>
                <a:srgbClr val="00A6A6"/>
              </a:solidFill>
              <a:latin typeface="Noto Sans CJK SC"/>
              <a:ea typeface="Noto Sans CJK SC"/>
              <a:cs typeface="Noto Sans CJK SC"/>
            </a:endParaRPr>
          </a:p>
        </p:txBody>
      </p:sp>
      <p:sp>
        <p:nvSpPr>
          <p:cNvPr id="114"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文本条件路由：让“查什么”决定“用哪个专家”</a:t>
            </a:r>
            <a:endParaRPr sz="2925" b="1">
              <a:solidFill>
                <a:srgbClr val="111827"/>
              </a:solidFill>
              <a:latin typeface="Noto Sans CJK SC"/>
              <a:ea typeface="Noto Sans CJK SC"/>
              <a:cs typeface="Noto Sans CJK SC"/>
            </a:endParaRPr>
          </a:p>
        </p:txBody>
      </p:sp>
      <p:sp>
        <p:nvSpPr>
          <p:cNvPr id="115" name="矩形 2"/>
          <p:cNvSpPr>
            <a:spLocks noGrp="1"/>
          </p:cNvSpPr>
          <p:nvPr/>
        </p:nvSpPr>
        <p:spPr>
          <a:xfrm>
            <a:off x="457200" y="1352550"/>
            <a:ext cx="11277600" cy="28575"/>
          </a:xfrm>
          <a:prstGeom prst="rect">
            <a:avLst/>
          </a:prstGeom>
          <a:solidFill>
            <a:srgbClr val="00A6A6"/>
          </a:solidFill>
          <a:ln w="9525">
            <a:solidFill>
              <a:srgbClr val="00A6A6"/>
            </a:solidFill>
            <a:prstDash val="solid"/>
          </a:ln>
        </p:spPr>
        <p:txBody>
          <a:bodyPr/>
          <a:p/>
        </p:txBody>
      </p:sp>
      <p:sp>
        <p:nvSpPr>
          <p:cNvPr id="116"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6A6"/>
                </a:solidFill>
                <a:latin typeface="Noto Sans CJK SC"/>
                <a:ea typeface="Noto Sans CJK SC"/>
                <a:cs typeface="Noto Sans CJK SC"/>
              </a:defRPr>
            </a:pPr>
            <a:r>
              <a:rPr sz="1275" b="1">
                <a:solidFill>
                  <a:srgbClr val="00A6A6"/>
                </a:solidFill>
                <a:latin typeface="Noto Sans CJK SC"/>
                <a:ea typeface="Noto Sans CJK SC"/>
                <a:cs typeface="Noto Sans CJK SC"/>
              </a:rPr>
              <a:t>核心问题</a:t>
            </a:r>
            <a:endParaRPr sz="1275" b="1">
              <a:solidFill>
                <a:srgbClr val="00A6A6"/>
              </a:solidFill>
              <a:latin typeface="Noto Sans CJK SC"/>
              <a:ea typeface="Noto Sans CJK SC"/>
              <a:cs typeface="Noto Sans CJK SC"/>
            </a:endParaRPr>
          </a:p>
        </p:txBody>
      </p:sp>
      <p:sp>
        <p:nvSpPr>
          <p:cNvPr id="117"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文本嵌入能否参与路由，使新类别的语义直接影响 MoT / TaskRouter 的专家选择？</a:t>
            </a:r>
            <a:endParaRPr sz="1650" b="1">
              <a:solidFill>
                <a:srgbClr val="111827"/>
              </a:solidFill>
              <a:latin typeface="Noto Sans CJK SC"/>
              <a:ea typeface="Noto Sans CJK SC"/>
              <a:cs typeface="Noto Sans CJK SC"/>
            </a:endParaRPr>
          </a:p>
        </p:txBody>
      </p:sp>
      <p:sp>
        <p:nvSpPr>
          <p:cNvPr id="118"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6A6"/>
                </a:solidFill>
                <a:latin typeface="Noto Sans CJK SC"/>
                <a:ea typeface="Noto Sans CJK SC"/>
                <a:cs typeface="Noto Sans CJK SC"/>
              </a:defRPr>
            </a:pPr>
            <a:r>
              <a:rPr sz="1275" b="1">
                <a:solidFill>
                  <a:srgbClr val="00A6A6"/>
                </a:solidFill>
                <a:latin typeface="Noto Sans CJK SC"/>
                <a:ea typeface="Noto Sans CJK SC"/>
                <a:cs typeface="Noto Sans CJK SC"/>
              </a:rPr>
              <a:t>仓库切入 / 关键提醒</a:t>
            </a:r>
            <a:endParaRPr sz="1275" b="1">
              <a:solidFill>
                <a:srgbClr val="00A6A6"/>
              </a:solidFill>
              <a:latin typeface="Noto Sans CJK SC"/>
              <a:ea typeface="Noto Sans CJK SC"/>
              <a:cs typeface="Noto Sans CJK SC"/>
            </a:endParaRPr>
          </a:p>
        </p:txBody>
      </p:sp>
      <p:sp>
        <p:nvSpPr>
          <p:cNvPr id="119"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新增 aux loss 必须注册到 collect_aux_loss 白名单，否则会被静默跳过。</a:t>
            </a:r>
            <a:endParaRPr sz="1275" b="0">
              <a:solidFill>
                <a:srgbClr val="667085"/>
              </a:solidFill>
              <a:latin typeface="Noto Sans CJK SC"/>
              <a:ea typeface="Noto Sans CJK SC"/>
              <a:cs typeface="Noto Sans CJK SC"/>
            </a:endParaRPr>
          </a:p>
        </p:txBody>
      </p:sp>
      <p:sp>
        <p:nvSpPr>
          <p:cNvPr id="120"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6A6"/>
                </a:solidFill>
                <a:latin typeface="Noto Sans CJK SC"/>
                <a:ea typeface="Noto Sans CJK SC"/>
                <a:cs typeface="Noto Sans CJK SC"/>
              </a:defRPr>
            </a:pPr>
            <a:r>
              <a:rPr sz="1275" b="1">
                <a:solidFill>
                  <a:srgbClr val="00A6A6"/>
                </a:solidFill>
                <a:latin typeface="Noto Sans CJK SC"/>
                <a:ea typeface="Noto Sans CJK SC"/>
                <a:cs typeface="Noto Sans CJK SC"/>
              </a:rPr>
              <a:t>数据与环境</a:t>
            </a:r>
            <a:endParaRPr sz="1275" b="1">
              <a:solidFill>
                <a:srgbClr val="00A6A6"/>
              </a:solidFill>
              <a:latin typeface="Noto Sans CJK SC"/>
              <a:ea typeface="Noto Sans CJK SC"/>
              <a:cs typeface="Noto Sans CJK SC"/>
            </a:endParaRPr>
          </a:p>
        </p:txBody>
      </p:sp>
      <p:sp>
        <p:nvSpPr>
          <p:cNvPr id="121"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 base/new 约 48/17 类；算力中高，建议 A100 或 2×4090。</a:t>
            </a:r>
            <a:endParaRPr sz="1275" b="0">
              <a:solidFill>
                <a:srgbClr val="111827"/>
              </a:solidFill>
              <a:latin typeface="Noto Sans CJK SC"/>
              <a:ea typeface="Noto Sans CJK SC"/>
              <a:cs typeface="Noto Sans CJK SC"/>
            </a:endParaRPr>
          </a:p>
        </p:txBody>
      </p:sp>
      <p:sp>
        <p:nvSpPr>
          <p:cNvPr id="122"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123"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尺度失配时冻结视觉主干只训投影层；失败可降级为路由可解释性研究。</a:t>
            </a:r>
            <a:endParaRPr sz="1200" b="0">
              <a:solidFill>
                <a:srgbClr val="667085"/>
              </a:solidFill>
              <a:latin typeface="Noto Sans CJK SC"/>
              <a:ea typeface="Noto Sans CJK SC"/>
              <a:cs typeface="Noto Sans CJK SC"/>
            </a:endParaRPr>
          </a:p>
        </p:txBody>
      </p:sp>
      <p:sp>
        <p:nvSpPr>
          <p:cNvPr id="124"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P0｜跑通轻量开放词汇基线：冻结 CLIP 文本编码器，与 yolo-master 视觉特征做最简对齐。</a:t>
            </a:r>
            <a:endParaRPr sz="1275" b="1">
              <a:solidFill>
                <a:srgbClr val="111827"/>
              </a:solidFill>
              <a:latin typeface="Noto Sans CJK SC"/>
              <a:ea typeface="Noto Sans CJK SC"/>
              <a:cs typeface="Noto Sans CJK SC"/>
            </a:endParaRPr>
          </a:p>
        </p:txBody>
      </p:sp>
      <p:sp>
        <p:nvSpPr>
          <p:cNvPr id="125" name="圆角矩形 12"/>
          <p:cNvSpPr>
            <a:spLocks noGrp="1"/>
          </p:cNvSpPr>
          <p:nvPr/>
        </p:nvSpPr>
        <p:spPr>
          <a:xfrm>
            <a:off x="4762500" y="2438400"/>
            <a:ext cx="6896100" cy="723900"/>
          </a:xfrm>
          <a:prstGeom prst="roundRect">
            <a:avLst>
              <a:gd name="adj" fmla="val 10526"/>
            </a:avLst>
          </a:prstGeom>
          <a:solidFill>
            <a:srgbClr val="E5F8F7"/>
          </a:solidFill>
          <a:ln w="9525">
            <a:solidFill>
              <a:srgbClr val="00A6A6"/>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P1｜实现视觉 + 文本双条件路由；在 COCO base/new split 上取得非随机的新类 zero-shot AP。</a:t>
            </a:r>
            <a:endParaRPr sz="1275" b="1">
              <a:solidFill>
                <a:srgbClr val="111827"/>
              </a:solidFill>
              <a:latin typeface="Noto Sans CJK SC"/>
              <a:ea typeface="Noto Sans CJK SC"/>
              <a:cs typeface="Noto Sans CJK SC"/>
            </a:endParaRPr>
          </a:p>
        </p:txBody>
      </p:sp>
      <p:sp>
        <p:nvSpPr>
          <p:cNvPr id="126"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P2｜与 Dynamic-DINO 的细粒度 MoE 思路对比，并解释文本语义→专家偏好的映射。</a:t>
            </a:r>
            <a:endParaRPr sz="1275" b="1">
              <a:solidFill>
                <a:srgbClr val="111827"/>
              </a:solidFill>
              <a:latin typeface="Noto Sans CJK SC"/>
              <a:ea typeface="Noto Sans CJK SC"/>
              <a:cs typeface="Noto Sans CJK SC"/>
            </a:endParaRPr>
          </a:p>
        </p:txBody>
      </p:sp>
      <p:sp>
        <p:nvSpPr>
          <p:cNvPr id="127"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6A6"/>
                </a:solidFill>
                <a:latin typeface="Noto Sans CJK SC"/>
                <a:ea typeface="Noto Sans CJK SC"/>
                <a:cs typeface="Noto Sans CJK SC"/>
              </a:defRPr>
            </a:pPr>
            <a:r>
              <a:rPr sz="1275" b="1">
                <a:solidFill>
                  <a:srgbClr val="00A6A6"/>
                </a:solidFill>
                <a:latin typeface="Noto Sans CJK SC"/>
                <a:ea typeface="Noto Sans CJK SC"/>
                <a:cs typeface="Noto Sans CJK SC"/>
              </a:rPr>
              <a:t>六周路径</a:t>
            </a:r>
            <a:endParaRPr sz="1275" b="1">
              <a:solidFill>
                <a:srgbClr val="00A6A6"/>
              </a:solidFill>
              <a:latin typeface="Noto Sans CJK SC"/>
              <a:ea typeface="Noto Sans CJK SC"/>
              <a:cs typeface="Noto Sans CJK SC"/>
            </a:endParaRPr>
          </a:p>
        </p:txBody>
      </p:sp>
      <p:sp>
        <p:nvSpPr>
          <p:cNvPr id="128"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29"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OVD 基线</a:t>
            </a:r>
            <a:endParaRPr sz="1050" b="1">
              <a:solidFill>
                <a:srgbClr val="111827"/>
              </a:solidFill>
              <a:latin typeface="Noto Sans CJK SC"/>
              <a:ea typeface="Noto Sans CJK SC"/>
              <a:cs typeface="Noto Sans CJK SC"/>
            </a:endParaRPr>
          </a:p>
        </p:txBody>
      </p:sp>
      <p:sp>
        <p:nvSpPr>
          <p:cNvPr id="130"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31"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双输入原型</a:t>
            </a:r>
            <a:endParaRPr sz="1050" b="1">
              <a:solidFill>
                <a:srgbClr val="111827"/>
              </a:solidFill>
              <a:latin typeface="Noto Sans CJK SC"/>
              <a:ea typeface="Noto Sans CJK SC"/>
              <a:cs typeface="Noto Sans CJK SC"/>
            </a:endParaRPr>
          </a:p>
        </p:txBody>
      </p:sp>
      <p:sp>
        <p:nvSpPr>
          <p:cNvPr id="132"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33"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fontScale="97096"/>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base/new 训练</a:t>
            </a:r>
            <a:endParaRPr sz="1050" b="1">
              <a:solidFill>
                <a:srgbClr val="111827"/>
              </a:solidFill>
              <a:latin typeface="Noto Sans CJK SC"/>
              <a:ea typeface="Noto Sans CJK SC"/>
              <a:cs typeface="Noto Sans CJK SC"/>
            </a:endParaRPr>
          </a:p>
        </p:txBody>
      </p:sp>
      <p:sp>
        <p:nvSpPr>
          <p:cNvPr id="134"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35"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路由热图</a:t>
            </a:r>
            <a:endParaRPr sz="1050" b="1">
              <a:solidFill>
                <a:srgbClr val="111827"/>
              </a:solidFill>
              <a:latin typeface="Noto Sans CJK SC"/>
              <a:ea typeface="Noto Sans CJK SC"/>
              <a:cs typeface="Noto Sans CJK SC"/>
            </a:endParaRPr>
          </a:p>
        </p:txBody>
      </p:sp>
      <p:sp>
        <p:nvSpPr>
          <p:cNvPr id="136"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37"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消融 + PR</a:t>
            </a:r>
            <a:endParaRPr sz="1050" b="1">
              <a:solidFill>
                <a:srgbClr val="111827"/>
              </a:solidFill>
              <a:latin typeface="Noto Sans CJK SC"/>
              <a:ea typeface="Noto Sans CJK SC"/>
              <a:cs typeface="Noto Sans CJK SC"/>
            </a:endParaRPr>
          </a:p>
        </p:txBody>
      </p:sp>
      <p:sp>
        <p:nvSpPr>
          <p:cNvPr id="138" name="圆角矩形 25"/>
          <p:cNvSpPr>
            <a:spLocks noGrp="1"/>
          </p:cNvSpPr>
          <p:nvPr/>
        </p:nvSpPr>
        <p:spPr>
          <a:xfrm>
            <a:off x="10525125" y="4610100"/>
            <a:ext cx="1000125" cy="457200"/>
          </a:xfrm>
          <a:prstGeom prst="roundRect">
            <a:avLst>
              <a:gd name="adj" fmla="val 12500"/>
            </a:avLst>
          </a:prstGeom>
          <a:solidFill>
            <a:srgbClr val="00A6A6"/>
          </a:solidFill>
          <a:ln w="9525">
            <a:solidFill>
              <a:srgbClr val="00A6A6"/>
            </a:solidFill>
            <a:prstDash val="solid"/>
          </a:ln>
        </p:spPr>
        <p:txBody>
          <a:bodyPr/>
          <a:p/>
        </p:txBody>
      </p:sp>
      <p:sp>
        <p:nvSpPr>
          <p:cNvPr id="139"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论文级讨论</a:t>
            </a:r>
            <a:endParaRPr sz="1050" b="1">
              <a:solidFill>
                <a:srgbClr val="FFFFFF"/>
              </a:solidFill>
              <a:latin typeface="Noto Sans CJK SC"/>
              <a:ea typeface="Noto Sans CJK SC"/>
              <a:cs typeface="Noto Sans CJK SC"/>
            </a:endParaRPr>
          </a:p>
        </p:txBody>
      </p:sp>
      <p:sp>
        <p:nvSpPr>
          <p:cNvPr id="140"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00A6A6"/>
                </a:solidFill>
                <a:latin typeface="Noto Sans CJK SC"/>
                <a:ea typeface="Noto Sans CJK SC"/>
                <a:cs typeface="Noto Sans CJK SC"/>
              </a:defRPr>
            </a:pPr>
            <a:r>
              <a:rPr sz="1200" b="1">
                <a:solidFill>
                  <a:srgbClr val="00A6A6"/>
                </a:solidFill>
                <a:latin typeface="Noto Sans CJK SC"/>
                <a:ea typeface="Noto Sans CJK SC"/>
                <a:cs typeface="Noto Sans CJK SC"/>
              </a:rPr>
              <a:t>交付物</a:t>
            </a:r>
            <a:endParaRPr sz="1200" b="1">
              <a:solidFill>
                <a:srgbClr val="00A6A6"/>
              </a:solidFill>
              <a:latin typeface="Noto Sans CJK SC"/>
              <a:ea typeface="Noto Sans CJK SC"/>
              <a:cs typeface="Noto Sans CJK SC"/>
            </a:endParaRPr>
          </a:p>
        </p:txBody>
      </p:sp>
      <p:sp>
        <p:nvSpPr>
          <p:cNvPr id="141"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文本路由模块 PR、zero-shot AP、文本→专家可视化、设计文档。</a:t>
            </a:r>
            <a:endParaRPr sz="1200" b="0">
              <a:solidFill>
                <a:srgbClr val="111827"/>
              </a:solidFill>
              <a:latin typeface="Noto Sans CJK SC"/>
              <a:ea typeface="Noto Sans CJK SC"/>
              <a:cs typeface="Noto Sans CJK SC"/>
            </a:endParaRPr>
          </a:p>
        </p:txBody>
      </p:sp>
      <p:sp>
        <p:nvSpPr>
          <p:cNvPr id="142"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00A6A6"/>
                </a:solidFill>
                <a:latin typeface="Noto Sans CJK SC"/>
                <a:ea typeface="Noto Sans CJK SC"/>
                <a:cs typeface="Noto Sans CJK SC"/>
              </a:defRPr>
            </a:pPr>
            <a:r>
              <a:rPr sz="1200" b="1">
                <a:solidFill>
                  <a:srgbClr val="00A6A6"/>
                </a:solidFill>
                <a:latin typeface="Noto Sans CJK SC"/>
                <a:ea typeface="Noto Sans CJK SC"/>
                <a:cs typeface="Noto Sans CJK SC"/>
              </a:rPr>
              <a:t>验收线</a:t>
            </a:r>
            <a:endParaRPr sz="1200" b="1">
              <a:solidFill>
                <a:srgbClr val="00A6A6"/>
              </a:solidFill>
              <a:latin typeface="Noto Sans CJK SC"/>
              <a:ea typeface="Noto Sans CJK SC"/>
              <a:cs typeface="Noto Sans CJK SC"/>
            </a:endParaRPr>
          </a:p>
        </p:txBody>
      </p:sp>
      <p:sp>
        <p:nvSpPr>
          <p:cNvPr id="143"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new 类 AP 高于随机/封闭基线；消融证明文本条件有效。</a:t>
            </a:r>
            <a:endParaRPr sz="1200" b="1">
              <a:solidFill>
                <a:srgbClr val="111827"/>
              </a:solidFill>
              <a:latin typeface="Noto Sans CJK SC"/>
              <a:ea typeface="Noto Sans CJK SC"/>
              <a:cs typeface="Noto Sans CJK SC"/>
            </a:endParaRPr>
          </a:p>
        </p:txBody>
      </p:sp>
      <p:sp>
        <p:nvSpPr>
          <p:cNvPr id="144"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145"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146" name="矩形 33"/>
          <p:cNvSpPr>
            <a:spLocks noGrp="1"/>
          </p:cNvSpPr>
          <p:nvPr/>
        </p:nvSpPr>
        <p:spPr>
          <a:xfrm>
            <a:off x="11068050" y="6438900"/>
            <a:ext cx="419100" cy="28575"/>
          </a:xfrm>
          <a:prstGeom prst="rect">
            <a:avLst/>
          </a:prstGeom>
          <a:solidFill>
            <a:srgbClr val="00A6A6"/>
          </a:solidFill>
          <a:ln w="9525">
            <a:solidFill>
              <a:srgbClr val="00A6A6"/>
            </a:solidFill>
            <a:prstDash val="solid"/>
          </a:ln>
        </p:spPr>
        <p:txBody>
          <a:bodyPr/>
          <a:p/>
        </p:txBody>
      </p:sp>
      <p:sp>
        <p:nvSpPr>
          <p:cNvPr id="147"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13</a:t>
            </a:r>
            <a:endParaRPr sz="975" b="1">
              <a:solidFill>
                <a:srgbClr val="667085"/>
              </a:solidFill>
              <a:latin typeface="Noto Sans CJK SC"/>
              <a:ea typeface="Noto Sans CJK SC"/>
              <a:cs typeface="Noto Sans CJK SC"/>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48" name=""/>
        <p:cNvGrpSpPr/>
        <p:nvPr/>
      </p:nvGrpSpPr>
      <p:grpSpPr>
        <a:xfrm>
          <a:off x="0" y="0"/>
          <a:ext cx="0" cy="0"/>
          <a:chOff x="0" y="0"/>
          <a:chExt cx="0" cy="0"/>
        </a:xfrm>
      </p:grpSpPr>
      <p:pic>
        <p:nvPicPr>
          <p:cNvPr id="149" name="图片 1"/>
          <p:cNvPicPr>
            <a:picLocks noChangeAspect="1"/>
          </p:cNvPicPr>
          <p:nvPr/>
        </p:nvPicPr>
        <p:blipFill>
          <a:blip r:embed="rId2"/>
          <a:srcRect/>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50" name=""/>
        <p:cNvGrpSpPr/>
        <p:nvPr/>
      </p:nvGrpSpPr>
      <p:grpSpPr>
        <a:xfrm>
          <a:off x="0" y="0"/>
          <a:ext cx="0" cy="0"/>
          <a:chOff x="0" y="0"/>
          <a:chExt cx="0" cy="0"/>
        </a:xfrm>
      </p:grpSpPr>
      <p:pic>
        <p:nvPicPr>
          <p:cNvPr id="151" name="图片 14"/>
          <p:cNvPicPr>
            <a:picLocks noChangeAspect="1"/>
          </p:cNvPicPr>
          <p:nvPr/>
        </p:nvPicPr>
        <p:blipFill>
          <a:blip r:embed="rId2"/>
          <a:srcRect t="27" b="27"/>
          <a:stretch>
            <a:fillRect/>
          </a:stretch>
        </p:blipFill>
        <p:spPr>
          <a:xfrm>
            <a:off x="0" y="0"/>
            <a:ext cx="12192000" cy="6858000"/>
          </a:xfrm>
          <a:prstGeom prst="rect">
            <a:avLst/>
          </a:prstGeom>
        </p:spPr>
      </p:pic>
      <p:sp>
        <p:nvSpPr>
          <p:cNvPr id="152"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153" name="矩形 2"/>
          <p:cNvSpPr>
            <a:spLocks noGrp="1"/>
          </p:cNvSpPr>
          <p:nvPr/>
        </p:nvSpPr>
        <p:spPr>
          <a:xfrm>
            <a:off x="495300" y="514350"/>
            <a:ext cx="2095500" cy="3048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THEME C</a:t>
            </a:r>
            <a:endParaRPr sz="1275" b="1">
              <a:solidFill>
                <a:srgbClr val="FF7A00"/>
              </a:solidFill>
              <a:latin typeface="Noto Sans CJK SC"/>
              <a:ea typeface="Noto Sans CJK SC"/>
              <a:cs typeface="Noto Sans CJK SC"/>
            </a:endParaRPr>
          </a:p>
        </p:txBody>
      </p:sp>
      <p:sp>
        <p:nvSpPr>
          <p:cNvPr id="154" name="矩形 3"/>
          <p:cNvSpPr>
            <a:spLocks noGrp="1"/>
          </p:cNvSpPr>
          <p:nvPr/>
        </p:nvSpPr>
        <p:spPr>
          <a:xfrm>
            <a:off x="495300" y="1238250"/>
            <a:ext cx="4476750" cy="60960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应用竞赛式</a:t>
            </a:r>
            <a:endParaRPr sz="3150" b="1">
              <a:solidFill>
                <a:srgbClr val="111827"/>
              </a:solidFill>
              <a:latin typeface="Noto Sans CJK SC"/>
              <a:ea typeface="Noto Sans CJK SC"/>
              <a:cs typeface="Noto Sans CJK SC"/>
            </a:endParaRPr>
          </a:p>
        </p:txBody>
      </p:sp>
      <p:sp>
        <p:nvSpPr>
          <p:cNvPr id="155" name="矩形 4"/>
          <p:cNvSpPr>
            <a:spLocks noGrp="1"/>
          </p:cNvSpPr>
          <p:nvPr/>
        </p:nvSpPr>
        <p:spPr>
          <a:xfrm>
            <a:off x="495300" y="2076450"/>
            <a:ext cx="4095750" cy="1047750"/>
          </a:xfrm>
          <a:prstGeom prst="rect">
            <a:avLst/>
          </a:prstGeom>
          <a:noFill/>
          <a:ln w="0">
            <a:noFill/>
            <a:prstDash val="solid"/>
          </a:ln>
        </p:spPr>
        <p:txBody>
          <a:bodyPr wrap="square" lIns="0" tIns="0" rIns="0" bIns="0" anchor="t">
            <a:normAutofit/>
          </a:bodyPr>
          <a:lstStyle/>
          <a:p>
            <a:pPr algn="l">
              <a:lnSpc>
                <a:spcPct val="108000"/>
              </a:lnSpc>
              <a:buNone/>
              <a:defRPr sz="1875" b="0">
                <a:solidFill>
                  <a:srgbClr val="667085"/>
                </a:solidFill>
                <a:latin typeface="Noto Sans CJK SC"/>
                <a:ea typeface="Noto Sans CJK SC"/>
                <a:cs typeface="Noto Sans CJK SC"/>
              </a:defRPr>
            </a:pPr>
            <a:r>
              <a:rPr sz="1875" b="0">
                <a:solidFill>
                  <a:srgbClr val="667085"/>
                </a:solidFill>
                <a:latin typeface="Noto Sans CJK SC"/>
                <a:ea typeface="Noto Sans CJK SC"/>
                <a:cs typeface="Noto Sans CJK SC"/>
              </a:rPr>
              <a:t>用真实榜单与真实行业数据交付可见成果</a:t>
            </a:r>
            <a:endParaRPr sz="1875" b="0">
              <a:solidFill>
                <a:srgbClr val="667085"/>
              </a:solidFill>
              <a:latin typeface="Noto Sans CJK SC"/>
              <a:ea typeface="Noto Sans CJK SC"/>
              <a:cs typeface="Noto Sans CJK SC"/>
            </a:endParaRPr>
          </a:p>
        </p:txBody>
      </p:sp>
      <p:sp>
        <p:nvSpPr>
          <p:cNvPr id="156" name="矩形 5"/>
          <p:cNvSpPr>
            <a:spLocks noGrp="1"/>
          </p:cNvSpPr>
          <p:nvPr/>
        </p:nvSpPr>
        <p:spPr>
          <a:xfrm>
            <a:off x="495300" y="3381375"/>
            <a:ext cx="3238500" cy="47625"/>
          </a:xfrm>
          <a:prstGeom prst="rect">
            <a:avLst/>
          </a:prstGeom>
          <a:solidFill>
            <a:srgbClr val="FF7A00"/>
          </a:solidFill>
          <a:ln w="9525">
            <a:solidFill>
              <a:srgbClr val="FF7A00"/>
            </a:solidFill>
            <a:prstDash val="solid"/>
          </a:ln>
        </p:spPr>
        <p:txBody>
          <a:bodyPr/>
          <a:p/>
        </p:txBody>
      </p:sp>
      <p:sp>
        <p:nvSpPr>
          <p:cNvPr id="157" name="矩形 6"/>
          <p:cNvSpPr>
            <a:spLocks noGrp="1"/>
          </p:cNvSpPr>
          <p:nvPr/>
        </p:nvSpPr>
        <p:spPr>
          <a:xfrm>
            <a:off x="495300" y="37719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FF7A00"/>
                </a:solidFill>
                <a:latin typeface="Noto Sans CJK SC"/>
                <a:ea typeface="Noto Sans CJK SC"/>
                <a:cs typeface="Noto Sans CJK SC"/>
              </a:defRPr>
            </a:pPr>
            <a:r>
              <a:rPr sz="1350" b="1">
                <a:solidFill>
                  <a:srgbClr val="FF7A00"/>
                </a:solidFill>
                <a:latin typeface="Noto Sans CJK SC"/>
                <a:ea typeface="Noto Sans CJK SC"/>
                <a:cs typeface="Noto Sans CJK SC"/>
              </a:rPr>
              <a:t>01</a:t>
            </a:r>
            <a:endParaRPr sz="1350" b="1">
              <a:solidFill>
                <a:srgbClr val="FF7A00"/>
              </a:solidFill>
              <a:latin typeface="Noto Sans CJK SC"/>
              <a:ea typeface="Noto Sans CJK SC"/>
              <a:cs typeface="Noto Sans CJK SC"/>
            </a:endParaRPr>
          </a:p>
        </p:txBody>
      </p:sp>
      <p:sp>
        <p:nvSpPr>
          <p:cNvPr id="158" name="矩形 7"/>
          <p:cNvSpPr>
            <a:spLocks noGrp="1"/>
          </p:cNvSpPr>
          <p:nvPr/>
        </p:nvSpPr>
        <p:spPr>
          <a:xfrm>
            <a:off x="1028700" y="37623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C1 VisDrone 擂台</a:t>
            </a:r>
            <a:endParaRPr sz="1500" b="1">
              <a:solidFill>
                <a:srgbClr val="111827"/>
              </a:solidFill>
              <a:latin typeface="Noto Sans CJK SC"/>
              <a:ea typeface="Noto Sans CJK SC"/>
              <a:cs typeface="Noto Sans CJK SC"/>
            </a:endParaRPr>
          </a:p>
        </p:txBody>
      </p:sp>
      <p:sp>
        <p:nvSpPr>
          <p:cNvPr id="159" name="矩形 8"/>
          <p:cNvSpPr>
            <a:spLocks noGrp="1"/>
          </p:cNvSpPr>
          <p:nvPr/>
        </p:nvSpPr>
        <p:spPr>
          <a:xfrm>
            <a:off x="495300" y="43815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FF7A00"/>
                </a:solidFill>
                <a:latin typeface="Noto Sans CJK SC"/>
                <a:ea typeface="Noto Sans CJK SC"/>
                <a:cs typeface="Noto Sans CJK SC"/>
              </a:defRPr>
            </a:pPr>
            <a:r>
              <a:rPr sz="1350" b="1">
                <a:solidFill>
                  <a:srgbClr val="FF7A00"/>
                </a:solidFill>
                <a:latin typeface="Noto Sans CJK SC"/>
                <a:ea typeface="Noto Sans CJK SC"/>
                <a:cs typeface="Noto Sans CJK SC"/>
              </a:rPr>
              <a:t>02</a:t>
            </a:r>
            <a:endParaRPr sz="1350" b="1">
              <a:solidFill>
                <a:srgbClr val="FF7A00"/>
              </a:solidFill>
              <a:latin typeface="Noto Sans CJK SC"/>
              <a:ea typeface="Noto Sans CJK SC"/>
              <a:cs typeface="Noto Sans CJK SC"/>
            </a:endParaRPr>
          </a:p>
        </p:txBody>
      </p:sp>
      <p:sp>
        <p:nvSpPr>
          <p:cNvPr id="160" name="矩形 9"/>
          <p:cNvSpPr>
            <a:spLocks noGrp="1"/>
          </p:cNvSpPr>
          <p:nvPr/>
        </p:nvSpPr>
        <p:spPr>
          <a:xfrm>
            <a:off x="1028700" y="43719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C2 OBB × DOTA</a:t>
            </a:r>
            <a:endParaRPr sz="1500" b="1">
              <a:solidFill>
                <a:srgbClr val="111827"/>
              </a:solidFill>
              <a:latin typeface="Noto Sans CJK SC"/>
              <a:ea typeface="Noto Sans CJK SC"/>
              <a:cs typeface="Noto Sans CJK SC"/>
            </a:endParaRPr>
          </a:p>
        </p:txBody>
      </p:sp>
      <p:sp>
        <p:nvSpPr>
          <p:cNvPr id="161" name="矩形 10"/>
          <p:cNvSpPr>
            <a:spLocks noGrp="1"/>
          </p:cNvSpPr>
          <p:nvPr/>
        </p:nvSpPr>
        <p:spPr>
          <a:xfrm>
            <a:off x="495300" y="49911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FF7A00"/>
                </a:solidFill>
                <a:latin typeface="Noto Sans CJK SC"/>
                <a:ea typeface="Noto Sans CJK SC"/>
                <a:cs typeface="Noto Sans CJK SC"/>
              </a:defRPr>
            </a:pPr>
            <a:r>
              <a:rPr sz="1350" b="1">
                <a:solidFill>
                  <a:srgbClr val="FF7A00"/>
                </a:solidFill>
                <a:latin typeface="Noto Sans CJK SC"/>
                <a:ea typeface="Noto Sans CJK SC"/>
                <a:cs typeface="Noto Sans CJK SC"/>
              </a:rPr>
              <a:t>03</a:t>
            </a:r>
            <a:endParaRPr sz="1350" b="1">
              <a:solidFill>
                <a:srgbClr val="FF7A00"/>
              </a:solidFill>
              <a:latin typeface="Noto Sans CJK SC"/>
              <a:ea typeface="Noto Sans CJK SC"/>
              <a:cs typeface="Noto Sans CJK SC"/>
            </a:endParaRPr>
          </a:p>
        </p:txBody>
      </p:sp>
      <p:sp>
        <p:nvSpPr>
          <p:cNvPr id="162" name="矩形 11"/>
          <p:cNvSpPr>
            <a:spLocks noGrp="1"/>
          </p:cNvSpPr>
          <p:nvPr/>
        </p:nvSpPr>
        <p:spPr>
          <a:xfrm>
            <a:off x="1028700" y="49815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C3 V-PEFT 工业缺陷</a:t>
            </a:r>
            <a:endParaRPr sz="1500" b="1">
              <a:solidFill>
                <a:srgbClr val="111827"/>
              </a:solidFill>
              <a:latin typeface="Noto Sans CJK SC"/>
              <a:ea typeface="Noto Sans CJK SC"/>
              <a:cs typeface="Noto Sans CJK SC"/>
            </a:endParaRPr>
          </a:p>
        </p:txBody>
      </p:sp>
      <p:sp>
        <p:nvSpPr>
          <p:cNvPr id="163" name="矩形 12"/>
          <p:cNvSpPr>
            <a:spLocks noGrp="1"/>
          </p:cNvSpPr>
          <p:nvPr/>
        </p:nvSpPr>
        <p:spPr>
          <a:xfrm>
            <a:off x="11049000" y="6191250"/>
            <a:ext cx="685800" cy="323850"/>
          </a:xfrm>
          <a:prstGeom prst="rect">
            <a:avLst/>
          </a:prstGeom>
          <a:noFill/>
          <a:ln w="0">
            <a:noFill/>
            <a:prstDash val="solid"/>
          </a:ln>
        </p:spPr>
        <p:txBody>
          <a:bodyPr wrap="square" lIns="0" tIns="0" rIns="0" bIns="0" anchor="t">
            <a:normAutofit/>
          </a:bodyPr>
          <a:lstStyle/>
          <a:p>
            <a:pPr algn="r">
              <a:lnSpc>
                <a:spcPct val="108000"/>
              </a:lnSpc>
              <a:buNone/>
              <a:defRPr sz="1050" b="1">
                <a:solidFill>
                  <a:srgbClr val="667085"/>
                </a:solidFill>
                <a:latin typeface="Noto Sans CJK SC"/>
                <a:ea typeface="Noto Sans CJK SC"/>
                <a:cs typeface="Noto Sans CJK SC"/>
              </a:defRPr>
            </a:pPr>
            <a:r>
              <a:rPr sz="1050" b="1">
                <a:solidFill>
                  <a:srgbClr val="667085"/>
                </a:solidFill>
                <a:latin typeface="Noto Sans CJK SC"/>
                <a:ea typeface="Noto Sans CJK SC"/>
                <a:cs typeface="Noto Sans CJK SC"/>
              </a:rPr>
              <a:t>15</a:t>
            </a:r>
            <a:endParaRPr sz="1050" b="1">
              <a:solidFill>
                <a:srgbClr val="667085"/>
              </a:solidFill>
              <a:latin typeface="Noto Sans CJK SC"/>
              <a:ea typeface="Noto Sans CJK SC"/>
              <a:cs typeface="Noto Sans CJK SC"/>
            </a:endParaRPr>
          </a:p>
        </p:txBody>
      </p:sp>
    </p:spTree>
  </p:cSld>
  <p:clrMapOvr>
    <a:masterClrMapping/>
  </p:clrMapOvr>
</p:sld>
</file>

<file path=ppt/slides/slide18.xml><?xml version="1.0" encoding="utf-8"?>
<p:sld xmlns:a="http://schemas.openxmlformats.org/drawingml/2006/main" xmlns:p="http://schemas.openxmlformats.org/presentationml/2006/main">
  <p:cSld>
    <p:bg>
      <p:bgPr>
        <a:solidFill>
          <a:srgbClr val="FFFFFF"/>
        </a:solidFill>
        <a:effectLst/>
      </p:bgPr>
    </p:bg>
    <p:spTree>
      <p:nvGrpSpPr>
        <p:cNvPr id="164" name=""/>
        <p:cNvGrpSpPr/>
        <p:nvPr/>
      </p:nvGrpSpPr>
      <p:grpSpPr>
        <a:xfrm>
          <a:off x="0" y="0"/>
          <a:ext cx="0" cy="0"/>
          <a:chOff x="0" y="0"/>
          <a:chExt cx="0" cy="0"/>
        </a:xfrm>
      </p:grpSpPr>
      <p:sp>
        <p:nvSpPr>
          <p:cNvPr id="165"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FF7A00"/>
                </a:solidFill>
                <a:latin typeface="Noto Sans CJK SC"/>
                <a:ea typeface="Noto Sans CJK SC"/>
                <a:cs typeface="Noto Sans CJK SC"/>
              </a:defRPr>
            </a:pPr>
            <a:r>
              <a:rPr sz="1125" b="1">
                <a:solidFill>
                  <a:srgbClr val="FF7A00"/>
                </a:solidFill>
                <a:latin typeface="Noto Sans CJK SC"/>
                <a:ea typeface="Noto Sans CJK SC"/>
                <a:cs typeface="Noto Sans CJK SC"/>
              </a:rPr>
              <a:t>THEME C  /  C1</a:t>
            </a:r>
            <a:endParaRPr sz="1125" b="1">
              <a:solidFill>
                <a:srgbClr val="FF7A00"/>
              </a:solidFill>
              <a:latin typeface="Noto Sans CJK SC"/>
              <a:ea typeface="Noto Sans CJK SC"/>
              <a:cs typeface="Noto Sans CJK SC"/>
            </a:endParaRPr>
          </a:p>
        </p:txBody>
      </p:sp>
      <p:sp>
        <p:nvSpPr>
          <p:cNvPr id="166"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VisDrone 擂台：在同一预算下只比“武器本身”</a:t>
            </a:r>
            <a:endParaRPr sz="2925" b="1">
              <a:solidFill>
                <a:srgbClr val="111827"/>
              </a:solidFill>
              <a:latin typeface="Noto Sans CJK SC"/>
              <a:ea typeface="Noto Sans CJK SC"/>
              <a:cs typeface="Noto Sans CJK SC"/>
            </a:endParaRPr>
          </a:p>
        </p:txBody>
      </p:sp>
      <p:sp>
        <p:nvSpPr>
          <p:cNvPr id="167" name="矩形 2"/>
          <p:cNvSpPr>
            <a:spLocks noGrp="1"/>
          </p:cNvSpPr>
          <p:nvPr/>
        </p:nvSpPr>
        <p:spPr>
          <a:xfrm>
            <a:off x="457200" y="1352550"/>
            <a:ext cx="11277600" cy="28575"/>
          </a:xfrm>
          <a:prstGeom prst="rect">
            <a:avLst/>
          </a:prstGeom>
          <a:solidFill>
            <a:srgbClr val="FF7A00"/>
          </a:solidFill>
          <a:ln w="9525">
            <a:solidFill>
              <a:srgbClr val="FF7A00"/>
            </a:solidFill>
            <a:prstDash val="solid"/>
          </a:ln>
        </p:spPr>
        <p:txBody>
          <a:bodyPr/>
          <a:p/>
        </p:txBody>
      </p:sp>
      <p:sp>
        <p:nvSpPr>
          <p:cNvPr id="168"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核心问题</a:t>
            </a:r>
            <a:endParaRPr sz="1275" b="1">
              <a:solidFill>
                <a:srgbClr val="FF7A00"/>
              </a:solidFill>
              <a:latin typeface="Noto Sans CJK SC"/>
              <a:ea typeface="Noto Sans CJK SC"/>
              <a:cs typeface="Noto Sans CJK SC"/>
            </a:endParaRPr>
          </a:p>
        </p:txBody>
      </p:sp>
      <p:sp>
        <p:nvSpPr>
          <p:cNvPr id="169"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fontScale="98152"/>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ES-MoE、STAL、P2 高分辨率头与 Latent MoE，谁能在公平预算下稳定赢得小目标榜单？</a:t>
            </a:r>
            <a:endParaRPr sz="1650" b="1">
              <a:solidFill>
                <a:srgbClr val="111827"/>
              </a:solidFill>
              <a:latin typeface="Noto Sans CJK SC"/>
              <a:ea typeface="Noto Sans CJK SC"/>
              <a:cs typeface="Noto Sans CJK SC"/>
            </a:endParaRPr>
          </a:p>
        </p:txBody>
      </p:sp>
      <p:sp>
        <p:nvSpPr>
          <p:cNvPr id="170"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仓库切入 / 关键提醒</a:t>
            </a:r>
            <a:endParaRPr sz="1275" b="1">
              <a:solidFill>
                <a:srgbClr val="FF7A00"/>
              </a:solidFill>
              <a:latin typeface="Noto Sans CJK SC"/>
              <a:ea typeface="Noto Sans CJK SC"/>
              <a:cs typeface="Noto Sans CJK SC"/>
            </a:endParaRPr>
          </a:p>
        </p:txBody>
      </p:sp>
      <p:sp>
        <p:nvSpPr>
          <p:cNvPr id="171"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fontScale="96829"/>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以 README 的 ES-MoE-N 2.68M / 8.7G 为预算锚；统一 epoch、数据、增广与 10% held-out test。</a:t>
            </a:r>
            <a:endParaRPr sz="1275" b="0">
              <a:solidFill>
                <a:srgbClr val="667085"/>
              </a:solidFill>
              <a:latin typeface="Noto Sans CJK SC"/>
              <a:ea typeface="Noto Sans CJK SC"/>
              <a:cs typeface="Noto Sans CJK SC"/>
            </a:endParaRPr>
          </a:p>
        </p:txBody>
      </p:sp>
      <p:sp>
        <p:nvSpPr>
          <p:cNvPr id="172"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数据与环境</a:t>
            </a:r>
            <a:endParaRPr sz="1275" b="1">
              <a:solidFill>
                <a:srgbClr val="FF7A00"/>
              </a:solidFill>
              <a:latin typeface="Noto Sans CJK SC"/>
              <a:ea typeface="Noto Sans CJK SC"/>
              <a:cs typeface="Noto Sans CJK SC"/>
            </a:endParaRPr>
          </a:p>
        </p:txBody>
      </p:sp>
      <p:sp>
        <p:nvSpPr>
          <p:cNvPr id="173"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统一 VisDrone2019-DET 镜像；单卡可参赛。</a:t>
            </a:r>
            <a:endParaRPr sz="1275" b="0">
              <a:solidFill>
                <a:srgbClr val="111827"/>
              </a:solidFill>
              <a:latin typeface="Noto Sans CJK SC"/>
              <a:ea typeface="Noto Sans CJK SC"/>
              <a:cs typeface="Noto Sans CJK SC"/>
            </a:endParaRPr>
          </a:p>
        </p:txBody>
      </p:sp>
      <p:sp>
        <p:nvSpPr>
          <p:cNvPr id="174"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175"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W4 允许一次“转会”；原武器的失败分析仍计入成果。</a:t>
            </a:r>
            <a:endParaRPr sz="1200" b="0">
              <a:solidFill>
                <a:srgbClr val="667085"/>
              </a:solidFill>
              <a:latin typeface="Noto Sans CJK SC"/>
              <a:ea typeface="Noto Sans CJK SC"/>
              <a:cs typeface="Noto Sans CJK SC"/>
            </a:endParaRPr>
          </a:p>
        </p:txBody>
      </p:sp>
      <p:sp>
        <p:nvSpPr>
          <p:cNvPr id="176"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P0｜每组提交可复现的武器、训练配置与完整结果；榜单周更。</a:t>
            </a:r>
            <a:endParaRPr sz="1275" b="1">
              <a:solidFill>
                <a:srgbClr val="111827"/>
              </a:solidFill>
              <a:latin typeface="Noto Sans CJK SC"/>
              <a:ea typeface="Noto Sans CJK SC"/>
              <a:cs typeface="Noto Sans CJK SC"/>
            </a:endParaRPr>
          </a:p>
        </p:txBody>
      </p:sp>
      <p:sp>
        <p:nvSpPr>
          <p:cNvPr id="177" name="圆角矩形 12"/>
          <p:cNvSpPr>
            <a:spLocks noGrp="1"/>
          </p:cNvSpPr>
          <p:nvPr/>
        </p:nvSpPr>
        <p:spPr>
          <a:xfrm>
            <a:off x="4762500" y="243840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P1｜榜单前三名用多 seed 复核；均值最高且置信区间不重叠才是冠军。</a:t>
            </a:r>
            <a:endParaRPr sz="1275" b="1">
              <a:solidFill>
                <a:srgbClr val="111827"/>
              </a:solidFill>
              <a:latin typeface="Noto Sans CJK SC"/>
              <a:ea typeface="Noto Sans CJK SC"/>
              <a:cs typeface="Noto Sans CJK SC"/>
            </a:endParaRPr>
          </a:p>
        </p:txBody>
      </p:sp>
      <p:sp>
        <p:nvSpPr>
          <p:cNvPr id="178"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P2｜冠军方案沉淀为官方 tutorial 与配置文件，附完整技术报告。</a:t>
            </a:r>
            <a:endParaRPr sz="1275" b="1">
              <a:solidFill>
                <a:srgbClr val="111827"/>
              </a:solidFill>
              <a:latin typeface="Noto Sans CJK SC"/>
              <a:ea typeface="Noto Sans CJK SC"/>
              <a:cs typeface="Noto Sans CJK SC"/>
            </a:endParaRPr>
          </a:p>
        </p:txBody>
      </p:sp>
      <p:sp>
        <p:nvSpPr>
          <p:cNvPr id="179"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lang="zh-CN" sz="1275" b="1">
                <a:solidFill>
                  <a:srgbClr val="FF7A00"/>
                </a:solidFill>
                <a:latin typeface="Noto Sans CJK SC"/>
                <a:ea typeface="Noto Sans CJK SC"/>
                <a:cs typeface="Noto Sans CJK SC"/>
              </a:rPr>
              <a:t>六</a:t>
            </a:r>
            <a:r>
              <a:rPr sz="1275" b="1">
                <a:solidFill>
                  <a:srgbClr val="FF7A00"/>
                </a:solidFill>
                <a:latin typeface="Noto Sans CJK SC"/>
                <a:ea typeface="Noto Sans CJK SC"/>
                <a:cs typeface="Noto Sans CJK SC"/>
              </a:rPr>
              <a:t>周路径</a:t>
            </a:r>
            <a:endParaRPr sz="1275" b="1">
              <a:solidFill>
                <a:srgbClr val="FF7A00"/>
              </a:solidFill>
              <a:latin typeface="Noto Sans CJK SC"/>
              <a:ea typeface="Noto Sans CJK SC"/>
              <a:cs typeface="Noto Sans CJK SC"/>
            </a:endParaRPr>
          </a:p>
        </p:txBody>
      </p:sp>
      <p:sp>
        <p:nvSpPr>
          <p:cNvPr id="180"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81"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抽签/基线</a:t>
            </a:r>
            <a:endParaRPr sz="1050" b="1">
              <a:solidFill>
                <a:srgbClr val="111827"/>
              </a:solidFill>
              <a:latin typeface="Noto Sans CJK SC"/>
              <a:ea typeface="Noto Sans CJK SC"/>
              <a:cs typeface="Noto Sans CJK SC"/>
            </a:endParaRPr>
          </a:p>
        </p:txBody>
      </p:sp>
      <p:sp>
        <p:nvSpPr>
          <p:cNvPr id="182"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83"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武器接入</a:t>
            </a:r>
            <a:endParaRPr sz="1050" b="1">
              <a:solidFill>
                <a:srgbClr val="111827"/>
              </a:solidFill>
              <a:latin typeface="Noto Sans CJK SC"/>
              <a:ea typeface="Noto Sans CJK SC"/>
              <a:cs typeface="Noto Sans CJK SC"/>
            </a:endParaRPr>
          </a:p>
        </p:txBody>
      </p:sp>
      <p:sp>
        <p:nvSpPr>
          <p:cNvPr id="184"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85"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首轮榜单</a:t>
            </a:r>
            <a:endParaRPr sz="1050" b="1">
              <a:solidFill>
                <a:srgbClr val="111827"/>
              </a:solidFill>
              <a:latin typeface="Noto Sans CJK SC"/>
              <a:ea typeface="Noto Sans CJK SC"/>
              <a:cs typeface="Noto Sans CJK SC"/>
            </a:endParaRPr>
          </a:p>
        </p:txBody>
      </p:sp>
      <p:sp>
        <p:nvSpPr>
          <p:cNvPr id="186"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87"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交流/转会</a:t>
            </a:r>
            <a:endParaRPr sz="1050" b="1">
              <a:solidFill>
                <a:srgbClr val="111827"/>
              </a:solidFill>
              <a:latin typeface="Noto Sans CJK SC"/>
              <a:ea typeface="Noto Sans CJK SC"/>
              <a:cs typeface="Noto Sans CJK SC"/>
            </a:endParaRPr>
          </a:p>
        </p:txBody>
      </p:sp>
      <p:sp>
        <p:nvSpPr>
          <p:cNvPr id="188"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189"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多seed决赛</a:t>
            </a:r>
            <a:endParaRPr sz="1050" b="1">
              <a:solidFill>
                <a:srgbClr val="111827"/>
              </a:solidFill>
              <a:latin typeface="Noto Sans CJK SC"/>
              <a:ea typeface="Noto Sans CJK SC"/>
              <a:cs typeface="Noto Sans CJK SC"/>
            </a:endParaRPr>
          </a:p>
        </p:txBody>
      </p:sp>
      <p:sp>
        <p:nvSpPr>
          <p:cNvPr id="190" name="圆角矩形 25"/>
          <p:cNvSpPr>
            <a:spLocks noGrp="1"/>
          </p:cNvSpPr>
          <p:nvPr/>
        </p:nvSpPr>
        <p:spPr>
          <a:xfrm>
            <a:off x="10525125" y="4610100"/>
            <a:ext cx="1000125" cy="457200"/>
          </a:xfrm>
          <a:prstGeom prst="roundRect">
            <a:avLst>
              <a:gd name="adj" fmla="val 12500"/>
            </a:avLst>
          </a:prstGeom>
          <a:solidFill>
            <a:srgbClr val="FF7A00"/>
          </a:solidFill>
          <a:ln w="9525">
            <a:solidFill>
              <a:srgbClr val="FF7A00"/>
            </a:solidFill>
            <a:prstDash val="solid"/>
          </a:ln>
        </p:spPr>
        <p:txBody>
          <a:bodyPr/>
          <a:p/>
        </p:txBody>
      </p:sp>
      <p:sp>
        <p:nvSpPr>
          <p:cNvPr id="191"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冠军报告</a:t>
            </a:r>
            <a:endParaRPr sz="1050" b="1">
              <a:solidFill>
                <a:srgbClr val="FFFFFF"/>
              </a:solidFill>
              <a:latin typeface="Noto Sans CJK SC"/>
              <a:ea typeface="Noto Sans CJK SC"/>
              <a:cs typeface="Noto Sans CJK SC"/>
            </a:endParaRPr>
          </a:p>
        </p:txBody>
      </p:sp>
      <p:sp>
        <p:nvSpPr>
          <p:cNvPr id="192"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交付物</a:t>
            </a:r>
            <a:endParaRPr sz="1200" b="1">
              <a:solidFill>
                <a:srgbClr val="FF7A00"/>
              </a:solidFill>
              <a:latin typeface="Noto Sans CJK SC"/>
              <a:ea typeface="Noto Sans CJK SC"/>
              <a:cs typeface="Noto Sans CJK SC"/>
            </a:endParaRPr>
          </a:p>
        </p:txBody>
      </p:sp>
      <p:sp>
        <p:nvSpPr>
          <p:cNvPr id="193"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周更榜单、各组配置 PR、冠军技术报告、官方 tutorial。</a:t>
            </a:r>
            <a:endParaRPr sz="1200" b="0">
              <a:solidFill>
                <a:srgbClr val="111827"/>
              </a:solidFill>
              <a:latin typeface="Noto Sans CJK SC"/>
              <a:ea typeface="Noto Sans CJK SC"/>
              <a:cs typeface="Noto Sans CJK SC"/>
            </a:endParaRPr>
          </a:p>
        </p:txBody>
      </p:sp>
      <p:sp>
        <p:nvSpPr>
          <p:cNvPr id="194"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验收线</a:t>
            </a:r>
            <a:endParaRPr sz="1200" b="1">
              <a:solidFill>
                <a:srgbClr val="FF7A00"/>
              </a:solidFill>
              <a:latin typeface="Noto Sans CJK SC"/>
              <a:ea typeface="Noto Sans CJK SC"/>
              <a:cs typeface="Noto Sans CJK SC"/>
            </a:endParaRPr>
          </a:p>
        </p:txBody>
      </p:sp>
      <p:sp>
        <p:nvSpPr>
          <p:cNvPr id="195"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可复现是入场券；排名以多 seed 均值与置信区间裁决。</a:t>
            </a:r>
            <a:endParaRPr sz="1200" b="1">
              <a:solidFill>
                <a:srgbClr val="111827"/>
              </a:solidFill>
              <a:latin typeface="Noto Sans CJK SC"/>
              <a:ea typeface="Noto Sans CJK SC"/>
              <a:cs typeface="Noto Sans CJK SC"/>
            </a:endParaRPr>
          </a:p>
        </p:txBody>
      </p:sp>
      <p:sp>
        <p:nvSpPr>
          <p:cNvPr id="196"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197"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198" name="矩形 33"/>
          <p:cNvSpPr>
            <a:spLocks noGrp="1"/>
          </p:cNvSpPr>
          <p:nvPr/>
        </p:nvSpPr>
        <p:spPr>
          <a:xfrm>
            <a:off x="11068050" y="6438900"/>
            <a:ext cx="419100" cy="28575"/>
          </a:xfrm>
          <a:prstGeom prst="rect">
            <a:avLst/>
          </a:prstGeom>
          <a:solidFill>
            <a:srgbClr val="FF7A00"/>
          </a:solidFill>
          <a:ln w="9525">
            <a:solidFill>
              <a:srgbClr val="FF7A00"/>
            </a:solidFill>
            <a:prstDash val="solid"/>
          </a:ln>
        </p:spPr>
        <p:txBody>
          <a:bodyPr/>
          <a:p/>
        </p:txBody>
      </p:sp>
      <p:sp>
        <p:nvSpPr>
          <p:cNvPr id="199"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16</a:t>
            </a:r>
            <a:endParaRPr sz="975" b="1">
              <a:solidFill>
                <a:srgbClr val="667085"/>
              </a:solidFill>
              <a:latin typeface="Noto Sans CJK SC"/>
              <a:ea typeface="Noto Sans CJK SC"/>
              <a:cs typeface="Noto Sans CJK SC"/>
            </a:endParaRPr>
          </a:p>
        </p:txBody>
      </p:sp>
    </p:spTree>
  </p:cSld>
  <p:clrMapOvr>
    <a:masterClrMapping/>
  </p:clrMapOvr>
</p:sld>
</file>

<file path=ppt/slides/slide19.xml><?xml version="1.0" encoding="utf-8"?>
<p:sld xmlns:a="http://schemas.openxmlformats.org/drawingml/2006/main" xmlns:p="http://schemas.openxmlformats.org/presentationml/2006/main">
  <p:cSld>
    <p:bg>
      <p:bgPr>
        <a:solidFill>
          <a:srgbClr val="FFFFFF"/>
        </a:solidFill>
        <a:effectLst/>
      </p:bgPr>
    </p:bg>
    <p:spTree>
      <p:nvGrpSpPr>
        <p:cNvPr id="200" name=""/>
        <p:cNvGrpSpPr/>
        <p:nvPr/>
      </p:nvGrpSpPr>
      <p:grpSpPr>
        <a:xfrm>
          <a:off x="0" y="0"/>
          <a:ext cx="0" cy="0"/>
          <a:chOff x="0" y="0"/>
          <a:chExt cx="0" cy="0"/>
        </a:xfrm>
      </p:grpSpPr>
      <p:sp>
        <p:nvSpPr>
          <p:cNvPr id="201"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FF7A00"/>
                </a:solidFill>
                <a:latin typeface="Noto Sans CJK SC"/>
                <a:ea typeface="Noto Sans CJK SC"/>
                <a:cs typeface="Noto Sans CJK SC"/>
              </a:defRPr>
            </a:pPr>
            <a:r>
              <a:rPr sz="1125" b="1">
                <a:solidFill>
                  <a:srgbClr val="FF7A00"/>
                </a:solidFill>
                <a:latin typeface="Noto Sans CJK SC"/>
                <a:ea typeface="Noto Sans CJK SC"/>
                <a:cs typeface="Noto Sans CJK SC"/>
              </a:rPr>
              <a:t>THEME C  /  C2</a:t>
            </a:r>
            <a:endParaRPr sz="1125" b="1">
              <a:solidFill>
                <a:srgbClr val="FF7A00"/>
              </a:solidFill>
              <a:latin typeface="Noto Sans CJK SC"/>
              <a:ea typeface="Noto Sans CJK SC"/>
              <a:cs typeface="Noto Sans CJK SC"/>
            </a:endParaRPr>
          </a:p>
        </p:txBody>
      </p:sp>
      <p:sp>
        <p:nvSpPr>
          <p:cNvPr id="202"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OBB × DOTA：从兼容占位走向统一多任务分支</a:t>
            </a:r>
            <a:endParaRPr sz="2925" b="1">
              <a:solidFill>
                <a:srgbClr val="111827"/>
              </a:solidFill>
              <a:latin typeface="Noto Sans CJK SC"/>
              <a:ea typeface="Noto Sans CJK SC"/>
              <a:cs typeface="Noto Sans CJK SC"/>
            </a:endParaRPr>
          </a:p>
        </p:txBody>
      </p:sp>
      <p:sp>
        <p:nvSpPr>
          <p:cNvPr id="203" name="矩形 2"/>
          <p:cNvSpPr>
            <a:spLocks noGrp="1"/>
          </p:cNvSpPr>
          <p:nvPr/>
        </p:nvSpPr>
        <p:spPr>
          <a:xfrm>
            <a:off x="457200" y="1352550"/>
            <a:ext cx="11277600" cy="28575"/>
          </a:xfrm>
          <a:prstGeom prst="rect">
            <a:avLst/>
          </a:prstGeom>
          <a:solidFill>
            <a:srgbClr val="FF7A00"/>
          </a:solidFill>
          <a:ln w="9525">
            <a:solidFill>
              <a:srgbClr val="FF7A00"/>
            </a:solidFill>
            <a:prstDash val="solid"/>
          </a:ln>
        </p:spPr>
        <p:txBody>
          <a:bodyPr/>
          <a:p/>
        </p:txBody>
      </p:sp>
      <p:sp>
        <p:nvSpPr>
          <p:cNvPr id="204"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核心问题</a:t>
            </a:r>
            <a:endParaRPr sz="1275" b="1">
              <a:solidFill>
                <a:srgbClr val="FF7A00"/>
              </a:solidFill>
              <a:latin typeface="Noto Sans CJK SC"/>
              <a:ea typeface="Noto Sans CJK SC"/>
              <a:cs typeface="Noto Sans CJK SC"/>
            </a:endParaRPr>
          </a:p>
        </p:txBody>
      </p:sp>
      <p:sp>
        <p:nvSpPr>
          <p:cNvPr id="205"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fontScale="84516"/>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仓库已有独立 OBB 实验能力，但 MultiTaskHead 将 obb 标为 compatibility-only；怎样补成可训练统一分支？</a:t>
            </a:r>
            <a:endParaRPr sz="1650" b="1">
              <a:solidFill>
                <a:srgbClr val="111827"/>
              </a:solidFill>
              <a:latin typeface="Noto Sans CJK SC"/>
              <a:ea typeface="Noto Sans CJK SC"/>
              <a:cs typeface="Noto Sans CJK SC"/>
            </a:endParaRPr>
          </a:p>
        </p:txBody>
      </p:sp>
      <p:sp>
        <p:nvSpPr>
          <p:cNvPr id="206"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仓库切入 / 关键提醒</a:t>
            </a:r>
            <a:endParaRPr sz="1275" b="1">
              <a:solidFill>
                <a:srgbClr val="FF7A00"/>
              </a:solidFill>
              <a:latin typeface="Noto Sans CJK SC"/>
              <a:ea typeface="Noto Sans CJK SC"/>
              <a:cs typeface="Noto Sans CJK SC"/>
            </a:endParaRPr>
          </a:p>
        </p:txBody>
      </p:sp>
      <p:sp>
        <p:nvSpPr>
          <p:cNvPr id="207"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先区分独立 OBB 基线与 unified multitask OBB；不要把“已有 OBB”误报成零基础。</a:t>
            </a:r>
            <a:endParaRPr sz="1275" b="0">
              <a:solidFill>
                <a:srgbClr val="667085"/>
              </a:solidFill>
              <a:latin typeface="Noto Sans CJK SC"/>
              <a:ea typeface="Noto Sans CJK SC"/>
              <a:cs typeface="Noto Sans CJK SC"/>
            </a:endParaRPr>
          </a:p>
        </p:txBody>
      </p:sp>
      <p:sp>
        <p:nvSpPr>
          <p:cNvPr id="208"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sz="1275" b="1">
                <a:solidFill>
                  <a:srgbClr val="FF7A00"/>
                </a:solidFill>
                <a:latin typeface="Noto Sans CJK SC"/>
                <a:ea typeface="Noto Sans CJK SC"/>
                <a:cs typeface="Noto Sans CJK SC"/>
              </a:rPr>
              <a:t>数据与环境</a:t>
            </a:r>
            <a:endParaRPr sz="1275" b="1">
              <a:solidFill>
                <a:srgbClr val="FF7A00"/>
              </a:solidFill>
              <a:latin typeface="Noto Sans CJK SC"/>
              <a:ea typeface="Noto Sans CJK SC"/>
              <a:cs typeface="Noto Sans CJK SC"/>
            </a:endParaRPr>
          </a:p>
        </p:txBody>
      </p:sp>
      <p:sp>
        <p:nvSpPr>
          <p:cNvPr id="209"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DOTA v1.0；裁剪与旋转框转换是关键；可降级 HRSC。</a:t>
            </a:r>
            <a:endParaRPr sz="1275" b="0">
              <a:solidFill>
                <a:srgbClr val="111827"/>
              </a:solidFill>
              <a:latin typeface="Noto Sans CJK SC"/>
              <a:ea typeface="Noto Sans CJK SC"/>
              <a:cs typeface="Noto Sans CJK SC"/>
            </a:endParaRPr>
          </a:p>
        </p:txBody>
      </p:sp>
      <p:sp>
        <p:nvSpPr>
          <p:cNvPr id="210"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211"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fontScale="91209"/>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统一分支工程量过大时先用 HRSC/单类子集；联合训练崩溃则保留独立与统一单任务对照。</a:t>
            </a:r>
            <a:endParaRPr sz="1200" b="0">
              <a:solidFill>
                <a:srgbClr val="667085"/>
              </a:solidFill>
              <a:latin typeface="Noto Sans CJK SC"/>
              <a:ea typeface="Noto Sans CJK SC"/>
              <a:cs typeface="Noto Sans CJK SC"/>
            </a:endParaRPr>
          </a:p>
        </p:txBody>
      </p:sp>
      <p:sp>
        <p:nvSpPr>
          <p:cNvPr id="212"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P0｜复现独立 OBB 基线；定位 compatibility-only 与 set_active_tasks 的边界并提交设计。</a:t>
            </a:r>
            <a:endParaRPr sz="1275" b="1">
              <a:solidFill>
                <a:srgbClr val="111827"/>
              </a:solidFill>
              <a:latin typeface="Noto Sans CJK SC"/>
              <a:ea typeface="Noto Sans CJK SC"/>
              <a:cs typeface="Noto Sans CJK SC"/>
            </a:endParaRPr>
          </a:p>
        </p:txBody>
      </p:sp>
      <p:sp>
        <p:nvSpPr>
          <p:cNvPr id="213" name="圆角矩形 12"/>
          <p:cNvSpPr>
            <a:spLocks noGrp="1"/>
          </p:cNvSpPr>
          <p:nvPr/>
        </p:nvSpPr>
        <p:spPr>
          <a:xfrm>
            <a:off x="4762500" y="243840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P1｜新增 unified multitask OBB 训练分支；在 DOTA/HRSC 上获得非平凡 mAP。</a:t>
            </a:r>
            <a:endParaRPr sz="1275" b="1">
              <a:solidFill>
                <a:srgbClr val="111827"/>
              </a:solidFill>
              <a:latin typeface="Noto Sans CJK SC"/>
              <a:ea typeface="Noto Sans CJK SC"/>
              <a:cs typeface="Noto Sans CJK SC"/>
            </a:endParaRPr>
          </a:p>
        </p:txBody>
      </p:sp>
      <p:sp>
        <p:nvSpPr>
          <p:cNvPr id="214"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P2｜与 detect/seg/pose 联合训练，或完成 unified OBB × MoE 组合实验。</a:t>
            </a:r>
            <a:endParaRPr sz="1275" b="1">
              <a:solidFill>
                <a:srgbClr val="111827"/>
              </a:solidFill>
              <a:latin typeface="Noto Sans CJK SC"/>
              <a:ea typeface="Noto Sans CJK SC"/>
              <a:cs typeface="Noto Sans CJK SC"/>
            </a:endParaRPr>
          </a:p>
        </p:txBody>
      </p:sp>
      <p:sp>
        <p:nvSpPr>
          <p:cNvPr id="215"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FF7A00"/>
                </a:solidFill>
                <a:latin typeface="Noto Sans CJK SC"/>
                <a:ea typeface="Noto Sans CJK SC"/>
                <a:cs typeface="Noto Sans CJK SC"/>
              </a:defRPr>
            </a:pPr>
            <a:r>
              <a:rPr lang="zh-CN" sz="1275" b="1">
                <a:solidFill>
                  <a:srgbClr val="FF7A00"/>
                </a:solidFill>
                <a:latin typeface="Noto Sans CJK SC"/>
                <a:ea typeface="Noto Sans CJK SC"/>
                <a:cs typeface="Noto Sans CJK SC"/>
              </a:rPr>
              <a:t>六</a:t>
            </a:r>
            <a:r>
              <a:rPr sz="1275" b="1">
                <a:solidFill>
                  <a:srgbClr val="FF7A00"/>
                </a:solidFill>
                <a:latin typeface="Noto Sans CJK SC"/>
                <a:ea typeface="Noto Sans CJK SC"/>
                <a:cs typeface="Noto Sans CJK SC"/>
              </a:rPr>
              <a:t>周路径</a:t>
            </a:r>
            <a:endParaRPr sz="1275" b="1">
              <a:solidFill>
                <a:srgbClr val="FF7A00"/>
              </a:solidFill>
              <a:latin typeface="Noto Sans CJK SC"/>
              <a:ea typeface="Noto Sans CJK SC"/>
              <a:cs typeface="Noto Sans CJK SC"/>
            </a:endParaRPr>
          </a:p>
        </p:txBody>
      </p:sp>
      <p:sp>
        <p:nvSpPr>
          <p:cNvPr id="216"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17"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拒绝点/DOTA</a:t>
            </a:r>
            <a:endParaRPr sz="1050" b="1">
              <a:solidFill>
                <a:srgbClr val="111827"/>
              </a:solidFill>
              <a:latin typeface="Noto Sans CJK SC"/>
              <a:ea typeface="Noto Sans CJK SC"/>
              <a:cs typeface="Noto Sans CJK SC"/>
            </a:endParaRPr>
          </a:p>
        </p:txBody>
      </p:sp>
      <p:sp>
        <p:nvSpPr>
          <p:cNvPr id="218"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19"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head/loss</a:t>
            </a:r>
            <a:endParaRPr sz="1050" b="1">
              <a:solidFill>
                <a:srgbClr val="111827"/>
              </a:solidFill>
              <a:latin typeface="Noto Sans CJK SC"/>
              <a:ea typeface="Noto Sans CJK SC"/>
              <a:cs typeface="Noto Sans CJK SC"/>
            </a:endParaRPr>
          </a:p>
        </p:txBody>
      </p:sp>
      <p:sp>
        <p:nvSpPr>
          <p:cNvPr id="220"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21"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首个数字</a:t>
            </a:r>
            <a:endParaRPr sz="1050" b="1">
              <a:solidFill>
                <a:srgbClr val="111827"/>
              </a:solidFill>
              <a:latin typeface="Noto Sans CJK SC"/>
              <a:ea typeface="Noto Sans CJK SC"/>
              <a:cs typeface="Noto Sans CJK SC"/>
            </a:endParaRPr>
          </a:p>
        </p:txBody>
      </p:sp>
      <p:sp>
        <p:nvSpPr>
          <p:cNvPr id="222"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23"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差距分析</a:t>
            </a:r>
            <a:endParaRPr sz="1050" b="1">
              <a:solidFill>
                <a:srgbClr val="111827"/>
              </a:solidFill>
              <a:latin typeface="Noto Sans CJK SC"/>
              <a:ea typeface="Noto Sans CJK SC"/>
              <a:cs typeface="Noto Sans CJK SC"/>
            </a:endParaRPr>
          </a:p>
        </p:txBody>
      </p:sp>
      <p:sp>
        <p:nvSpPr>
          <p:cNvPr id="224"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25"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联合训练/PR</a:t>
            </a:r>
            <a:endParaRPr sz="1050" b="1">
              <a:solidFill>
                <a:srgbClr val="111827"/>
              </a:solidFill>
              <a:latin typeface="Noto Sans CJK SC"/>
              <a:ea typeface="Noto Sans CJK SC"/>
              <a:cs typeface="Noto Sans CJK SC"/>
            </a:endParaRPr>
          </a:p>
        </p:txBody>
      </p:sp>
      <p:sp>
        <p:nvSpPr>
          <p:cNvPr id="226" name="圆角矩形 25"/>
          <p:cNvSpPr>
            <a:spLocks noGrp="1"/>
          </p:cNvSpPr>
          <p:nvPr/>
        </p:nvSpPr>
        <p:spPr>
          <a:xfrm>
            <a:off x="10525125" y="4610100"/>
            <a:ext cx="1000125" cy="457200"/>
          </a:xfrm>
          <a:prstGeom prst="roundRect">
            <a:avLst>
              <a:gd name="adj" fmla="val 12500"/>
            </a:avLst>
          </a:prstGeom>
          <a:solidFill>
            <a:srgbClr val="FF7A00"/>
          </a:solidFill>
          <a:ln w="9525">
            <a:solidFill>
              <a:srgbClr val="FF7A00"/>
            </a:solidFill>
            <a:prstDash val="solid"/>
          </a:ln>
        </p:spPr>
        <p:txBody>
          <a:bodyPr/>
          <a:p/>
        </p:txBody>
      </p:sp>
      <p:sp>
        <p:nvSpPr>
          <p:cNvPr id="227"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目标合并</a:t>
            </a:r>
            <a:endParaRPr sz="1050" b="1">
              <a:solidFill>
                <a:srgbClr val="FFFFFF"/>
              </a:solidFill>
              <a:latin typeface="Noto Sans CJK SC"/>
              <a:ea typeface="Noto Sans CJK SC"/>
              <a:cs typeface="Noto Sans CJK SC"/>
            </a:endParaRPr>
          </a:p>
        </p:txBody>
      </p:sp>
      <p:sp>
        <p:nvSpPr>
          <p:cNvPr id="228"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交付物</a:t>
            </a:r>
            <a:endParaRPr sz="1200" b="1">
              <a:solidFill>
                <a:srgbClr val="FF7A00"/>
              </a:solidFill>
              <a:latin typeface="Noto Sans CJK SC"/>
              <a:ea typeface="Noto Sans CJK SC"/>
              <a:cs typeface="Noto Sans CJK SC"/>
            </a:endParaRPr>
          </a:p>
        </p:txBody>
      </p:sp>
      <p:sp>
        <p:nvSpPr>
          <p:cNvPr id="229"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unified OBB PR、独立/统一基线、DOTA/HRSC 差距表。</a:t>
            </a:r>
            <a:endParaRPr sz="1200" b="0">
              <a:solidFill>
                <a:srgbClr val="111827"/>
              </a:solidFill>
              <a:latin typeface="Noto Sans CJK SC"/>
              <a:ea typeface="Noto Sans CJK SC"/>
              <a:cs typeface="Noto Sans CJK SC"/>
            </a:endParaRPr>
          </a:p>
        </p:txBody>
      </p:sp>
      <p:sp>
        <p:nvSpPr>
          <p:cNvPr id="230"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验收线</a:t>
            </a:r>
            <a:endParaRPr sz="1200" b="1">
              <a:solidFill>
                <a:srgbClr val="FF7A00"/>
              </a:solidFill>
              <a:latin typeface="Noto Sans CJK SC"/>
              <a:ea typeface="Noto Sans CJK SC"/>
              <a:cs typeface="Noto Sans CJK SC"/>
            </a:endParaRPr>
          </a:p>
        </p:txBody>
      </p:sp>
      <p:sp>
        <p:nvSpPr>
          <p:cNvPr id="231"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训练曲线健康；统一分支显著高于随机，并与独立 OBB 基线同口径对照。</a:t>
            </a:r>
            <a:endParaRPr sz="1200" b="1">
              <a:solidFill>
                <a:srgbClr val="111827"/>
              </a:solidFill>
              <a:latin typeface="Noto Sans CJK SC"/>
              <a:ea typeface="Noto Sans CJK SC"/>
              <a:cs typeface="Noto Sans CJK SC"/>
            </a:endParaRPr>
          </a:p>
        </p:txBody>
      </p:sp>
      <p:sp>
        <p:nvSpPr>
          <p:cNvPr id="232"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233"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234" name="矩形 33"/>
          <p:cNvSpPr>
            <a:spLocks noGrp="1"/>
          </p:cNvSpPr>
          <p:nvPr/>
        </p:nvSpPr>
        <p:spPr>
          <a:xfrm>
            <a:off x="11068050" y="6438900"/>
            <a:ext cx="419100" cy="28575"/>
          </a:xfrm>
          <a:prstGeom prst="rect">
            <a:avLst/>
          </a:prstGeom>
          <a:solidFill>
            <a:srgbClr val="FF7A00"/>
          </a:solidFill>
          <a:ln w="9525">
            <a:solidFill>
              <a:srgbClr val="FF7A00"/>
            </a:solidFill>
            <a:prstDash val="solid"/>
          </a:ln>
        </p:spPr>
        <p:txBody>
          <a:bodyPr/>
          <a:p/>
        </p:txBody>
      </p:sp>
      <p:sp>
        <p:nvSpPr>
          <p:cNvPr id="235"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17</a:t>
            </a:r>
            <a:endParaRPr sz="975" b="1">
              <a:solidFill>
                <a:srgbClr val="667085"/>
              </a:solidFill>
              <a:latin typeface="Noto Sans CJK SC"/>
              <a:ea typeface="Noto Sans CJK SC"/>
              <a:cs typeface="Noto Sans CJK SC"/>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238" name=""/>
        <p:cNvGrpSpPr/>
        <p:nvPr/>
      </p:nvGrpSpPr>
      <p:grpSpPr>
        <a:xfrm>
          <a:off x="0" y="0"/>
          <a:ext cx="0" cy="0"/>
          <a:chOff x="0" y="0"/>
          <a:chExt cx="0" cy="0"/>
        </a:xfrm>
      </p:grpSpPr>
      <p:pic>
        <p:nvPicPr>
          <p:cNvPr id="239" name="图片 1"/>
          <p:cNvPicPr>
            <a:picLocks noChangeAspect="1"/>
          </p:cNvPicPr>
          <p:nvPr/>
        </p:nvPicPr>
        <p:blipFill>
          <a:blip r:embed="rId2"/>
          <a:srcRect/>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240" name=""/>
        <p:cNvGrpSpPr/>
        <p:nvPr/>
      </p:nvGrpSpPr>
      <p:grpSpPr>
        <a:xfrm>
          <a:off x="0" y="0"/>
          <a:ext cx="0" cy="0"/>
          <a:chOff x="0" y="0"/>
          <a:chExt cx="0" cy="0"/>
        </a:xfrm>
      </p:grpSpPr>
      <p:pic>
        <p:nvPicPr>
          <p:cNvPr id="241" name="图片 14"/>
          <p:cNvPicPr>
            <a:picLocks noChangeAspect="1"/>
          </p:cNvPicPr>
          <p:nvPr/>
        </p:nvPicPr>
        <p:blipFill>
          <a:blip r:embed="rId2"/>
          <a:srcRect t="27" b="27"/>
          <a:stretch>
            <a:fillRect/>
          </a:stretch>
        </p:blipFill>
        <p:spPr>
          <a:xfrm>
            <a:off x="0" y="0"/>
            <a:ext cx="12192000" cy="6858000"/>
          </a:xfrm>
          <a:prstGeom prst="rect">
            <a:avLst/>
          </a:prstGeom>
        </p:spPr>
      </p:pic>
      <p:sp>
        <p:nvSpPr>
          <p:cNvPr id="242"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243" name="矩形 2"/>
          <p:cNvSpPr>
            <a:spLocks noGrp="1"/>
          </p:cNvSpPr>
          <p:nvPr/>
        </p:nvSpPr>
        <p:spPr>
          <a:xfrm>
            <a:off x="495300" y="514350"/>
            <a:ext cx="2095500" cy="3048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THEME D</a:t>
            </a:r>
            <a:endParaRPr sz="1275" b="1">
              <a:solidFill>
                <a:srgbClr val="7A5AF8"/>
              </a:solidFill>
              <a:latin typeface="Noto Sans CJK SC"/>
              <a:ea typeface="Noto Sans CJK SC"/>
              <a:cs typeface="Noto Sans CJK SC"/>
            </a:endParaRPr>
          </a:p>
        </p:txBody>
      </p:sp>
      <p:sp>
        <p:nvSpPr>
          <p:cNvPr id="244" name="矩形 3"/>
          <p:cNvSpPr>
            <a:spLocks noGrp="1"/>
          </p:cNvSpPr>
          <p:nvPr/>
        </p:nvSpPr>
        <p:spPr>
          <a:xfrm>
            <a:off x="495300" y="1238250"/>
            <a:ext cx="4476750" cy="60960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大模型时代</a:t>
            </a:r>
            <a:endParaRPr sz="3150" b="1">
              <a:solidFill>
                <a:srgbClr val="111827"/>
              </a:solidFill>
              <a:latin typeface="Noto Sans CJK SC"/>
              <a:ea typeface="Noto Sans CJK SC"/>
              <a:cs typeface="Noto Sans CJK SC"/>
            </a:endParaRPr>
          </a:p>
        </p:txBody>
      </p:sp>
      <p:sp>
        <p:nvSpPr>
          <p:cNvPr id="245" name="矩形 4"/>
          <p:cNvSpPr>
            <a:spLocks noGrp="1"/>
          </p:cNvSpPr>
          <p:nvPr/>
        </p:nvSpPr>
        <p:spPr>
          <a:xfrm>
            <a:off x="495300" y="2076450"/>
            <a:ext cx="4095750" cy="1047750"/>
          </a:xfrm>
          <a:prstGeom prst="rect">
            <a:avLst/>
          </a:prstGeom>
          <a:noFill/>
          <a:ln w="0">
            <a:noFill/>
            <a:prstDash val="solid"/>
          </a:ln>
        </p:spPr>
        <p:txBody>
          <a:bodyPr wrap="square" lIns="0" tIns="0" rIns="0" bIns="0" anchor="t">
            <a:normAutofit/>
          </a:bodyPr>
          <a:lstStyle/>
          <a:p>
            <a:pPr algn="l">
              <a:lnSpc>
                <a:spcPct val="108000"/>
              </a:lnSpc>
              <a:buNone/>
              <a:defRPr sz="1875" b="0">
                <a:solidFill>
                  <a:srgbClr val="667085"/>
                </a:solidFill>
                <a:latin typeface="Noto Sans CJK SC"/>
                <a:ea typeface="Noto Sans CJK SC"/>
                <a:cs typeface="Noto Sans CJK SC"/>
              </a:defRPr>
            </a:pPr>
            <a:r>
              <a:rPr sz="1875" b="0">
                <a:solidFill>
                  <a:srgbClr val="667085"/>
                </a:solidFill>
                <a:latin typeface="Noto Sans CJK SC"/>
                <a:ea typeface="Noto Sans CJK SC"/>
                <a:cs typeface="Noto Sans CJK SC"/>
              </a:rPr>
              <a:t>复用现有 foundation stack，做冻结适配、蒸馏验证与路由 KD</a:t>
            </a:r>
            <a:endParaRPr sz="1875" b="0">
              <a:solidFill>
                <a:srgbClr val="667085"/>
              </a:solidFill>
              <a:latin typeface="Noto Sans CJK SC"/>
              <a:ea typeface="Noto Sans CJK SC"/>
              <a:cs typeface="Noto Sans CJK SC"/>
            </a:endParaRPr>
          </a:p>
        </p:txBody>
      </p:sp>
      <p:sp>
        <p:nvSpPr>
          <p:cNvPr id="246" name="矩形 5"/>
          <p:cNvSpPr>
            <a:spLocks noGrp="1"/>
          </p:cNvSpPr>
          <p:nvPr/>
        </p:nvSpPr>
        <p:spPr>
          <a:xfrm>
            <a:off x="495300" y="3381375"/>
            <a:ext cx="3238500" cy="47625"/>
          </a:xfrm>
          <a:prstGeom prst="rect">
            <a:avLst/>
          </a:prstGeom>
          <a:solidFill>
            <a:srgbClr val="7A5AF8"/>
          </a:solidFill>
          <a:ln w="9525">
            <a:solidFill>
              <a:srgbClr val="7A5AF8"/>
            </a:solidFill>
            <a:prstDash val="solid"/>
          </a:ln>
        </p:spPr>
        <p:txBody>
          <a:bodyPr/>
          <a:p/>
        </p:txBody>
      </p:sp>
      <p:sp>
        <p:nvSpPr>
          <p:cNvPr id="247" name="矩形 6"/>
          <p:cNvSpPr>
            <a:spLocks noGrp="1"/>
          </p:cNvSpPr>
          <p:nvPr/>
        </p:nvSpPr>
        <p:spPr>
          <a:xfrm>
            <a:off x="495300" y="37719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7A5AF8"/>
                </a:solidFill>
                <a:latin typeface="Noto Sans CJK SC"/>
                <a:ea typeface="Noto Sans CJK SC"/>
                <a:cs typeface="Noto Sans CJK SC"/>
              </a:defRPr>
            </a:pPr>
            <a:r>
              <a:rPr sz="1350" b="1">
                <a:solidFill>
                  <a:srgbClr val="7A5AF8"/>
                </a:solidFill>
                <a:latin typeface="Noto Sans CJK SC"/>
                <a:ea typeface="Noto Sans CJK SC"/>
                <a:cs typeface="Noto Sans CJK SC"/>
              </a:rPr>
              <a:t>01</a:t>
            </a:r>
            <a:endParaRPr sz="1350" b="1">
              <a:solidFill>
                <a:srgbClr val="7A5AF8"/>
              </a:solidFill>
              <a:latin typeface="Noto Sans CJK SC"/>
              <a:ea typeface="Noto Sans CJK SC"/>
              <a:cs typeface="Noto Sans CJK SC"/>
            </a:endParaRPr>
          </a:p>
        </p:txBody>
      </p:sp>
      <p:sp>
        <p:nvSpPr>
          <p:cNvPr id="248" name="矩形 7"/>
          <p:cNvSpPr>
            <a:spLocks noGrp="1"/>
          </p:cNvSpPr>
          <p:nvPr/>
        </p:nvSpPr>
        <p:spPr>
          <a:xfrm>
            <a:off x="1028700" y="37623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D1 冻结 DINOv3</a:t>
            </a:r>
            <a:endParaRPr sz="1500" b="1">
              <a:solidFill>
                <a:srgbClr val="111827"/>
              </a:solidFill>
              <a:latin typeface="Noto Sans CJK SC"/>
              <a:ea typeface="Noto Sans CJK SC"/>
              <a:cs typeface="Noto Sans CJK SC"/>
            </a:endParaRPr>
          </a:p>
        </p:txBody>
      </p:sp>
      <p:sp>
        <p:nvSpPr>
          <p:cNvPr id="249" name="矩形 8"/>
          <p:cNvSpPr>
            <a:spLocks noGrp="1"/>
          </p:cNvSpPr>
          <p:nvPr/>
        </p:nvSpPr>
        <p:spPr>
          <a:xfrm>
            <a:off x="495300" y="43815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7A5AF8"/>
                </a:solidFill>
                <a:latin typeface="Noto Sans CJK SC"/>
                <a:ea typeface="Noto Sans CJK SC"/>
                <a:cs typeface="Noto Sans CJK SC"/>
              </a:defRPr>
            </a:pPr>
            <a:r>
              <a:rPr sz="1350" b="1">
                <a:solidFill>
                  <a:srgbClr val="7A5AF8"/>
                </a:solidFill>
                <a:latin typeface="Noto Sans CJK SC"/>
                <a:ea typeface="Noto Sans CJK SC"/>
                <a:cs typeface="Noto Sans CJK SC"/>
              </a:rPr>
              <a:t>02</a:t>
            </a:r>
            <a:endParaRPr sz="1350" b="1">
              <a:solidFill>
                <a:srgbClr val="7A5AF8"/>
              </a:solidFill>
              <a:latin typeface="Noto Sans CJK SC"/>
              <a:ea typeface="Noto Sans CJK SC"/>
              <a:cs typeface="Noto Sans CJK SC"/>
            </a:endParaRPr>
          </a:p>
        </p:txBody>
      </p:sp>
      <p:sp>
        <p:nvSpPr>
          <p:cNvPr id="250" name="矩形 9"/>
          <p:cNvSpPr>
            <a:spLocks noGrp="1"/>
          </p:cNvSpPr>
          <p:nvPr/>
        </p:nvSpPr>
        <p:spPr>
          <a:xfrm>
            <a:off x="1028700" y="43719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D2 Foundation 蒸馏</a:t>
            </a:r>
            <a:endParaRPr sz="1500" b="1">
              <a:solidFill>
                <a:srgbClr val="111827"/>
              </a:solidFill>
              <a:latin typeface="Noto Sans CJK SC"/>
              <a:ea typeface="Noto Sans CJK SC"/>
              <a:cs typeface="Noto Sans CJK SC"/>
            </a:endParaRPr>
          </a:p>
        </p:txBody>
      </p:sp>
      <p:sp>
        <p:nvSpPr>
          <p:cNvPr id="251" name="矩形 10"/>
          <p:cNvSpPr>
            <a:spLocks noGrp="1"/>
          </p:cNvSpPr>
          <p:nvPr/>
        </p:nvSpPr>
        <p:spPr>
          <a:xfrm>
            <a:off x="495300" y="49911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7A5AF8"/>
                </a:solidFill>
                <a:latin typeface="Noto Sans CJK SC"/>
                <a:ea typeface="Noto Sans CJK SC"/>
                <a:cs typeface="Noto Sans CJK SC"/>
              </a:defRPr>
            </a:pPr>
            <a:r>
              <a:rPr sz="1350" b="1">
                <a:solidFill>
                  <a:srgbClr val="7A5AF8"/>
                </a:solidFill>
                <a:latin typeface="Noto Sans CJK SC"/>
                <a:ea typeface="Noto Sans CJK SC"/>
                <a:cs typeface="Noto Sans CJK SC"/>
              </a:rPr>
              <a:t>03</a:t>
            </a:r>
            <a:endParaRPr sz="1350" b="1">
              <a:solidFill>
                <a:srgbClr val="7A5AF8"/>
              </a:solidFill>
              <a:latin typeface="Noto Sans CJK SC"/>
              <a:ea typeface="Noto Sans CJK SC"/>
              <a:cs typeface="Noto Sans CJK SC"/>
            </a:endParaRPr>
          </a:p>
        </p:txBody>
      </p:sp>
      <p:sp>
        <p:nvSpPr>
          <p:cNvPr id="252" name="矩形 11"/>
          <p:cNvSpPr>
            <a:spLocks noGrp="1"/>
          </p:cNvSpPr>
          <p:nvPr/>
        </p:nvSpPr>
        <p:spPr>
          <a:xfrm>
            <a:off x="1028700" y="49815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F11 路由蒸馏验证</a:t>
            </a:r>
            <a:endParaRPr sz="1500" b="1">
              <a:solidFill>
                <a:srgbClr val="111827"/>
              </a:solidFill>
              <a:latin typeface="Noto Sans CJK SC"/>
              <a:ea typeface="Noto Sans CJK SC"/>
              <a:cs typeface="Noto Sans CJK SC"/>
            </a:endParaRPr>
          </a:p>
        </p:txBody>
      </p:sp>
      <p:sp>
        <p:nvSpPr>
          <p:cNvPr id="253" name="矩形 12"/>
          <p:cNvSpPr>
            <a:spLocks noGrp="1"/>
          </p:cNvSpPr>
          <p:nvPr/>
        </p:nvSpPr>
        <p:spPr>
          <a:xfrm>
            <a:off x="11049000" y="6191250"/>
            <a:ext cx="685800" cy="323850"/>
          </a:xfrm>
          <a:prstGeom prst="rect">
            <a:avLst/>
          </a:prstGeom>
          <a:noFill/>
          <a:ln w="0">
            <a:noFill/>
            <a:prstDash val="solid"/>
          </a:ln>
        </p:spPr>
        <p:txBody>
          <a:bodyPr wrap="square" lIns="0" tIns="0" rIns="0" bIns="0" anchor="t">
            <a:normAutofit/>
          </a:bodyPr>
          <a:lstStyle/>
          <a:p>
            <a:pPr algn="r">
              <a:lnSpc>
                <a:spcPct val="108000"/>
              </a:lnSpc>
              <a:buNone/>
              <a:defRPr sz="1050" b="1">
                <a:solidFill>
                  <a:srgbClr val="667085"/>
                </a:solidFill>
                <a:latin typeface="Noto Sans CJK SC"/>
                <a:ea typeface="Noto Sans CJK SC"/>
                <a:cs typeface="Noto Sans CJK SC"/>
              </a:defRPr>
            </a:pPr>
            <a:r>
              <a:rPr sz="1050" b="1">
                <a:solidFill>
                  <a:srgbClr val="667085"/>
                </a:solidFill>
                <a:latin typeface="Noto Sans CJK SC"/>
                <a:ea typeface="Noto Sans CJK SC"/>
                <a:cs typeface="Noto Sans CJK SC"/>
              </a:rPr>
              <a:t>19</a:t>
            </a:r>
            <a:endParaRPr sz="1050" b="1">
              <a:solidFill>
                <a:srgbClr val="667085"/>
              </a:solidFill>
              <a:latin typeface="Noto Sans CJK SC"/>
              <a:ea typeface="Noto Sans CJK SC"/>
              <a:cs typeface="Noto Sans CJK SC"/>
            </a:endParaRPr>
          </a:p>
        </p:txBody>
      </p:sp>
    </p:spTree>
  </p:cSld>
  <p:clrMapOvr>
    <a:masterClrMapping/>
  </p:clrMapOvr>
</p:sld>
</file>

<file path=ppt/slides/slide22.xml><?xml version="1.0" encoding="utf-8"?>
<p:sld xmlns:a="http://schemas.openxmlformats.org/drawingml/2006/main" xmlns:p="http://schemas.openxmlformats.org/presentationml/2006/main">
  <p:cSld>
    <p:bg>
      <p:bgPr>
        <a:solidFill>
          <a:srgbClr val="FFFFFF"/>
        </a:solidFill>
        <a:effectLst/>
      </p:bgPr>
    </p:bg>
    <p:spTree>
      <p:nvGrpSpPr>
        <p:cNvPr id="254" name=""/>
        <p:cNvGrpSpPr/>
        <p:nvPr/>
      </p:nvGrpSpPr>
      <p:grpSpPr>
        <a:xfrm>
          <a:off x="0" y="0"/>
          <a:ext cx="0" cy="0"/>
          <a:chOff x="0" y="0"/>
          <a:chExt cx="0" cy="0"/>
        </a:xfrm>
      </p:grpSpPr>
      <p:sp>
        <p:nvSpPr>
          <p:cNvPr id="255"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7A5AF8"/>
                </a:solidFill>
                <a:latin typeface="Noto Sans CJK SC"/>
                <a:ea typeface="Noto Sans CJK SC"/>
                <a:cs typeface="Noto Sans CJK SC"/>
              </a:defRPr>
            </a:pPr>
            <a:r>
              <a:rPr sz="1125" b="1">
                <a:solidFill>
                  <a:srgbClr val="7A5AF8"/>
                </a:solidFill>
                <a:latin typeface="Noto Sans CJK SC"/>
                <a:ea typeface="Noto Sans CJK SC"/>
                <a:cs typeface="Noto Sans CJK SC"/>
              </a:rPr>
              <a:t>THEME D  /  D1</a:t>
            </a:r>
            <a:endParaRPr sz="1125" b="1">
              <a:solidFill>
                <a:srgbClr val="7A5AF8"/>
              </a:solidFill>
              <a:latin typeface="Noto Sans CJK SC"/>
              <a:ea typeface="Noto Sans CJK SC"/>
              <a:cs typeface="Noto Sans CJK SC"/>
            </a:endParaRPr>
          </a:p>
        </p:txBody>
      </p:sp>
      <p:sp>
        <p:nvSpPr>
          <p:cNvPr id="256"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冻结 DINOv3 × LatentMixture：训练成本能降多少？</a:t>
            </a:r>
            <a:endParaRPr sz="2925" b="1">
              <a:solidFill>
                <a:srgbClr val="111827"/>
              </a:solidFill>
              <a:latin typeface="Noto Sans CJK SC"/>
              <a:ea typeface="Noto Sans CJK SC"/>
              <a:cs typeface="Noto Sans CJK SC"/>
            </a:endParaRPr>
          </a:p>
        </p:txBody>
      </p:sp>
      <p:sp>
        <p:nvSpPr>
          <p:cNvPr id="257" name="矩形 2"/>
          <p:cNvSpPr>
            <a:spLocks noGrp="1"/>
          </p:cNvSpPr>
          <p:nvPr/>
        </p:nvSpPr>
        <p:spPr>
          <a:xfrm>
            <a:off x="457200" y="1352550"/>
            <a:ext cx="11277600" cy="28575"/>
          </a:xfrm>
          <a:prstGeom prst="rect">
            <a:avLst/>
          </a:prstGeom>
          <a:solidFill>
            <a:srgbClr val="7A5AF8"/>
          </a:solidFill>
          <a:ln w="9525">
            <a:solidFill>
              <a:srgbClr val="7A5AF8"/>
            </a:solidFill>
            <a:prstDash val="solid"/>
          </a:ln>
        </p:spPr>
        <p:txBody>
          <a:bodyPr/>
          <a:p/>
        </p:txBody>
      </p:sp>
      <p:sp>
        <p:nvSpPr>
          <p:cNvPr id="258"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核心问题</a:t>
            </a:r>
            <a:endParaRPr sz="1275" b="1">
              <a:solidFill>
                <a:srgbClr val="7A5AF8"/>
              </a:solidFill>
              <a:latin typeface="Noto Sans CJK SC"/>
              <a:ea typeface="Noto Sans CJK SC"/>
              <a:cs typeface="Noto Sans CJK SC"/>
            </a:endParaRPr>
          </a:p>
        </p:txBody>
      </p:sp>
      <p:sp>
        <p:nvSpPr>
          <p:cNvPr id="259"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不微调 foundation backbone，只训练 Latent MoE 适配与检测头，能保留多少精度？</a:t>
            </a:r>
            <a:endParaRPr sz="1650" b="1">
              <a:solidFill>
                <a:srgbClr val="111827"/>
              </a:solidFill>
              <a:latin typeface="Noto Sans CJK SC"/>
              <a:ea typeface="Noto Sans CJK SC"/>
              <a:cs typeface="Noto Sans CJK SC"/>
            </a:endParaRPr>
          </a:p>
        </p:txBody>
      </p:sp>
      <p:sp>
        <p:nvSpPr>
          <p:cNvPr id="260"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仓库切入 / 关键提醒</a:t>
            </a:r>
            <a:endParaRPr sz="1275" b="1">
              <a:solidFill>
                <a:srgbClr val="7A5AF8"/>
              </a:solidFill>
              <a:latin typeface="Noto Sans CJK SC"/>
              <a:ea typeface="Noto Sans CJK SC"/>
              <a:cs typeface="Noto Sans CJK SC"/>
            </a:endParaRPr>
          </a:p>
        </p:txBody>
      </p:sp>
      <p:sp>
        <p:nvSpPr>
          <p:cNvPr id="261"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fontScale="98532"/>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复用 foundation/teachers 与预处理协议；latent aux 仍需显式加入 collect_aux_loss 的 include_kinds。</a:t>
            </a:r>
            <a:endParaRPr sz="1275" b="0">
              <a:solidFill>
                <a:srgbClr val="667085"/>
              </a:solidFill>
              <a:latin typeface="Noto Sans CJK SC"/>
              <a:ea typeface="Noto Sans CJK SC"/>
              <a:cs typeface="Noto Sans CJK SC"/>
            </a:endParaRPr>
          </a:p>
        </p:txBody>
      </p:sp>
      <p:sp>
        <p:nvSpPr>
          <p:cNvPr id="262"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数据与环境</a:t>
            </a:r>
            <a:endParaRPr sz="1275" b="1">
              <a:solidFill>
                <a:srgbClr val="7A5AF8"/>
              </a:solidFill>
              <a:latin typeface="Noto Sans CJK SC"/>
              <a:ea typeface="Noto Sans CJK SC"/>
              <a:cs typeface="Noto Sans CJK SC"/>
            </a:endParaRPr>
          </a:p>
        </p:txBody>
      </p:sp>
      <p:sp>
        <p:nvSpPr>
          <p:cNvPr id="263"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 + VisDrone 子集；复用 foundation teacher 管线；4090 级足够，需规划缓存磁盘。</a:t>
            </a:r>
            <a:endParaRPr sz="1275" b="0">
              <a:solidFill>
                <a:srgbClr val="111827"/>
              </a:solidFill>
              <a:latin typeface="Noto Sans CJK SC"/>
              <a:ea typeface="Noto Sans CJK SC"/>
              <a:cs typeface="Noto Sans CJK SC"/>
            </a:endParaRPr>
          </a:p>
        </p:txBody>
      </p:sp>
      <p:sp>
        <p:nvSpPr>
          <p:cNvPr id="264"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265"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fontScale="91209"/>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缓存成本过高时先做 COCO-mini/VisDrone；三尺度对齐不稳时先固定单尺度接口。</a:t>
            </a:r>
            <a:endParaRPr sz="1200" b="0">
              <a:solidFill>
                <a:srgbClr val="667085"/>
              </a:solidFill>
              <a:latin typeface="Noto Sans CJK SC"/>
              <a:ea typeface="Noto Sans CJK SC"/>
              <a:cs typeface="Noto Sans CJK SC"/>
            </a:endParaRPr>
          </a:p>
        </p:txBody>
      </p:sp>
      <p:sp>
        <p:nvSpPr>
          <p:cNvPr id="266"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P0｜复用 DINOv3 teacher adapter 抽特征，接 LatentMixture + 检测头，完成训练评测。</a:t>
            </a:r>
            <a:endParaRPr sz="1275" b="1">
              <a:solidFill>
                <a:srgbClr val="111827"/>
              </a:solidFill>
              <a:latin typeface="Noto Sans CJK SC"/>
              <a:ea typeface="Noto Sans CJK SC"/>
              <a:cs typeface="Noto Sans CJK SC"/>
            </a:endParaRPr>
          </a:p>
        </p:txBody>
      </p:sp>
      <p:sp>
        <p:nvSpPr>
          <p:cNvPr id="267" name="圆角矩形 12"/>
          <p:cNvSpPr>
            <a:spLocks noGrp="1"/>
          </p:cNvSpPr>
          <p:nvPr/>
        </p:nvSpPr>
        <p:spPr>
          <a:xfrm>
            <a:off x="4762500" y="2438400"/>
            <a:ext cx="6896100" cy="723900"/>
          </a:xfrm>
          <a:prstGeom prst="roundRect">
            <a:avLst>
              <a:gd name="adj" fmla="val 10526"/>
            </a:avLst>
          </a:prstGeom>
          <a:solidFill>
            <a:srgbClr val="F0ECFF"/>
          </a:solidFill>
          <a:ln w="9525">
            <a:solidFill>
              <a:srgbClr val="7A5AF8"/>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P1｜与同参数量从零训练检测器做精度/显存/时长对照，覆盖至少 2 个数据集。</a:t>
            </a:r>
            <a:endParaRPr sz="1275" b="1">
              <a:solidFill>
                <a:srgbClr val="111827"/>
              </a:solidFill>
              <a:latin typeface="Noto Sans CJK SC"/>
              <a:ea typeface="Noto Sans CJK SC"/>
              <a:cs typeface="Noto Sans CJK SC"/>
            </a:endParaRPr>
          </a:p>
        </p:txBody>
      </p:sp>
      <p:sp>
        <p:nvSpPr>
          <p:cNvPr id="268"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P2｜显式注册 latent aux，扫描 balance/z-loss；或对比 DINOv3 与 SigLIP2 teacher。</a:t>
            </a:r>
            <a:endParaRPr sz="1275" b="1">
              <a:solidFill>
                <a:srgbClr val="111827"/>
              </a:solidFill>
              <a:latin typeface="Noto Sans CJK SC"/>
              <a:ea typeface="Noto Sans CJK SC"/>
              <a:cs typeface="Noto Sans CJK SC"/>
            </a:endParaRPr>
          </a:p>
        </p:txBody>
      </p:sp>
      <p:sp>
        <p:nvSpPr>
          <p:cNvPr id="269"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六周路径</a:t>
            </a:r>
            <a:endParaRPr sz="1275" b="1">
              <a:solidFill>
                <a:srgbClr val="7A5AF8"/>
              </a:solidFill>
              <a:latin typeface="Noto Sans CJK SC"/>
              <a:ea typeface="Noto Sans CJK SC"/>
              <a:cs typeface="Noto Sans CJK SC"/>
            </a:endParaRPr>
          </a:p>
        </p:txBody>
      </p:sp>
      <p:sp>
        <p:nvSpPr>
          <p:cNvPr id="270"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71"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特征管线</a:t>
            </a:r>
            <a:endParaRPr sz="1050" b="1">
              <a:solidFill>
                <a:srgbClr val="111827"/>
              </a:solidFill>
              <a:latin typeface="Noto Sans CJK SC"/>
              <a:ea typeface="Noto Sans CJK SC"/>
              <a:cs typeface="Noto Sans CJK SC"/>
            </a:endParaRPr>
          </a:p>
        </p:txBody>
      </p:sp>
      <p:sp>
        <p:nvSpPr>
          <p:cNvPr id="272"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73"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适配头冒烟</a:t>
            </a:r>
            <a:endParaRPr sz="1050" b="1">
              <a:solidFill>
                <a:srgbClr val="111827"/>
              </a:solidFill>
              <a:latin typeface="Noto Sans CJK SC"/>
              <a:ea typeface="Noto Sans CJK SC"/>
              <a:cs typeface="Noto Sans CJK SC"/>
            </a:endParaRPr>
          </a:p>
        </p:txBody>
      </p:sp>
      <p:sp>
        <p:nvSpPr>
          <p:cNvPr id="274"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75"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首数据集</a:t>
            </a:r>
            <a:endParaRPr sz="1050" b="1">
              <a:solidFill>
                <a:srgbClr val="111827"/>
              </a:solidFill>
              <a:latin typeface="Noto Sans CJK SC"/>
              <a:ea typeface="Noto Sans CJK SC"/>
              <a:cs typeface="Noto Sans CJK SC"/>
            </a:endParaRPr>
          </a:p>
        </p:txBody>
      </p:sp>
      <p:sp>
        <p:nvSpPr>
          <p:cNvPr id="276"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77"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第二数据集</a:t>
            </a:r>
            <a:endParaRPr sz="1050" b="1">
              <a:solidFill>
                <a:srgbClr val="111827"/>
              </a:solidFill>
              <a:latin typeface="Noto Sans CJK SC"/>
              <a:ea typeface="Noto Sans CJK SC"/>
              <a:cs typeface="Noto Sans CJK SC"/>
            </a:endParaRPr>
          </a:p>
        </p:txBody>
      </p:sp>
      <p:sp>
        <p:nvSpPr>
          <p:cNvPr id="278"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279"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尺寸/aux扫描</a:t>
            </a:r>
            <a:endParaRPr sz="1050" b="1">
              <a:solidFill>
                <a:srgbClr val="111827"/>
              </a:solidFill>
              <a:latin typeface="Noto Sans CJK SC"/>
              <a:ea typeface="Noto Sans CJK SC"/>
              <a:cs typeface="Noto Sans CJK SC"/>
            </a:endParaRPr>
          </a:p>
        </p:txBody>
      </p:sp>
      <p:sp>
        <p:nvSpPr>
          <p:cNvPr id="280" name="圆角矩形 25"/>
          <p:cNvSpPr>
            <a:spLocks noGrp="1"/>
          </p:cNvSpPr>
          <p:nvPr/>
        </p:nvSpPr>
        <p:spPr>
          <a:xfrm>
            <a:off x="10525125" y="4610100"/>
            <a:ext cx="1000125" cy="457200"/>
          </a:xfrm>
          <a:prstGeom prst="roundRect">
            <a:avLst>
              <a:gd name="adj" fmla="val 12500"/>
            </a:avLst>
          </a:prstGeom>
          <a:solidFill>
            <a:srgbClr val="7A5AF8"/>
          </a:solidFill>
          <a:ln w="9525">
            <a:solidFill>
              <a:srgbClr val="7A5AF8"/>
            </a:solidFill>
            <a:prstDash val="solid"/>
          </a:ln>
        </p:spPr>
        <p:txBody>
          <a:bodyPr/>
          <a:p/>
        </p:txBody>
      </p:sp>
      <p:sp>
        <p:nvSpPr>
          <p:cNvPr id="281"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性价比报告</a:t>
            </a:r>
            <a:endParaRPr sz="1050" b="1">
              <a:solidFill>
                <a:srgbClr val="FFFFFF"/>
              </a:solidFill>
              <a:latin typeface="Noto Sans CJK SC"/>
              <a:ea typeface="Noto Sans CJK SC"/>
              <a:cs typeface="Noto Sans CJK SC"/>
            </a:endParaRPr>
          </a:p>
        </p:txBody>
      </p:sp>
      <p:sp>
        <p:nvSpPr>
          <p:cNvPr id="282"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7A5AF8"/>
                </a:solidFill>
                <a:latin typeface="Noto Sans CJK SC"/>
                <a:ea typeface="Noto Sans CJK SC"/>
                <a:cs typeface="Noto Sans CJK SC"/>
              </a:defRPr>
            </a:pPr>
            <a:r>
              <a:rPr sz="1200" b="1">
                <a:solidFill>
                  <a:srgbClr val="7A5AF8"/>
                </a:solidFill>
                <a:latin typeface="Noto Sans CJK SC"/>
                <a:ea typeface="Noto Sans CJK SC"/>
                <a:cs typeface="Noto Sans CJK SC"/>
              </a:rPr>
              <a:t>交付物</a:t>
            </a:r>
            <a:endParaRPr sz="1200" b="1">
              <a:solidFill>
                <a:srgbClr val="7A5AF8"/>
              </a:solidFill>
              <a:latin typeface="Noto Sans CJK SC"/>
              <a:ea typeface="Noto Sans CJK SC"/>
              <a:cs typeface="Noto Sans CJK SC"/>
            </a:endParaRPr>
          </a:p>
        </p:txBody>
      </p:sp>
      <p:sp>
        <p:nvSpPr>
          <p:cNvPr id="283"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训练配方 PR、三维对照、latent aux 消融与 include_kinds 修复。</a:t>
            </a:r>
            <a:endParaRPr sz="1200" b="0">
              <a:solidFill>
                <a:srgbClr val="111827"/>
              </a:solidFill>
              <a:latin typeface="Noto Sans CJK SC"/>
              <a:ea typeface="Noto Sans CJK SC"/>
              <a:cs typeface="Noto Sans CJK SC"/>
            </a:endParaRPr>
          </a:p>
        </p:txBody>
      </p:sp>
      <p:sp>
        <p:nvSpPr>
          <p:cNvPr id="284"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7A5AF8"/>
                </a:solidFill>
                <a:latin typeface="Noto Sans CJK SC"/>
                <a:ea typeface="Noto Sans CJK SC"/>
                <a:cs typeface="Noto Sans CJK SC"/>
              </a:defRPr>
            </a:pPr>
            <a:r>
              <a:rPr sz="1200" b="1">
                <a:solidFill>
                  <a:srgbClr val="7A5AF8"/>
                </a:solidFill>
                <a:latin typeface="Noto Sans CJK SC"/>
                <a:ea typeface="Noto Sans CJK SC"/>
                <a:cs typeface="Noto Sans CJK SC"/>
              </a:rPr>
              <a:t>验收线</a:t>
            </a:r>
            <a:endParaRPr sz="1200" b="1">
              <a:solidFill>
                <a:srgbClr val="7A5AF8"/>
              </a:solidFill>
              <a:latin typeface="Noto Sans CJK SC"/>
              <a:ea typeface="Noto Sans CJK SC"/>
              <a:cs typeface="Noto Sans CJK SC"/>
            </a:endParaRPr>
          </a:p>
        </p:txBody>
      </p:sp>
      <p:sp>
        <p:nvSpPr>
          <p:cNvPr id="285"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至少 1 个数据集明确给出精度保留比例，且 GPU 时降低 ≥50%。</a:t>
            </a:r>
            <a:endParaRPr sz="1200" b="1">
              <a:solidFill>
                <a:srgbClr val="111827"/>
              </a:solidFill>
              <a:latin typeface="Noto Sans CJK SC"/>
              <a:ea typeface="Noto Sans CJK SC"/>
              <a:cs typeface="Noto Sans CJK SC"/>
            </a:endParaRPr>
          </a:p>
        </p:txBody>
      </p:sp>
      <p:sp>
        <p:nvSpPr>
          <p:cNvPr id="286"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287"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288" name="矩形 33"/>
          <p:cNvSpPr>
            <a:spLocks noGrp="1"/>
          </p:cNvSpPr>
          <p:nvPr/>
        </p:nvSpPr>
        <p:spPr>
          <a:xfrm>
            <a:off x="11068050" y="6438900"/>
            <a:ext cx="419100" cy="28575"/>
          </a:xfrm>
          <a:prstGeom prst="rect">
            <a:avLst/>
          </a:prstGeom>
          <a:solidFill>
            <a:srgbClr val="7A5AF8"/>
          </a:solidFill>
          <a:ln w="9525">
            <a:solidFill>
              <a:srgbClr val="7A5AF8"/>
            </a:solidFill>
            <a:prstDash val="solid"/>
          </a:ln>
        </p:spPr>
        <p:txBody>
          <a:bodyPr/>
          <a:p/>
        </p:txBody>
      </p:sp>
      <p:sp>
        <p:nvSpPr>
          <p:cNvPr id="289"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20</a:t>
            </a:r>
            <a:endParaRPr sz="975" b="1">
              <a:solidFill>
                <a:srgbClr val="667085"/>
              </a:solidFill>
              <a:latin typeface="Noto Sans CJK SC"/>
              <a:ea typeface="Noto Sans CJK SC"/>
              <a:cs typeface="Noto Sans CJK SC"/>
            </a:endParaRPr>
          </a:p>
        </p:txBody>
      </p:sp>
    </p:spTree>
  </p:cSld>
  <p:clrMapOvr>
    <a:masterClrMapping/>
  </p:clrMapOvr>
</p:sld>
</file>

<file path=ppt/slides/slide23.xml><?xml version="1.0" encoding="utf-8"?>
<p:sld xmlns:a="http://schemas.openxmlformats.org/drawingml/2006/main" xmlns:p="http://schemas.openxmlformats.org/presentationml/2006/main">
  <p:cSld>
    <p:bg>
      <p:bgPr>
        <a:solidFill>
          <a:srgbClr val="FFFFFF"/>
        </a:solidFill>
        <a:effectLst/>
      </p:bgPr>
    </p:bg>
    <p:spTree>
      <p:nvGrpSpPr>
        <p:cNvPr id="290" name=""/>
        <p:cNvGrpSpPr/>
        <p:nvPr/>
      </p:nvGrpSpPr>
      <p:grpSpPr>
        <a:xfrm>
          <a:off x="0" y="0"/>
          <a:ext cx="0" cy="0"/>
          <a:chOff x="0" y="0"/>
          <a:chExt cx="0" cy="0"/>
        </a:xfrm>
      </p:grpSpPr>
      <p:sp>
        <p:nvSpPr>
          <p:cNvPr id="291"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7A5AF8"/>
                </a:solidFill>
                <a:latin typeface="Noto Sans CJK SC"/>
                <a:ea typeface="Noto Sans CJK SC"/>
                <a:cs typeface="Noto Sans CJK SC"/>
              </a:defRPr>
            </a:pPr>
            <a:r>
              <a:rPr sz="1125" b="1">
                <a:solidFill>
                  <a:srgbClr val="7A5AF8"/>
                </a:solidFill>
                <a:latin typeface="Noto Sans CJK SC"/>
                <a:ea typeface="Noto Sans CJK SC"/>
                <a:cs typeface="Noto Sans CJK SC"/>
              </a:rPr>
              <a:t>THEME D  /  D2</a:t>
            </a:r>
            <a:endParaRPr sz="1125" b="1">
              <a:solidFill>
                <a:srgbClr val="7A5AF8"/>
              </a:solidFill>
              <a:latin typeface="Noto Sans CJK SC"/>
              <a:ea typeface="Noto Sans CJK SC"/>
              <a:cs typeface="Noto Sans CJK SC"/>
            </a:endParaRPr>
          </a:p>
        </p:txBody>
      </p:sp>
      <p:sp>
        <p:nvSpPr>
          <p:cNvPr id="292"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Foundation 蒸馏现状验证：把已实现能力跑出可信结论</a:t>
            </a:r>
            <a:endParaRPr sz="2925" b="1">
              <a:solidFill>
                <a:srgbClr val="111827"/>
              </a:solidFill>
              <a:latin typeface="Noto Sans CJK SC"/>
              <a:ea typeface="Noto Sans CJK SC"/>
              <a:cs typeface="Noto Sans CJK SC"/>
            </a:endParaRPr>
          </a:p>
        </p:txBody>
      </p:sp>
      <p:sp>
        <p:nvSpPr>
          <p:cNvPr id="293" name="矩形 2"/>
          <p:cNvSpPr>
            <a:spLocks noGrp="1"/>
          </p:cNvSpPr>
          <p:nvPr/>
        </p:nvSpPr>
        <p:spPr>
          <a:xfrm>
            <a:off x="457200" y="1352550"/>
            <a:ext cx="11277600" cy="28575"/>
          </a:xfrm>
          <a:prstGeom prst="rect">
            <a:avLst/>
          </a:prstGeom>
          <a:solidFill>
            <a:srgbClr val="7A5AF8"/>
          </a:solidFill>
          <a:ln w="9525">
            <a:solidFill>
              <a:srgbClr val="7A5AF8"/>
            </a:solidFill>
            <a:prstDash val="solid"/>
          </a:ln>
        </p:spPr>
        <p:txBody>
          <a:bodyPr/>
          <a:p/>
        </p:txBody>
      </p:sp>
      <p:sp>
        <p:nvSpPr>
          <p:cNvPr id="294"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核心问题</a:t>
            </a:r>
            <a:endParaRPr sz="1275" b="1">
              <a:solidFill>
                <a:srgbClr val="7A5AF8"/>
              </a:solidFill>
              <a:latin typeface="Noto Sans CJK SC"/>
              <a:ea typeface="Noto Sans CJK SC"/>
              <a:cs typeface="Noto Sans CJK SC"/>
            </a:endParaRPr>
          </a:p>
        </p:txBody>
      </p:sp>
      <p:sp>
        <p:nvSpPr>
          <p:cNvPr id="295"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现有模型已覆盖 DINOv3/SigLIP2、多尺度、语义与路由 KD；哪些组合在同预算下真正有效？</a:t>
            </a:r>
            <a:endParaRPr sz="1650" b="1">
              <a:solidFill>
                <a:srgbClr val="111827"/>
              </a:solidFill>
              <a:latin typeface="Noto Sans CJK SC"/>
              <a:ea typeface="Noto Sans CJK SC"/>
              <a:cs typeface="Noto Sans CJK SC"/>
            </a:endParaRPr>
          </a:p>
        </p:txBody>
      </p:sp>
      <p:sp>
        <p:nvSpPr>
          <p:cNvPr id="296"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仓库切入 / 关键提醒</a:t>
            </a:r>
            <a:endParaRPr sz="1275" b="1">
              <a:solidFill>
                <a:srgbClr val="7A5AF8"/>
              </a:solidFill>
              <a:latin typeface="Noto Sans CJK SC"/>
              <a:ea typeface="Noto Sans CJK SC"/>
              <a:cs typeface="Noto Sans CJK SC"/>
            </a:endParaRPr>
          </a:p>
        </p:txBody>
      </p:sp>
      <p:sp>
        <p:nvSpPr>
          <p:cNvPr id="297"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不再从零实现：先做配置—代码—测试清单，再围绕现有 Foundation 功能做最小消融矩阵。</a:t>
            </a:r>
            <a:endParaRPr sz="1275" b="0">
              <a:solidFill>
                <a:srgbClr val="667085"/>
              </a:solidFill>
              <a:latin typeface="Noto Sans CJK SC"/>
              <a:ea typeface="Noto Sans CJK SC"/>
              <a:cs typeface="Noto Sans CJK SC"/>
            </a:endParaRPr>
          </a:p>
        </p:txBody>
      </p:sp>
      <p:sp>
        <p:nvSpPr>
          <p:cNvPr id="298"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数据与环境</a:t>
            </a:r>
            <a:endParaRPr sz="1275" b="1">
              <a:solidFill>
                <a:srgbClr val="7A5AF8"/>
              </a:solidFill>
              <a:latin typeface="Noto Sans CJK SC"/>
              <a:ea typeface="Noto Sans CJK SC"/>
              <a:cs typeface="Noto Sans CJK SC"/>
            </a:endParaRPr>
          </a:p>
        </p:txBody>
      </p:sp>
      <p:sp>
        <p:nvSpPr>
          <p:cNvPr id="299"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COCO/COCO-mini；单卡起步；teacher 缓存与在线推理分别计时。</a:t>
            </a:r>
            <a:endParaRPr sz="1275" b="0">
              <a:solidFill>
                <a:srgbClr val="111827"/>
              </a:solidFill>
              <a:latin typeface="Noto Sans CJK SC"/>
              <a:ea typeface="Noto Sans CJK SC"/>
              <a:cs typeface="Noto Sans CJK SC"/>
            </a:endParaRPr>
          </a:p>
        </p:txBody>
      </p:sp>
      <p:sp>
        <p:nvSpPr>
          <p:cNvPr id="300"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301"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组合爆炸时锁定 DINOv3 P4 单教师；|ΔmAP|&lt;0.3 且 CI 含 0 判 no-go。</a:t>
            </a:r>
            <a:endParaRPr sz="1200" b="0">
              <a:solidFill>
                <a:srgbClr val="667085"/>
              </a:solidFill>
              <a:latin typeface="Noto Sans CJK SC"/>
              <a:ea typeface="Noto Sans CJK SC"/>
              <a:cs typeface="Noto Sans CJK SC"/>
            </a:endParaRPr>
          </a:p>
        </p:txBody>
      </p:sp>
      <p:sp>
        <p:nvSpPr>
          <p:cNvPr id="302"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P0｜跑通当前 foundation distill 路径；核对 teacher、tap、projector、loss 与日志。</a:t>
            </a:r>
            <a:endParaRPr sz="1275" b="1">
              <a:solidFill>
                <a:srgbClr val="111827"/>
              </a:solidFill>
              <a:latin typeface="Noto Sans CJK SC"/>
              <a:ea typeface="Noto Sans CJK SC"/>
              <a:cs typeface="Noto Sans CJK SC"/>
            </a:endParaRPr>
          </a:p>
        </p:txBody>
      </p:sp>
      <p:sp>
        <p:nvSpPr>
          <p:cNvPr id="303" name="圆角矩形 12"/>
          <p:cNvSpPr>
            <a:spLocks noGrp="1"/>
          </p:cNvSpPr>
          <p:nvPr/>
        </p:nvSpPr>
        <p:spPr>
          <a:xfrm>
            <a:off x="4762500" y="2438400"/>
            <a:ext cx="6896100" cy="723900"/>
          </a:xfrm>
          <a:prstGeom prst="roundRect">
            <a:avLst>
              <a:gd name="adj" fmla="val 10526"/>
            </a:avLst>
          </a:prstGeom>
          <a:solidFill>
            <a:srgbClr val="F0ECFF"/>
          </a:solidFill>
          <a:ln w="9525">
            <a:solidFill>
              <a:srgbClr val="7A5AF8"/>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P1｜DINOv3/SigLIP2 或 P4/multiscale 完成 2×2 中至少 3 格，同预算对照。</a:t>
            </a:r>
            <a:endParaRPr sz="1275" b="1">
              <a:solidFill>
                <a:srgbClr val="111827"/>
              </a:solidFill>
              <a:latin typeface="Noto Sans CJK SC"/>
              <a:ea typeface="Noto Sans CJK SC"/>
              <a:cs typeface="Noto Sans CJK SC"/>
            </a:endParaRPr>
          </a:p>
        </p:txBody>
      </p:sp>
      <p:sp>
        <p:nvSpPr>
          <p:cNvPr id="304"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P2｜扩展 semantic/multi-teacher，或提交配置/测试 bugfix 与 go/no-go 建议。</a:t>
            </a:r>
            <a:endParaRPr sz="1275" b="1">
              <a:solidFill>
                <a:srgbClr val="111827"/>
              </a:solidFill>
              <a:latin typeface="Noto Sans CJK SC"/>
              <a:ea typeface="Noto Sans CJK SC"/>
              <a:cs typeface="Noto Sans CJK SC"/>
            </a:endParaRPr>
          </a:p>
        </p:txBody>
      </p:sp>
      <p:sp>
        <p:nvSpPr>
          <p:cNvPr id="305"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7A5AF8"/>
                </a:solidFill>
                <a:latin typeface="Noto Sans CJK SC"/>
                <a:ea typeface="Noto Sans CJK SC"/>
                <a:cs typeface="Noto Sans CJK SC"/>
              </a:defRPr>
            </a:pPr>
            <a:r>
              <a:rPr sz="1275" b="1">
                <a:solidFill>
                  <a:srgbClr val="7A5AF8"/>
                </a:solidFill>
                <a:latin typeface="Noto Sans CJK SC"/>
                <a:ea typeface="Noto Sans CJK SC"/>
                <a:cs typeface="Noto Sans CJK SC"/>
              </a:rPr>
              <a:t>六周路径</a:t>
            </a:r>
            <a:endParaRPr sz="1275" b="1">
              <a:solidFill>
                <a:srgbClr val="7A5AF8"/>
              </a:solidFill>
              <a:latin typeface="Noto Sans CJK SC"/>
              <a:ea typeface="Noto Sans CJK SC"/>
              <a:cs typeface="Noto Sans CJK SC"/>
            </a:endParaRPr>
          </a:p>
        </p:txBody>
      </p:sp>
      <p:sp>
        <p:nvSpPr>
          <p:cNvPr id="306"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07"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文献/设计</a:t>
            </a:r>
            <a:endParaRPr sz="1050" b="1">
              <a:solidFill>
                <a:srgbClr val="111827"/>
              </a:solidFill>
              <a:latin typeface="Noto Sans CJK SC"/>
              <a:ea typeface="Noto Sans CJK SC"/>
              <a:cs typeface="Noto Sans CJK SC"/>
            </a:endParaRPr>
          </a:p>
        </p:txBody>
      </p:sp>
      <p:sp>
        <p:nvSpPr>
          <p:cNvPr id="308"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09"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单stage原型</a:t>
            </a:r>
            <a:endParaRPr sz="1050" b="1">
              <a:solidFill>
                <a:srgbClr val="111827"/>
              </a:solidFill>
              <a:latin typeface="Noto Sans CJK SC"/>
              <a:ea typeface="Noto Sans CJK SC"/>
              <a:cs typeface="Noto Sans CJK SC"/>
            </a:endParaRPr>
          </a:p>
        </p:txBody>
      </p:sp>
      <p:sp>
        <p:nvSpPr>
          <p:cNvPr id="310"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11"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首轮对照</a:t>
            </a:r>
            <a:endParaRPr sz="1050" b="1">
              <a:solidFill>
                <a:srgbClr val="111827"/>
              </a:solidFill>
              <a:latin typeface="Noto Sans CJK SC"/>
              <a:ea typeface="Noto Sans CJK SC"/>
              <a:cs typeface="Noto Sans CJK SC"/>
            </a:endParaRPr>
          </a:p>
        </p:txBody>
      </p:sp>
      <p:sp>
        <p:nvSpPr>
          <p:cNvPr id="312"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13"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诚实中期</a:t>
            </a:r>
            <a:endParaRPr sz="1050" b="1">
              <a:solidFill>
                <a:srgbClr val="111827"/>
              </a:solidFill>
              <a:latin typeface="Noto Sans CJK SC"/>
              <a:ea typeface="Noto Sans CJK SC"/>
              <a:cs typeface="Noto Sans CJK SC"/>
            </a:endParaRPr>
          </a:p>
        </p:txBody>
      </p:sp>
      <p:sp>
        <p:nvSpPr>
          <p:cNvPr id="314"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15"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来源/原因</a:t>
            </a:r>
            <a:endParaRPr sz="1050" b="1">
              <a:solidFill>
                <a:srgbClr val="111827"/>
              </a:solidFill>
              <a:latin typeface="Noto Sans CJK SC"/>
              <a:ea typeface="Noto Sans CJK SC"/>
              <a:cs typeface="Noto Sans CJK SC"/>
            </a:endParaRPr>
          </a:p>
        </p:txBody>
      </p:sp>
      <p:sp>
        <p:nvSpPr>
          <p:cNvPr id="316" name="圆角矩形 25"/>
          <p:cNvSpPr>
            <a:spLocks noGrp="1"/>
          </p:cNvSpPr>
          <p:nvPr/>
        </p:nvSpPr>
        <p:spPr>
          <a:xfrm>
            <a:off x="10525125" y="4610100"/>
            <a:ext cx="1000125" cy="457200"/>
          </a:xfrm>
          <a:prstGeom prst="roundRect">
            <a:avLst>
              <a:gd name="adj" fmla="val 12500"/>
            </a:avLst>
          </a:prstGeom>
          <a:solidFill>
            <a:srgbClr val="7A5AF8"/>
          </a:solidFill>
          <a:ln w="9525">
            <a:solidFill>
              <a:srgbClr val="7A5AF8"/>
            </a:solidFill>
            <a:prstDash val="solid"/>
          </a:ln>
        </p:spPr>
        <p:txBody>
          <a:bodyPr/>
          <a:p/>
        </p:txBody>
      </p:sp>
      <p:sp>
        <p:nvSpPr>
          <p:cNvPr id="317"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立项建议</a:t>
            </a:r>
            <a:endParaRPr sz="1050" b="1">
              <a:solidFill>
                <a:srgbClr val="FFFFFF"/>
              </a:solidFill>
              <a:latin typeface="Noto Sans CJK SC"/>
              <a:ea typeface="Noto Sans CJK SC"/>
              <a:cs typeface="Noto Sans CJK SC"/>
            </a:endParaRPr>
          </a:p>
        </p:txBody>
      </p:sp>
      <p:sp>
        <p:nvSpPr>
          <p:cNvPr id="318"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7A5AF8"/>
                </a:solidFill>
                <a:latin typeface="Noto Sans CJK SC"/>
                <a:ea typeface="Noto Sans CJK SC"/>
                <a:cs typeface="Noto Sans CJK SC"/>
              </a:defRPr>
            </a:pPr>
            <a:r>
              <a:rPr sz="1200" b="1">
                <a:solidFill>
                  <a:srgbClr val="7A5AF8"/>
                </a:solidFill>
                <a:latin typeface="Noto Sans CJK SC"/>
                <a:ea typeface="Noto Sans CJK SC"/>
                <a:cs typeface="Noto Sans CJK SC"/>
              </a:rPr>
              <a:t>交付物</a:t>
            </a:r>
            <a:endParaRPr sz="1200" b="1">
              <a:solidFill>
                <a:srgbClr val="7A5AF8"/>
              </a:solidFill>
              <a:latin typeface="Noto Sans CJK SC"/>
              <a:ea typeface="Noto Sans CJK SC"/>
              <a:cs typeface="Noto Sans CJK SC"/>
            </a:endParaRPr>
          </a:p>
        </p:txBody>
      </p:sp>
      <p:sp>
        <p:nvSpPr>
          <p:cNvPr id="319"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HEAD 能力地图、复现实验、消融表、配置/测试 PR 与 go/no-go。</a:t>
            </a:r>
            <a:endParaRPr sz="1200" b="0">
              <a:solidFill>
                <a:srgbClr val="111827"/>
              </a:solidFill>
              <a:latin typeface="Noto Sans CJK SC"/>
              <a:ea typeface="Noto Sans CJK SC"/>
              <a:cs typeface="Noto Sans CJK SC"/>
            </a:endParaRPr>
          </a:p>
        </p:txBody>
      </p:sp>
      <p:sp>
        <p:nvSpPr>
          <p:cNvPr id="320"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7A5AF8"/>
                </a:solidFill>
                <a:latin typeface="Noto Sans CJK SC"/>
                <a:ea typeface="Noto Sans CJK SC"/>
                <a:cs typeface="Noto Sans CJK SC"/>
              </a:defRPr>
            </a:pPr>
            <a:r>
              <a:rPr sz="1200" b="1">
                <a:solidFill>
                  <a:srgbClr val="7A5AF8"/>
                </a:solidFill>
                <a:latin typeface="Noto Sans CJK SC"/>
                <a:ea typeface="Noto Sans CJK SC"/>
                <a:cs typeface="Noto Sans CJK SC"/>
              </a:rPr>
              <a:t>验收线</a:t>
            </a:r>
            <a:endParaRPr sz="1200" b="1">
              <a:solidFill>
                <a:srgbClr val="7A5AF8"/>
              </a:solidFill>
              <a:latin typeface="Noto Sans CJK SC"/>
              <a:ea typeface="Noto Sans CJK SC"/>
              <a:cs typeface="Noto Sans CJK SC"/>
            </a:endParaRPr>
          </a:p>
        </p:txBody>
      </p:sp>
      <p:sp>
        <p:nvSpPr>
          <p:cNvPr id="321"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fontScale="99516"/>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每个结论映射现有 config+code；无混杂变量；负结果必须有证据。</a:t>
            </a:r>
            <a:endParaRPr sz="1200" b="1">
              <a:solidFill>
                <a:srgbClr val="111827"/>
              </a:solidFill>
              <a:latin typeface="Noto Sans CJK SC"/>
              <a:ea typeface="Noto Sans CJK SC"/>
              <a:cs typeface="Noto Sans CJK SC"/>
            </a:endParaRPr>
          </a:p>
        </p:txBody>
      </p:sp>
      <p:sp>
        <p:nvSpPr>
          <p:cNvPr id="322"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323"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324" name="矩形 33"/>
          <p:cNvSpPr>
            <a:spLocks noGrp="1"/>
          </p:cNvSpPr>
          <p:nvPr/>
        </p:nvSpPr>
        <p:spPr>
          <a:xfrm>
            <a:off x="11068050" y="6438900"/>
            <a:ext cx="419100" cy="28575"/>
          </a:xfrm>
          <a:prstGeom prst="rect">
            <a:avLst/>
          </a:prstGeom>
          <a:solidFill>
            <a:srgbClr val="7A5AF8"/>
          </a:solidFill>
          <a:ln w="9525">
            <a:solidFill>
              <a:srgbClr val="7A5AF8"/>
            </a:solidFill>
            <a:prstDash val="solid"/>
          </a:ln>
        </p:spPr>
        <p:txBody>
          <a:bodyPr/>
          <a:p/>
        </p:txBody>
      </p:sp>
      <p:sp>
        <p:nvSpPr>
          <p:cNvPr id="325"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21</a:t>
            </a:r>
            <a:endParaRPr sz="975" b="1">
              <a:solidFill>
                <a:srgbClr val="667085"/>
              </a:solidFill>
              <a:latin typeface="Noto Sans CJK SC"/>
              <a:ea typeface="Noto Sans CJK SC"/>
              <a:cs typeface="Noto Sans CJK SC"/>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326" name=""/>
        <p:cNvGrpSpPr/>
        <p:nvPr/>
      </p:nvGrpSpPr>
      <p:grpSpPr>
        <a:xfrm>
          <a:off x="0" y="0"/>
          <a:ext cx="0" cy="0"/>
          <a:chOff x="0" y="0"/>
          <a:chExt cx="0" cy="0"/>
        </a:xfrm>
      </p:grpSpPr>
      <p:pic>
        <p:nvPicPr>
          <p:cNvPr id="327" name="图片 1"/>
          <p:cNvPicPr>
            <a:picLocks noChangeAspect="1"/>
          </p:cNvPicPr>
          <p:nvPr/>
        </p:nvPicPr>
        <p:blipFill>
          <a:blip r:embed="rId2"/>
          <a:srcRect/>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328" name=""/>
        <p:cNvGrpSpPr/>
        <p:nvPr/>
      </p:nvGrpSpPr>
      <p:grpSpPr>
        <a:xfrm>
          <a:off x="0" y="0"/>
          <a:ext cx="0" cy="0"/>
          <a:chOff x="0" y="0"/>
          <a:chExt cx="0" cy="0"/>
        </a:xfrm>
      </p:grpSpPr>
      <p:pic>
        <p:nvPicPr>
          <p:cNvPr id="329" name="图片 14"/>
          <p:cNvPicPr>
            <a:picLocks noChangeAspect="1"/>
          </p:cNvPicPr>
          <p:nvPr/>
        </p:nvPicPr>
        <p:blipFill>
          <a:blip r:embed="rId2"/>
          <a:srcRect t="27" b="27"/>
          <a:stretch>
            <a:fillRect/>
          </a:stretch>
        </p:blipFill>
        <p:spPr>
          <a:xfrm>
            <a:off x="0" y="0"/>
            <a:ext cx="12192000" cy="6858000"/>
          </a:xfrm>
          <a:prstGeom prst="rect">
            <a:avLst/>
          </a:prstGeom>
        </p:spPr>
      </p:pic>
      <p:sp>
        <p:nvSpPr>
          <p:cNvPr id="330"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331" name="矩形 2"/>
          <p:cNvSpPr>
            <a:spLocks noGrp="1"/>
          </p:cNvSpPr>
          <p:nvPr/>
        </p:nvSpPr>
        <p:spPr>
          <a:xfrm>
            <a:off x="495300" y="514350"/>
            <a:ext cx="2095500" cy="3048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THEME E</a:t>
            </a:r>
            <a:endParaRPr sz="1275" b="1">
              <a:solidFill>
                <a:srgbClr val="00A05A"/>
              </a:solidFill>
              <a:latin typeface="Noto Sans CJK SC"/>
              <a:ea typeface="Noto Sans CJK SC"/>
              <a:cs typeface="Noto Sans CJK SC"/>
            </a:endParaRPr>
          </a:p>
        </p:txBody>
      </p:sp>
      <p:sp>
        <p:nvSpPr>
          <p:cNvPr id="332" name="矩形 3"/>
          <p:cNvSpPr>
            <a:spLocks noGrp="1"/>
          </p:cNvSpPr>
          <p:nvPr/>
        </p:nvSpPr>
        <p:spPr>
          <a:xfrm>
            <a:off x="495300" y="1238250"/>
            <a:ext cx="4476750" cy="60960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社区影响力</a:t>
            </a:r>
            <a:endParaRPr sz="3150" b="1">
              <a:solidFill>
                <a:srgbClr val="111827"/>
              </a:solidFill>
              <a:latin typeface="Noto Sans CJK SC"/>
              <a:ea typeface="Noto Sans CJK SC"/>
              <a:cs typeface="Noto Sans CJK SC"/>
            </a:endParaRPr>
          </a:p>
        </p:txBody>
      </p:sp>
      <p:sp>
        <p:nvSpPr>
          <p:cNvPr id="333" name="矩形 4"/>
          <p:cNvSpPr>
            <a:spLocks noGrp="1"/>
          </p:cNvSpPr>
          <p:nvPr/>
        </p:nvSpPr>
        <p:spPr>
          <a:xfrm>
            <a:off x="495300" y="2076450"/>
            <a:ext cx="4095750" cy="1047750"/>
          </a:xfrm>
          <a:prstGeom prst="rect">
            <a:avLst/>
          </a:prstGeom>
          <a:noFill/>
          <a:ln w="0">
            <a:noFill/>
            <a:prstDash val="solid"/>
          </a:ln>
        </p:spPr>
        <p:txBody>
          <a:bodyPr wrap="square" lIns="0" tIns="0" rIns="0" bIns="0" anchor="t">
            <a:normAutofit/>
          </a:bodyPr>
          <a:lstStyle/>
          <a:p>
            <a:pPr algn="l">
              <a:lnSpc>
                <a:spcPct val="108000"/>
              </a:lnSpc>
              <a:buNone/>
              <a:defRPr sz="1875" b="0">
                <a:solidFill>
                  <a:srgbClr val="667085"/>
                </a:solidFill>
                <a:latin typeface="Noto Sans CJK SC"/>
                <a:ea typeface="Noto Sans CJK SC"/>
                <a:cs typeface="Noto Sans CJK SC"/>
              </a:defRPr>
            </a:pPr>
            <a:r>
              <a:rPr sz="1875" b="0">
                <a:solidFill>
                  <a:srgbClr val="667085"/>
                </a:solidFill>
                <a:latin typeface="Noto Sans CJK SC"/>
                <a:ea typeface="Noto Sans CJK SC"/>
                <a:cs typeface="Noto Sans CJK SC"/>
              </a:rPr>
              <a:t>把研究结果沉淀为工具、基准与可视化资产</a:t>
            </a:r>
            <a:endParaRPr sz="1875" b="0">
              <a:solidFill>
                <a:srgbClr val="667085"/>
              </a:solidFill>
              <a:latin typeface="Noto Sans CJK SC"/>
              <a:ea typeface="Noto Sans CJK SC"/>
              <a:cs typeface="Noto Sans CJK SC"/>
            </a:endParaRPr>
          </a:p>
        </p:txBody>
      </p:sp>
      <p:sp>
        <p:nvSpPr>
          <p:cNvPr id="334" name="矩形 5"/>
          <p:cNvSpPr>
            <a:spLocks noGrp="1"/>
          </p:cNvSpPr>
          <p:nvPr/>
        </p:nvSpPr>
        <p:spPr>
          <a:xfrm>
            <a:off x="495300" y="3381375"/>
            <a:ext cx="3238500" cy="47625"/>
          </a:xfrm>
          <a:prstGeom prst="rect">
            <a:avLst/>
          </a:prstGeom>
          <a:solidFill>
            <a:srgbClr val="00A05A"/>
          </a:solidFill>
          <a:ln w="9525">
            <a:solidFill>
              <a:srgbClr val="00A05A"/>
            </a:solidFill>
            <a:prstDash val="solid"/>
          </a:ln>
        </p:spPr>
        <p:txBody>
          <a:bodyPr/>
          <a:p/>
        </p:txBody>
      </p:sp>
      <p:sp>
        <p:nvSpPr>
          <p:cNvPr id="335" name="矩形 6"/>
          <p:cNvSpPr>
            <a:spLocks noGrp="1"/>
          </p:cNvSpPr>
          <p:nvPr/>
        </p:nvSpPr>
        <p:spPr>
          <a:xfrm>
            <a:off x="495300" y="37719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00A05A"/>
                </a:solidFill>
                <a:latin typeface="Noto Sans CJK SC"/>
                <a:ea typeface="Noto Sans CJK SC"/>
                <a:cs typeface="Noto Sans CJK SC"/>
              </a:defRPr>
            </a:pPr>
            <a:r>
              <a:rPr sz="1350" b="1">
                <a:solidFill>
                  <a:srgbClr val="00A05A"/>
                </a:solidFill>
                <a:latin typeface="Noto Sans CJK SC"/>
                <a:ea typeface="Noto Sans CJK SC"/>
                <a:cs typeface="Noto Sans CJK SC"/>
              </a:rPr>
              <a:t>01</a:t>
            </a:r>
            <a:endParaRPr sz="1350" b="1">
              <a:solidFill>
                <a:srgbClr val="00A05A"/>
              </a:solidFill>
              <a:latin typeface="Noto Sans CJK SC"/>
              <a:ea typeface="Noto Sans CJK SC"/>
              <a:cs typeface="Noto Sans CJK SC"/>
            </a:endParaRPr>
          </a:p>
        </p:txBody>
      </p:sp>
      <p:sp>
        <p:nvSpPr>
          <p:cNvPr id="336" name="矩形 7"/>
          <p:cNvSpPr>
            <a:spLocks noGrp="1"/>
          </p:cNvSpPr>
          <p:nvPr/>
        </p:nvSpPr>
        <p:spPr>
          <a:xfrm>
            <a:off x="1028700" y="37623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E1 ES-MoE 工具包</a:t>
            </a:r>
            <a:endParaRPr sz="1500" b="1">
              <a:solidFill>
                <a:srgbClr val="111827"/>
              </a:solidFill>
              <a:latin typeface="Noto Sans CJK SC"/>
              <a:ea typeface="Noto Sans CJK SC"/>
              <a:cs typeface="Noto Sans CJK SC"/>
            </a:endParaRPr>
          </a:p>
        </p:txBody>
      </p:sp>
      <p:sp>
        <p:nvSpPr>
          <p:cNvPr id="337" name="矩形 8"/>
          <p:cNvSpPr>
            <a:spLocks noGrp="1"/>
          </p:cNvSpPr>
          <p:nvPr/>
        </p:nvSpPr>
        <p:spPr>
          <a:xfrm>
            <a:off x="495300" y="43815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00A05A"/>
                </a:solidFill>
                <a:latin typeface="Noto Sans CJK SC"/>
                <a:ea typeface="Noto Sans CJK SC"/>
                <a:cs typeface="Noto Sans CJK SC"/>
              </a:defRPr>
            </a:pPr>
            <a:r>
              <a:rPr sz="1350" b="1">
                <a:solidFill>
                  <a:srgbClr val="00A05A"/>
                </a:solidFill>
                <a:latin typeface="Noto Sans CJK SC"/>
                <a:ea typeface="Noto Sans CJK SC"/>
                <a:cs typeface="Noto Sans CJK SC"/>
              </a:rPr>
              <a:t>02</a:t>
            </a:r>
            <a:endParaRPr sz="1350" b="1">
              <a:solidFill>
                <a:srgbClr val="00A05A"/>
              </a:solidFill>
              <a:latin typeface="Noto Sans CJK SC"/>
              <a:ea typeface="Noto Sans CJK SC"/>
              <a:cs typeface="Noto Sans CJK SC"/>
            </a:endParaRPr>
          </a:p>
        </p:txBody>
      </p:sp>
      <p:sp>
        <p:nvSpPr>
          <p:cNvPr id="338" name="矩形 9"/>
          <p:cNvSpPr>
            <a:spLocks noGrp="1"/>
          </p:cNvSpPr>
          <p:nvPr/>
        </p:nvSpPr>
        <p:spPr>
          <a:xfrm>
            <a:off x="1028700" y="43719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E2 涨点打假</a:t>
            </a:r>
            <a:endParaRPr sz="1500" b="1">
              <a:solidFill>
                <a:srgbClr val="111827"/>
              </a:solidFill>
              <a:latin typeface="Noto Sans CJK SC"/>
              <a:ea typeface="Noto Sans CJK SC"/>
              <a:cs typeface="Noto Sans CJK SC"/>
            </a:endParaRPr>
          </a:p>
        </p:txBody>
      </p:sp>
      <p:sp>
        <p:nvSpPr>
          <p:cNvPr id="339" name="矩形 10"/>
          <p:cNvSpPr>
            <a:spLocks noGrp="1"/>
          </p:cNvSpPr>
          <p:nvPr/>
        </p:nvSpPr>
        <p:spPr>
          <a:xfrm>
            <a:off x="495300" y="49911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00A05A"/>
                </a:solidFill>
                <a:latin typeface="Noto Sans CJK SC"/>
                <a:ea typeface="Noto Sans CJK SC"/>
                <a:cs typeface="Noto Sans CJK SC"/>
              </a:defRPr>
            </a:pPr>
            <a:r>
              <a:rPr sz="1350" b="1">
                <a:solidFill>
                  <a:srgbClr val="00A05A"/>
                </a:solidFill>
                <a:latin typeface="Noto Sans CJK SC"/>
                <a:ea typeface="Noto Sans CJK SC"/>
                <a:cs typeface="Noto Sans CJK SC"/>
              </a:rPr>
              <a:t>03</a:t>
            </a:r>
            <a:endParaRPr sz="1350" b="1">
              <a:solidFill>
                <a:srgbClr val="00A05A"/>
              </a:solidFill>
              <a:latin typeface="Noto Sans CJK SC"/>
              <a:ea typeface="Noto Sans CJK SC"/>
              <a:cs typeface="Noto Sans CJK SC"/>
            </a:endParaRPr>
          </a:p>
        </p:txBody>
      </p:sp>
      <p:sp>
        <p:nvSpPr>
          <p:cNvPr id="340" name="矩形 11"/>
          <p:cNvSpPr>
            <a:spLocks noGrp="1"/>
          </p:cNvSpPr>
          <p:nvPr/>
        </p:nvSpPr>
        <p:spPr>
          <a:xfrm>
            <a:off x="1028700" y="49815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E3 MoE 透视镜</a:t>
            </a:r>
            <a:endParaRPr sz="1500" b="1">
              <a:solidFill>
                <a:srgbClr val="111827"/>
              </a:solidFill>
              <a:latin typeface="Noto Sans CJK SC"/>
              <a:ea typeface="Noto Sans CJK SC"/>
              <a:cs typeface="Noto Sans CJK SC"/>
            </a:endParaRPr>
          </a:p>
        </p:txBody>
      </p:sp>
      <p:sp>
        <p:nvSpPr>
          <p:cNvPr id="341" name="矩形 12"/>
          <p:cNvSpPr>
            <a:spLocks noGrp="1"/>
          </p:cNvSpPr>
          <p:nvPr/>
        </p:nvSpPr>
        <p:spPr>
          <a:xfrm>
            <a:off x="11049000" y="6191250"/>
            <a:ext cx="685800" cy="323850"/>
          </a:xfrm>
          <a:prstGeom prst="rect">
            <a:avLst/>
          </a:prstGeom>
          <a:noFill/>
          <a:ln w="0">
            <a:noFill/>
            <a:prstDash val="solid"/>
          </a:ln>
        </p:spPr>
        <p:txBody>
          <a:bodyPr wrap="square" lIns="0" tIns="0" rIns="0" bIns="0" anchor="t">
            <a:normAutofit/>
          </a:bodyPr>
          <a:lstStyle/>
          <a:p>
            <a:pPr algn="r">
              <a:lnSpc>
                <a:spcPct val="108000"/>
              </a:lnSpc>
              <a:buNone/>
              <a:defRPr sz="1050" b="1">
                <a:solidFill>
                  <a:srgbClr val="667085"/>
                </a:solidFill>
                <a:latin typeface="Noto Sans CJK SC"/>
                <a:ea typeface="Noto Sans CJK SC"/>
                <a:cs typeface="Noto Sans CJK SC"/>
              </a:defRPr>
            </a:pPr>
            <a:r>
              <a:rPr sz="1050" b="1">
                <a:solidFill>
                  <a:srgbClr val="667085"/>
                </a:solidFill>
                <a:latin typeface="Noto Sans CJK SC"/>
                <a:ea typeface="Noto Sans CJK SC"/>
                <a:cs typeface="Noto Sans CJK SC"/>
              </a:rPr>
              <a:t>23</a:t>
            </a:r>
            <a:endParaRPr sz="1050" b="1">
              <a:solidFill>
                <a:srgbClr val="667085"/>
              </a:solidFill>
              <a:latin typeface="Noto Sans CJK SC"/>
              <a:ea typeface="Noto Sans CJK SC"/>
              <a:cs typeface="Noto Sans CJK SC"/>
            </a:endParaRPr>
          </a:p>
        </p:txBody>
      </p:sp>
    </p:spTree>
  </p:cSld>
  <p:clrMapOvr>
    <a:masterClrMapping/>
  </p:clrMapOvr>
</p:sld>
</file>

<file path=ppt/slides/slide26.xml><?xml version="1.0" encoding="utf-8"?>
<p:sld xmlns:a="http://schemas.openxmlformats.org/drawingml/2006/main" xmlns:p="http://schemas.openxmlformats.org/presentationml/2006/main">
  <p:cSld>
    <p:bg>
      <p:bgPr>
        <a:solidFill>
          <a:srgbClr val="FFFFFF"/>
        </a:solidFill>
        <a:effectLst/>
      </p:bgPr>
    </p:bg>
    <p:spTree>
      <p:nvGrpSpPr>
        <p:cNvPr id="342" name=""/>
        <p:cNvGrpSpPr/>
        <p:nvPr/>
      </p:nvGrpSpPr>
      <p:grpSpPr>
        <a:xfrm>
          <a:off x="0" y="0"/>
          <a:ext cx="0" cy="0"/>
          <a:chOff x="0" y="0"/>
          <a:chExt cx="0" cy="0"/>
        </a:xfrm>
      </p:grpSpPr>
      <p:sp>
        <p:nvSpPr>
          <p:cNvPr id="343"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00A05A"/>
                </a:solidFill>
                <a:latin typeface="Noto Sans CJK SC"/>
                <a:ea typeface="Noto Sans CJK SC"/>
                <a:cs typeface="Noto Sans CJK SC"/>
              </a:defRPr>
            </a:pPr>
            <a:r>
              <a:rPr sz="1125" b="1">
                <a:solidFill>
                  <a:srgbClr val="00A05A"/>
                </a:solidFill>
                <a:latin typeface="Noto Sans CJK SC"/>
                <a:ea typeface="Noto Sans CJK SC"/>
                <a:cs typeface="Noto Sans CJK SC"/>
              </a:rPr>
              <a:t>THEME E  /  E1</a:t>
            </a:r>
            <a:endParaRPr sz="1125" b="1">
              <a:solidFill>
                <a:srgbClr val="00A05A"/>
              </a:solidFill>
              <a:latin typeface="Noto Sans CJK SC"/>
              <a:ea typeface="Noto Sans CJK SC"/>
              <a:cs typeface="Noto Sans CJK SC"/>
            </a:endParaRPr>
          </a:p>
        </p:txBody>
      </p:sp>
      <p:sp>
        <p:nvSpPr>
          <p:cNvPr id="344"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ES-MoE 工具包：把“民间涨点”做成官方能力</a:t>
            </a:r>
            <a:endParaRPr sz="2925" b="1">
              <a:solidFill>
                <a:srgbClr val="111827"/>
              </a:solidFill>
              <a:latin typeface="Noto Sans CJK SC"/>
              <a:ea typeface="Noto Sans CJK SC"/>
              <a:cs typeface="Noto Sans CJK SC"/>
            </a:endParaRPr>
          </a:p>
        </p:txBody>
      </p:sp>
      <p:sp>
        <p:nvSpPr>
          <p:cNvPr id="345" name="矩形 2"/>
          <p:cNvSpPr>
            <a:spLocks noGrp="1"/>
          </p:cNvSpPr>
          <p:nvPr/>
        </p:nvSpPr>
        <p:spPr>
          <a:xfrm>
            <a:off x="457200" y="1352550"/>
            <a:ext cx="11277600" cy="28575"/>
          </a:xfrm>
          <a:prstGeom prst="rect">
            <a:avLst/>
          </a:prstGeom>
          <a:solidFill>
            <a:srgbClr val="00A05A"/>
          </a:solidFill>
          <a:ln w="9525">
            <a:solidFill>
              <a:srgbClr val="00A05A"/>
            </a:solidFill>
            <a:prstDash val="solid"/>
          </a:ln>
        </p:spPr>
        <p:txBody>
          <a:bodyPr/>
          <a:p/>
        </p:txBody>
      </p:sp>
      <p:sp>
        <p:nvSpPr>
          <p:cNvPr id="346"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核心问题</a:t>
            </a:r>
            <a:endParaRPr sz="1275" b="1">
              <a:solidFill>
                <a:srgbClr val="00A05A"/>
              </a:solidFill>
              <a:latin typeface="Noto Sans CJK SC"/>
              <a:ea typeface="Noto Sans CJK SC"/>
              <a:cs typeface="Noto Sans CJK SC"/>
            </a:endParaRPr>
          </a:p>
        </p:txBody>
      </p:sp>
      <p:sp>
        <p:nvSpPr>
          <p:cNvPr id="347"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能否在严格预算与多 seed 下选出真最优模块，并三行代码接入多代 Ultralytics？</a:t>
            </a:r>
            <a:endParaRPr sz="1650" b="1">
              <a:solidFill>
                <a:srgbClr val="111827"/>
              </a:solidFill>
              <a:latin typeface="Noto Sans CJK SC"/>
              <a:ea typeface="Noto Sans CJK SC"/>
              <a:cs typeface="Noto Sans CJK SC"/>
            </a:endParaRPr>
          </a:p>
        </p:txBody>
      </p:sp>
      <p:sp>
        <p:nvSpPr>
          <p:cNvPr id="348"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仓库切入 / 关键提醒</a:t>
            </a:r>
            <a:endParaRPr sz="1275" b="1">
              <a:solidFill>
                <a:srgbClr val="00A05A"/>
              </a:solidFill>
              <a:latin typeface="Noto Sans CJK SC"/>
              <a:ea typeface="Noto Sans CJK SC"/>
              <a:cs typeface="Noto Sans CJK SC"/>
            </a:endParaRPr>
          </a:p>
        </p:txBody>
      </p:sp>
      <p:sp>
        <p:nvSpPr>
          <p:cNvPr id="349"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插件化最大难点不是打包，而是让宿主项目正确接收 collect_aux_loss。</a:t>
            </a:r>
            <a:endParaRPr sz="1275" b="0">
              <a:solidFill>
                <a:srgbClr val="667085"/>
              </a:solidFill>
              <a:latin typeface="Noto Sans CJK SC"/>
              <a:ea typeface="Noto Sans CJK SC"/>
              <a:cs typeface="Noto Sans CJK SC"/>
            </a:endParaRPr>
          </a:p>
        </p:txBody>
      </p:sp>
      <p:sp>
        <p:nvSpPr>
          <p:cNvPr id="350"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数据与环境</a:t>
            </a:r>
            <a:endParaRPr sz="1275" b="1">
              <a:solidFill>
                <a:srgbClr val="00A05A"/>
              </a:solidFill>
              <a:latin typeface="Noto Sans CJK SC"/>
              <a:ea typeface="Noto Sans CJK SC"/>
              <a:cs typeface="Noto Sans CJK SC"/>
            </a:endParaRPr>
          </a:p>
        </p:txBody>
      </p:sp>
      <p:sp>
        <p:nvSpPr>
          <p:cNvPr id="351"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 为主；算力需求高，建议 2–4 卡并与 E2 共享排期。</a:t>
            </a:r>
            <a:endParaRPr sz="1275" b="0">
              <a:solidFill>
                <a:srgbClr val="111827"/>
              </a:solidFill>
              <a:latin typeface="Noto Sans CJK SC"/>
              <a:ea typeface="Noto Sans CJK SC"/>
              <a:cs typeface="Noto Sans CJK SC"/>
            </a:endParaRPr>
          </a:p>
        </p:txBody>
      </p:sp>
      <p:sp>
        <p:nvSpPr>
          <p:cNvPr id="352"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353"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算力不足缩到两代+单主干；工程过大则先做仓库内独立模块。</a:t>
            </a:r>
            <a:endParaRPr sz="1200" b="0">
              <a:solidFill>
                <a:srgbClr val="667085"/>
              </a:solidFill>
              <a:latin typeface="Noto Sans CJK SC"/>
              <a:ea typeface="Noto Sans CJK SC"/>
              <a:cs typeface="Noto Sans CJK SC"/>
            </a:endParaRPr>
          </a:p>
        </p:txBody>
      </p:sp>
      <p:sp>
        <p:nvSpPr>
          <p:cNvPr id="354"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P0｜以 README 的 ES-MoE-N（2.68M/8.7G/.427）为锚，3 seed 复核硬件与评测口径。</a:t>
            </a:r>
            <a:endParaRPr sz="1275" b="1">
              <a:solidFill>
                <a:srgbClr val="111827"/>
              </a:solidFill>
              <a:latin typeface="Noto Sans CJK SC"/>
              <a:ea typeface="Noto Sans CJK SC"/>
              <a:cs typeface="Noto Sans CJK SC"/>
            </a:endParaRPr>
          </a:p>
        </p:txBody>
      </p:sp>
      <p:sp>
        <p:nvSpPr>
          <p:cNvPr id="355" name="圆角矩形 12"/>
          <p:cNvSpPr>
            <a:spLocks noGrp="1"/>
          </p:cNvSpPr>
          <p:nvPr/>
        </p:nvSpPr>
        <p:spPr>
          <a:xfrm>
            <a:off x="4762500" y="2438400"/>
            <a:ext cx="6896100" cy="723900"/>
          </a:xfrm>
          <a:prstGeom prst="roundRect">
            <a:avLst>
              <a:gd name="adj" fmla="val 10526"/>
            </a:avLst>
          </a:prstGeom>
          <a:solidFill>
            <a:srgbClr val="E7F7EF"/>
          </a:solidFill>
          <a:ln w="9525">
            <a:solidFill>
              <a:srgbClr val="00A05A"/>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P1｜完成 pip/配置注入式插件，兼容 YOLOv8 / YOLO11 / YOLOv12，提供 README + Colab。</a:t>
            </a:r>
            <a:endParaRPr sz="1275" b="1">
              <a:solidFill>
                <a:srgbClr val="111827"/>
              </a:solidFill>
              <a:latin typeface="Noto Sans CJK SC"/>
              <a:ea typeface="Noto Sans CJK SC"/>
              <a:cs typeface="Noto Sans CJK SC"/>
            </a:endParaRPr>
          </a:p>
        </p:txBody>
      </p:sp>
      <p:sp>
        <p:nvSpPr>
          <p:cNvPr id="356"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P2｜发布 PyPI/独立包，产出中英教程，并根据首轮社区反馈迭代。</a:t>
            </a:r>
            <a:endParaRPr sz="1275" b="1">
              <a:solidFill>
                <a:srgbClr val="111827"/>
              </a:solidFill>
              <a:latin typeface="Noto Sans CJK SC"/>
              <a:ea typeface="Noto Sans CJK SC"/>
              <a:cs typeface="Noto Sans CJK SC"/>
            </a:endParaRPr>
          </a:p>
        </p:txBody>
      </p:sp>
      <p:sp>
        <p:nvSpPr>
          <p:cNvPr id="357"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六周路径</a:t>
            </a:r>
            <a:endParaRPr sz="1275" b="1">
              <a:solidFill>
                <a:srgbClr val="00A05A"/>
              </a:solidFill>
              <a:latin typeface="Noto Sans CJK SC"/>
              <a:ea typeface="Noto Sans CJK SC"/>
              <a:cs typeface="Noto Sans CJK SC"/>
            </a:endParaRPr>
          </a:p>
        </p:txBody>
      </p:sp>
      <p:sp>
        <p:nvSpPr>
          <p:cNvPr id="358"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59"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评测脚手架</a:t>
            </a:r>
            <a:endParaRPr sz="1050" b="1">
              <a:solidFill>
                <a:srgbClr val="111827"/>
              </a:solidFill>
              <a:latin typeface="Noto Sans CJK SC"/>
              <a:ea typeface="Noto Sans CJK SC"/>
              <a:cs typeface="Noto Sans CJK SC"/>
            </a:endParaRPr>
          </a:p>
        </p:txBody>
      </p:sp>
      <p:sp>
        <p:nvSpPr>
          <p:cNvPr id="360"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61"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五代复测</a:t>
            </a:r>
            <a:endParaRPr sz="1050" b="1">
              <a:solidFill>
                <a:srgbClr val="111827"/>
              </a:solidFill>
              <a:latin typeface="Noto Sans CJK SC"/>
              <a:ea typeface="Noto Sans CJK SC"/>
              <a:cs typeface="Noto Sans CJK SC"/>
            </a:endParaRPr>
          </a:p>
        </p:txBody>
      </p:sp>
      <p:sp>
        <p:nvSpPr>
          <p:cNvPr id="362"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63"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选型/API</a:t>
            </a:r>
            <a:endParaRPr sz="1050" b="1">
              <a:solidFill>
                <a:srgbClr val="111827"/>
              </a:solidFill>
              <a:latin typeface="Noto Sans CJK SC"/>
              <a:ea typeface="Noto Sans CJK SC"/>
              <a:cs typeface="Noto Sans CJK SC"/>
            </a:endParaRPr>
          </a:p>
        </p:txBody>
      </p:sp>
      <p:sp>
        <p:nvSpPr>
          <p:cNvPr id="364"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65"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v8 demo</a:t>
            </a:r>
            <a:endParaRPr sz="1050" b="1">
              <a:solidFill>
                <a:srgbClr val="111827"/>
              </a:solidFill>
              <a:latin typeface="Noto Sans CJK SC"/>
              <a:ea typeface="Noto Sans CJK SC"/>
              <a:cs typeface="Noto Sans CJK SC"/>
            </a:endParaRPr>
          </a:p>
        </p:txBody>
      </p:sp>
      <p:sp>
        <p:nvSpPr>
          <p:cNvPr id="366"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67"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三代兼容</a:t>
            </a:r>
            <a:endParaRPr sz="1050" b="1">
              <a:solidFill>
                <a:srgbClr val="111827"/>
              </a:solidFill>
              <a:latin typeface="Noto Sans CJK SC"/>
              <a:ea typeface="Noto Sans CJK SC"/>
              <a:cs typeface="Noto Sans CJK SC"/>
            </a:endParaRPr>
          </a:p>
        </p:txBody>
      </p:sp>
      <p:sp>
        <p:nvSpPr>
          <p:cNvPr id="368" name="圆角矩形 25"/>
          <p:cNvSpPr>
            <a:spLocks noGrp="1"/>
          </p:cNvSpPr>
          <p:nvPr/>
        </p:nvSpPr>
        <p:spPr>
          <a:xfrm>
            <a:off x="10525125" y="4610100"/>
            <a:ext cx="1000125" cy="457200"/>
          </a:xfrm>
          <a:prstGeom prst="roundRect">
            <a:avLst>
              <a:gd name="adj" fmla="val 12500"/>
            </a:avLst>
          </a:prstGeom>
          <a:solidFill>
            <a:srgbClr val="00A05A"/>
          </a:solidFill>
          <a:ln w="9525">
            <a:solidFill>
              <a:srgbClr val="00A05A"/>
            </a:solidFill>
            <a:prstDash val="solid"/>
          </a:ln>
        </p:spPr>
        <p:txBody>
          <a:bodyPr/>
          <a:p/>
        </p:txBody>
      </p:sp>
      <p:sp>
        <p:nvSpPr>
          <p:cNvPr id="369"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博客/发布</a:t>
            </a:r>
            <a:endParaRPr sz="1050" b="1">
              <a:solidFill>
                <a:srgbClr val="FFFFFF"/>
              </a:solidFill>
              <a:latin typeface="Noto Sans CJK SC"/>
              <a:ea typeface="Noto Sans CJK SC"/>
              <a:cs typeface="Noto Sans CJK SC"/>
            </a:endParaRPr>
          </a:p>
        </p:txBody>
      </p:sp>
      <p:sp>
        <p:nvSpPr>
          <p:cNvPr id="370"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00A05A"/>
                </a:solidFill>
                <a:latin typeface="Noto Sans CJK SC"/>
                <a:ea typeface="Noto Sans CJK SC"/>
                <a:cs typeface="Noto Sans CJK SC"/>
              </a:defRPr>
            </a:pPr>
            <a:r>
              <a:rPr sz="1200" b="1">
                <a:solidFill>
                  <a:srgbClr val="00A05A"/>
                </a:solidFill>
                <a:latin typeface="Noto Sans CJK SC"/>
                <a:ea typeface="Noto Sans CJK SC"/>
                <a:cs typeface="Noto Sans CJK SC"/>
              </a:rPr>
              <a:t>交付物</a:t>
            </a:r>
            <a:endParaRPr sz="1200" b="1">
              <a:solidFill>
                <a:srgbClr val="00A05A"/>
              </a:solidFill>
              <a:latin typeface="Noto Sans CJK SC"/>
              <a:ea typeface="Noto Sans CJK SC"/>
              <a:cs typeface="Noto Sans CJK SC"/>
            </a:endParaRPr>
          </a:p>
        </p:txBody>
      </p:sp>
      <p:sp>
        <p:nvSpPr>
          <p:cNvPr id="371"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插件包、多 seed 消融表、README/Colab、教程博客。</a:t>
            </a:r>
            <a:endParaRPr sz="1200" b="0">
              <a:solidFill>
                <a:srgbClr val="111827"/>
              </a:solidFill>
              <a:latin typeface="Noto Sans CJK SC"/>
              <a:ea typeface="Noto Sans CJK SC"/>
              <a:cs typeface="Noto Sans CJK SC"/>
            </a:endParaRPr>
          </a:p>
        </p:txBody>
      </p:sp>
      <p:sp>
        <p:nvSpPr>
          <p:cNvPr id="372"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00A05A"/>
                </a:solidFill>
                <a:latin typeface="Noto Sans CJK SC"/>
                <a:ea typeface="Noto Sans CJK SC"/>
                <a:cs typeface="Noto Sans CJK SC"/>
              </a:defRPr>
            </a:pPr>
            <a:r>
              <a:rPr sz="1200" b="1">
                <a:solidFill>
                  <a:srgbClr val="00A05A"/>
                </a:solidFill>
                <a:latin typeface="Noto Sans CJK SC"/>
                <a:ea typeface="Noto Sans CJK SC"/>
                <a:cs typeface="Noto Sans CJK SC"/>
              </a:rPr>
              <a:t>验收线</a:t>
            </a:r>
            <a:endParaRPr sz="1200" b="1">
              <a:solidFill>
                <a:srgbClr val="00A05A"/>
              </a:solidFill>
              <a:latin typeface="Noto Sans CJK SC"/>
              <a:ea typeface="Noto Sans CJK SC"/>
              <a:cs typeface="Noto Sans CJK SC"/>
            </a:endParaRPr>
          </a:p>
        </p:txBody>
      </p:sp>
      <p:sp>
        <p:nvSpPr>
          <p:cNvPr id="373"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官方基线可复现；三代主干零报错，插件相对 baseline 的 3 seed 区间不重叠。</a:t>
            </a:r>
            <a:endParaRPr sz="1200" b="1">
              <a:solidFill>
                <a:srgbClr val="111827"/>
              </a:solidFill>
              <a:latin typeface="Noto Sans CJK SC"/>
              <a:ea typeface="Noto Sans CJK SC"/>
              <a:cs typeface="Noto Sans CJK SC"/>
            </a:endParaRPr>
          </a:p>
        </p:txBody>
      </p:sp>
      <p:sp>
        <p:nvSpPr>
          <p:cNvPr id="374"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375"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376" name="矩形 33"/>
          <p:cNvSpPr>
            <a:spLocks noGrp="1"/>
          </p:cNvSpPr>
          <p:nvPr/>
        </p:nvSpPr>
        <p:spPr>
          <a:xfrm>
            <a:off x="11068050" y="6438900"/>
            <a:ext cx="419100" cy="28575"/>
          </a:xfrm>
          <a:prstGeom prst="rect">
            <a:avLst/>
          </a:prstGeom>
          <a:solidFill>
            <a:srgbClr val="00A05A"/>
          </a:solidFill>
          <a:ln w="9525">
            <a:solidFill>
              <a:srgbClr val="00A05A"/>
            </a:solidFill>
            <a:prstDash val="solid"/>
          </a:ln>
        </p:spPr>
        <p:txBody>
          <a:bodyPr/>
          <a:p/>
        </p:txBody>
      </p:sp>
      <p:sp>
        <p:nvSpPr>
          <p:cNvPr id="377"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24</a:t>
            </a:r>
            <a:endParaRPr sz="975" b="1">
              <a:solidFill>
                <a:srgbClr val="667085"/>
              </a:solidFill>
              <a:latin typeface="Noto Sans CJK SC"/>
              <a:ea typeface="Noto Sans CJK SC"/>
              <a:cs typeface="Noto Sans CJK SC"/>
            </a:endParaRPr>
          </a:p>
        </p:txBody>
      </p:sp>
    </p:spTree>
  </p:cSld>
  <p:clrMapOvr>
    <a:masterClrMapping/>
  </p:clrMapOvr>
</p:sld>
</file>

<file path=ppt/slides/slide27.xml><?xml version="1.0" encoding="utf-8"?>
<p:sld xmlns:a="http://schemas.openxmlformats.org/drawingml/2006/main" xmlns:p="http://schemas.openxmlformats.org/presentationml/2006/main">
  <p:cSld>
    <p:bg>
      <p:bgPr>
        <a:solidFill>
          <a:srgbClr val="FFFFFF"/>
        </a:solidFill>
        <a:effectLst/>
      </p:bgPr>
    </p:bg>
    <p:spTree>
      <p:nvGrpSpPr>
        <p:cNvPr id="378" name=""/>
        <p:cNvGrpSpPr/>
        <p:nvPr/>
      </p:nvGrpSpPr>
      <p:grpSpPr>
        <a:xfrm>
          <a:off x="0" y="0"/>
          <a:ext cx="0" cy="0"/>
          <a:chOff x="0" y="0"/>
          <a:chExt cx="0" cy="0"/>
        </a:xfrm>
      </p:grpSpPr>
      <p:sp>
        <p:nvSpPr>
          <p:cNvPr id="379"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00A05A"/>
                </a:solidFill>
                <a:latin typeface="Noto Sans CJK SC"/>
                <a:ea typeface="Noto Sans CJK SC"/>
                <a:cs typeface="Noto Sans CJK SC"/>
              </a:defRPr>
            </a:pPr>
            <a:r>
              <a:rPr sz="1125" b="1">
                <a:solidFill>
                  <a:srgbClr val="00A05A"/>
                </a:solidFill>
                <a:latin typeface="Noto Sans CJK SC"/>
                <a:ea typeface="Noto Sans CJK SC"/>
                <a:cs typeface="Noto Sans CJK SC"/>
              </a:rPr>
              <a:t>THEME E  /  E2</a:t>
            </a:r>
            <a:endParaRPr sz="1125" b="1">
              <a:solidFill>
                <a:srgbClr val="00A05A"/>
              </a:solidFill>
              <a:latin typeface="Noto Sans CJK SC"/>
              <a:ea typeface="Noto Sans CJK SC"/>
              <a:cs typeface="Noto Sans CJK SC"/>
            </a:endParaRPr>
          </a:p>
        </p:txBody>
      </p:sp>
      <p:sp>
        <p:nvSpPr>
          <p:cNvPr id="380"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“涨点打假”基准：把单 seed 神话变成统计结论</a:t>
            </a:r>
            <a:endParaRPr sz="2925" b="1">
              <a:solidFill>
                <a:srgbClr val="111827"/>
              </a:solidFill>
              <a:latin typeface="Noto Sans CJK SC"/>
              <a:ea typeface="Noto Sans CJK SC"/>
              <a:cs typeface="Noto Sans CJK SC"/>
            </a:endParaRPr>
          </a:p>
        </p:txBody>
      </p:sp>
      <p:sp>
        <p:nvSpPr>
          <p:cNvPr id="381" name="矩形 2"/>
          <p:cNvSpPr>
            <a:spLocks noGrp="1"/>
          </p:cNvSpPr>
          <p:nvPr/>
        </p:nvSpPr>
        <p:spPr>
          <a:xfrm>
            <a:off x="457200" y="1352550"/>
            <a:ext cx="11277600" cy="28575"/>
          </a:xfrm>
          <a:prstGeom prst="rect">
            <a:avLst/>
          </a:prstGeom>
          <a:solidFill>
            <a:srgbClr val="00A05A"/>
          </a:solidFill>
          <a:ln w="9525">
            <a:solidFill>
              <a:srgbClr val="00A05A"/>
            </a:solidFill>
            <a:prstDash val="solid"/>
          </a:ln>
        </p:spPr>
        <p:txBody>
          <a:bodyPr/>
          <a:p/>
        </p:txBody>
      </p:sp>
      <p:sp>
        <p:nvSpPr>
          <p:cNvPr id="382"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核心问题</a:t>
            </a:r>
            <a:endParaRPr sz="1275" b="1">
              <a:solidFill>
                <a:srgbClr val="00A05A"/>
              </a:solidFill>
              <a:latin typeface="Noto Sans CJK SC"/>
              <a:ea typeface="Noto Sans CJK SC"/>
              <a:cs typeface="Noto Sans CJK SC"/>
            </a:endParaRPr>
          </a:p>
        </p:txBody>
      </p:sp>
      <p:sp>
        <p:nvSpPr>
          <p:cNvPr id="383"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社区流行注意力、融合、卷积与 ES-MoE 模块，哪些真涨、哪些只是随机噪声？</a:t>
            </a:r>
            <a:endParaRPr sz="1650" b="1">
              <a:solidFill>
                <a:srgbClr val="111827"/>
              </a:solidFill>
              <a:latin typeface="Noto Sans CJK SC"/>
              <a:ea typeface="Noto Sans CJK SC"/>
              <a:cs typeface="Noto Sans CJK SC"/>
            </a:endParaRPr>
          </a:p>
        </p:txBody>
      </p:sp>
      <p:sp>
        <p:nvSpPr>
          <p:cNvPr id="384"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仓库切入 / 关键提醒</a:t>
            </a:r>
            <a:endParaRPr sz="1275" b="1">
              <a:solidFill>
                <a:srgbClr val="00A05A"/>
              </a:solidFill>
              <a:latin typeface="Noto Sans CJK SC"/>
              <a:ea typeface="Noto Sans CJK SC"/>
              <a:cs typeface="Noto Sans CJK SC"/>
            </a:endParaRPr>
          </a:p>
        </p:txBody>
      </p:sp>
      <p:sp>
        <p:nvSpPr>
          <p:cNvPr id="385"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报告中的每个“显著提升”都必须有配对检验数字；措辞限定在复现条件下。</a:t>
            </a:r>
            <a:endParaRPr sz="1275" b="0">
              <a:solidFill>
                <a:srgbClr val="667085"/>
              </a:solidFill>
              <a:latin typeface="Noto Sans CJK SC"/>
              <a:ea typeface="Noto Sans CJK SC"/>
              <a:cs typeface="Noto Sans CJK SC"/>
            </a:endParaRPr>
          </a:p>
        </p:txBody>
      </p:sp>
      <p:sp>
        <p:nvSpPr>
          <p:cNvPr id="386"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数据与环境</a:t>
            </a:r>
            <a:endParaRPr sz="1275" b="1">
              <a:solidFill>
                <a:srgbClr val="00A05A"/>
              </a:solidFill>
              <a:latin typeface="Noto Sans CJK SC"/>
              <a:ea typeface="Noto Sans CJK SC"/>
              <a:cs typeface="Noto Sans CJK SC"/>
            </a:endParaRPr>
          </a:p>
        </p:txBody>
      </p:sp>
      <p:sp>
        <p:nvSpPr>
          <p:cNvPr id="387"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 或明示局限的统一小基准；每配置 ≥3 seed。</a:t>
            </a:r>
            <a:endParaRPr sz="1275" b="0">
              <a:solidFill>
                <a:srgbClr val="111827"/>
              </a:solidFill>
              <a:latin typeface="Noto Sans CJK SC"/>
              <a:ea typeface="Noto Sans CJK SC"/>
              <a:cs typeface="Noto Sans CJK SC"/>
            </a:endParaRPr>
          </a:p>
        </p:txBody>
      </p:sp>
      <p:sp>
        <p:nvSpPr>
          <p:cNvPr id="388"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389"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优先选有官方实现的模块；报告对事不对人，明确复现边界。</a:t>
            </a:r>
            <a:endParaRPr sz="1200" b="0">
              <a:solidFill>
                <a:srgbClr val="667085"/>
              </a:solidFill>
              <a:latin typeface="Noto Sans CJK SC"/>
              <a:ea typeface="Noto Sans CJK SC"/>
              <a:cs typeface="Noto Sans CJK SC"/>
            </a:endParaRPr>
          </a:p>
        </p:txBody>
      </p:sp>
      <p:sp>
        <p:nvSpPr>
          <p:cNvPr id="390"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P0｜搭建固定 seed、统一预算与自动统计脚手架；复测 3 个流行模块。</a:t>
            </a:r>
            <a:endParaRPr sz="1275" b="1">
              <a:solidFill>
                <a:srgbClr val="111827"/>
              </a:solidFill>
              <a:latin typeface="Noto Sans CJK SC"/>
              <a:ea typeface="Noto Sans CJK SC"/>
              <a:cs typeface="Noto Sans CJK SC"/>
            </a:endParaRPr>
          </a:p>
        </p:txBody>
      </p:sp>
      <p:sp>
        <p:nvSpPr>
          <p:cNvPr id="391" name="圆角矩形 12"/>
          <p:cNvSpPr>
            <a:spLocks noGrp="1"/>
          </p:cNvSpPr>
          <p:nvPr/>
        </p:nvSpPr>
        <p:spPr>
          <a:xfrm>
            <a:off x="4762500" y="2438400"/>
            <a:ext cx="6896100" cy="723900"/>
          </a:xfrm>
          <a:prstGeom prst="roundRect">
            <a:avLst>
              <a:gd name="adj" fmla="val 10526"/>
            </a:avLst>
          </a:prstGeom>
          <a:solidFill>
            <a:srgbClr val="E7F7EF"/>
          </a:solidFill>
          <a:ln w="9525">
            <a:solidFill>
              <a:srgbClr val="00A05A"/>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P1｜扩展至 6–8 个模块，给出真涨 / 噪声级 / 需更多证据的分级结论。</a:t>
            </a:r>
            <a:endParaRPr sz="1275" b="1">
              <a:solidFill>
                <a:srgbClr val="111827"/>
              </a:solidFill>
              <a:latin typeface="Noto Sans CJK SC"/>
              <a:ea typeface="Noto Sans CJK SC"/>
              <a:cs typeface="Noto Sans CJK SC"/>
            </a:endParaRPr>
          </a:p>
        </p:txBody>
      </p:sp>
      <p:sp>
        <p:nvSpPr>
          <p:cNvPr id="392"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P2｜发布报告，并加入同 FLOPs 的预算公平对照。</a:t>
            </a:r>
            <a:endParaRPr sz="1275" b="1">
              <a:solidFill>
                <a:srgbClr val="111827"/>
              </a:solidFill>
              <a:latin typeface="Noto Sans CJK SC"/>
              <a:ea typeface="Noto Sans CJK SC"/>
              <a:cs typeface="Noto Sans CJK SC"/>
            </a:endParaRPr>
          </a:p>
        </p:txBody>
      </p:sp>
      <p:sp>
        <p:nvSpPr>
          <p:cNvPr id="393"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00A05A"/>
                </a:solidFill>
                <a:latin typeface="Noto Sans CJK SC"/>
                <a:ea typeface="Noto Sans CJK SC"/>
                <a:cs typeface="Noto Sans CJK SC"/>
              </a:defRPr>
            </a:pPr>
            <a:r>
              <a:rPr sz="1275" b="1">
                <a:solidFill>
                  <a:srgbClr val="00A05A"/>
                </a:solidFill>
                <a:latin typeface="Noto Sans CJK SC"/>
                <a:ea typeface="Noto Sans CJK SC"/>
                <a:cs typeface="Noto Sans CJK SC"/>
              </a:rPr>
              <a:t>六周路径</a:t>
            </a:r>
            <a:endParaRPr sz="1275" b="1">
              <a:solidFill>
                <a:srgbClr val="00A05A"/>
              </a:solidFill>
              <a:latin typeface="Noto Sans CJK SC"/>
              <a:ea typeface="Noto Sans CJK SC"/>
              <a:cs typeface="Noto Sans CJK SC"/>
            </a:endParaRPr>
          </a:p>
        </p:txBody>
      </p:sp>
      <p:sp>
        <p:nvSpPr>
          <p:cNvPr id="394"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95"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清单/脚手架</a:t>
            </a:r>
            <a:endParaRPr sz="1050" b="1">
              <a:solidFill>
                <a:srgbClr val="111827"/>
              </a:solidFill>
              <a:latin typeface="Noto Sans CJK SC"/>
              <a:ea typeface="Noto Sans CJK SC"/>
              <a:cs typeface="Noto Sans CJK SC"/>
            </a:endParaRPr>
          </a:p>
        </p:txBody>
      </p:sp>
      <p:sp>
        <p:nvSpPr>
          <p:cNvPr id="396"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97"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首批3个</a:t>
            </a:r>
            <a:endParaRPr sz="1050" b="1">
              <a:solidFill>
                <a:srgbClr val="111827"/>
              </a:solidFill>
              <a:latin typeface="Noto Sans CJK SC"/>
              <a:ea typeface="Noto Sans CJK SC"/>
              <a:cs typeface="Noto Sans CJK SC"/>
            </a:endParaRPr>
          </a:p>
        </p:txBody>
      </p:sp>
      <p:sp>
        <p:nvSpPr>
          <p:cNvPr id="398"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399"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首批判读</a:t>
            </a:r>
            <a:endParaRPr sz="1050" b="1">
              <a:solidFill>
                <a:srgbClr val="111827"/>
              </a:solidFill>
              <a:latin typeface="Noto Sans CJK SC"/>
              <a:ea typeface="Noto Sans CJK SC"/>
              <a:cs typeface="Noto Sans CJK SC"/>
            </a:endParaRPr>
          </a:p>
        </p:txBody>
      </p:sp>
      <p:sp>
        <p:nvSpPr>
          <p:cNvPr id="400"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01"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中期/扩容</a:t>
            </a:r>
            <a:endParaRPr sz="1050" b="1">
              <a:solidFill>
                <a:srgbClr val="111827"/>
              </a:solidFill>
              <a:latin typeface="Noto Sans CJK SC"/>
              <a:ea typeface="Noto Sans CJK SC"/>
              <a:cs typeface="Noto Sans CJK SC"/>
            </a:endParaRPr>
          </a:p>
        </p:txBody>
      </p:sp>
      <p:sp>
        <p:nvSpPr>
          <p:cNvPr id="402"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03"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全量复测</a:t>
            </a:r>
            <a:endParaRPr sz="1050" b="1">
              <a:solidFill>
                <a:srgbClr val="111827"/>
              </a:solidFill>
              <a:latin typeface="Noto Sans CJK SC"/>
              <a:ea typeface="Noto Sans CJK SC"/>
              <a:cs typeface="Noto Sans CJK SC"/>
            </a:endParaRPr>
          </a:p>
        </p:txBody>
      </p:sp>
      <p:sp>
        <p:nvSpPr>
          <p:cNvPr id="404" name="圆角矩形 25"/>
          <p:cNvSpPr>
            <a:spLocks noGrp="1"/>
          </p:cNvSpPr>
          <p:nvPr/>
        </p:nvSpPr>
        <p:spPr>
          <a:xfrm>
            <a:off x="10525125" y="4610100"/>
            <a:ext cx="1000125" cy="457200"/>
          </a:xfrm>
          <a:prstGeom prst="roundRect">
            <a:avLst>
              <a:gd name="adj" fmla="val 12500"/>
            </a:avLst>
          </a:prstGeom>
          <a:solidFill>
            <a:srgbClr val="00A05A"/>
          </a:solidFill>
          <a:ln w="9525">
            <a:solidFill>
              <a:srgbClr val="00A05A"/>
            </a:solidFill>
            <a:prstDash val="solid"/>
          </a:ln>
        </p:spPr>
        <p:txBody>
          <a:bodyPr/>
          <a:p/>
        </p:txBody>
      </p:sp>
      <p:sp>
        <p:nvSpPr>
          <p:cNvPr id="405"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公开发布</a:t>
            </a:r>
            <a:endParaRPr sz="1050" b="1">
              <a:solidFill>
                <a:srgbClr val="FFFFFF"/>
              </a:solidFill>
              <a:latin typeface="Noto Sans CJK SC"/>
              <a:ea typeface="Noto Sans CJK SC"/>
              <a:cs typeface="Noto Sans CJK SC"/>
            </a:endParaRPr>
          </a:p>
        </p:txBody>
      </p:sp>
      <p:sp>
        <p:nvSpPr>
          <p:cNvPr id="406"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00A05A"/>
                </a:solidFill>
                <a:latin typeface="Noto Sans CJK SC"/>
                <a:ea typeface="Noto Sans CJK SC"/>
                <a:cs typeface="Noto Sans CJK SC"/>
              </a:defRPr>
            </a:pPr>
            <a:r>
              <a:rPr sz="1200" b="1">
                <a:solidFill>
                  <a:srgbClr val="00A05A"/>
                </a:solidFill>
                <a:latin typeface="Noto Sans CJK SC"/>
                <a:ea typeface="Noto Sans CJK SC"/>
                <a:cs typeface="Noto Sans CJK SC"/>
              </a:rPr>
              <a:t>交付物</a:t>
            </a:r>
            <a:endParaRPr sz="1200" b="1">
              <a:solidFill>
                <a:srgbClr val="00A05A"/>
              </a:solidFill>
              <a:latin typeface="Noto Sans CJK SC"/>
              <a:ea typeface="Noto Sans CJK SC"/>
              <a:cs typeface="Noto Sans CJK SC"/>
            </a:endParaRPr>
          </a:p>
        </p:txBody>
      </p:sp>
      <p:sp>
        <p:nvSpPr>
          <p:cNvPr id="407"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统计评测脚手架 PR、模块×seed 大表、分级结论报告。</a:t>
            </a:r>
            <a:endParaRPr sz="1200" b="0">
              <a:solidFill>
                <a:srgbClr val="111827"/>
              </a:solidFill>
              <a:latin typeface="Noto Sans CJK SC"/>
              <a:ea typeface="Noto Sans CJK SC"/>
              <a:cs typeface="Noto Sans CJK SC"/>
            </a:endParaRPr>
          </a:p>
        </p:txBody>
      </p:sp>
      <p:sp>
        <p:nvSpPr>
          <p:cNvPr id="408"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00A05A"/>
                </a:solidFill>
                <a:latin typeface="Noto Sans CJK SC"/>
                <a:ea typeface="Noto Sans CJK SC"/>
                <a:cs typeface="Noto Sans CJK SC"/>
              </a:defRPr>
            </a:pPr>
            <a:r>
              <a:rPr sz="1200" b="1">
                <a:solidFill>
                  <a:srgbClr val="00A05A"/>
                </a:solidFill>
                <a:latin typeface="Noto Sans CJK SC"/>
                <a:ea typeface="Noto Sans CJK SC"/>
                <a:cs typeface="Noto Sans CJK SC"/>
              </a:rPr>
              <a:t>验收线</a:t>
            </a:r>
            <a:endParaRPr sz="1200" b="1">
              <a:solidFill>
                <a:srgbClr val="00A05A"/>
              </a:solidFill>
              <a:latin typeface="Noto Sans CJK SC"/>
              <a:ea typeface="Noto Sans CJK SC"/>
              <a:cs typeface="Noto Sans CJK SC"/>
            </a:endParaRPr>
          </a:p>
        </p:txBody>
      </p:sp>
      <p:sp>
        <p:nvSpPr>
          <p:cNvPr id="409"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每个结论都有配对 t 检验或 bootstrap CI 支撑。</a:t>
            </a:r>
            <a:endParaRPr sz="1200" b="1">
              <a:solidFill>
                <a:srgbClr val="111827"/>
              </a:solidFill>
              <a:latin typeface="Noto Sans CJK SC"/>
              <a:ea typeface="Noto Sans CJK SC"/>
              <a:cs typeface="Noto Sans CJK SC"/>
            </a:endParaRPr>
          </a:p>
        </p:txBody>
      </p:sp>
      <p:sp>
        <p:nvSpPr>
          <p:cNvPr id="410"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411"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412" name="矩形 33"/>
          <p:cNvSpPr>
            <a:spLocks noGrp="1"/>
          </p:cNvSpPr>
          <p:nvPr/>
        </p:nvSpPr>
        <p:spPr>
          <a:xfrm>
            <a:off x="11068050" y="6438900"/>
            <a:ext cx="419100" cy="28575"/>
          </a:xfrm>
          <a:prstGeom prst="rect">
            <a:avLst/>
          </a:prstGeom>
          <a:solidFill>
            <a:srgbClr val="00A05A"/>
          </a:solidFill>
          <a:ln w="9525">
            <a:solidFill>
              <a:srgbClr val="00A05A"/>
            </a:solidFill>
            <a:prstDash val="solid"/>
          </a:ln>
        </p:spPr>
        <p:txBody>
          <a:bodyPr/>
          <a:p/>
        </p:txBody>
      </p:sp>
      <p:sp>
        <p:nvSpPr>
          <p:cNvPr id="413"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25</a:t>
            </a:r>
            <a:endParaRPr sz="975" b="1">
              <a:solidFill>
                <a:srgbClr val="667085"/>
              </a:solidFill>
              <a:latin typeface="Noto Sans CJK SC"/>
              <a:ea typeface="Noto Sans CJK SC"/>
              <a:cs typeface="Noto Sans CJK SC"/>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414" name=""/>
        <p:cNvGrpSpPr/>
        <p:nvPr/>
      </p:nvGrpSpPr>
      <p:grpSpPr>
        <a:xfrm>
          <a:off x="0" y="0"/>
          <a:ext cx="0" cy="0"/>
          <a:chOff x="0" y="0"/>
          <a:chExt cx="0" cy="0"/>
        </a:xfrm>
      </p:grpSpPr>
      <p:pic>
        <p:nvPicPr>
          <p:cNvPr id="415" name="图片 1"/>
          <p:cNvPicPr>
            <a:picLocks noChangeAspect="1"/>
          </p:cNvPicPr>
          <p:nvPr/>
        </p:nvPicPr>
        <p:blipFill>
          <a:blip r:embed="rId2"/>
          <a:srcRect/>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416" name=""/>
        <p:cNvGrpSpPr/>
        <p:nvPr/>
      </p:nvGrpSpPr>
      <p:grpSpPr>
        <a:xfrm>
          <a:off x="0" y="0"/>
          <a:ext cx="0" cy="0"/>
          <a:chOff x="0" y="0"/>
          <a:chExt cx="0" cy="0"/>
        </a:xfrm>
      </p:grpSpPr>
      <p:pic>
        <p:nvPicPr>
          <p:cNvPr id="417" name="图片 14"/>
          <p:cNvPicPr>
            <a:picLocks noChangeAspect="1"/>
          </p:cNvPicPr>
          <p:nvPr/>
        </p:nvPicPr>
        <p:blipFill>
          <a:blip r:embed="rId2"/>
          <a:srcRect t="27" b="27"/>
          <a:stretch>
            <a:fillRect/>
          </a:stretch>
        </p:blipFill>
        <p:spPr>
          <a:xfrm>
            <a:off x="0" y="0"/>
            <a:ext cx="12192000" cy="6858000"/>
          </a:xfrm>
          <a:prstGeom prst="rect">
            <a:avLst/>
          </a:prstGeom>
        </p:spPr>
      </p:pic>
      <p:sp>
        <p:nvSpPr>
          <p:cNvPr id="418" name="矩形 1"/>
          <p:cNvSpPr>
            <a:spLocks noGrp="1"/>
          </p:cNvSpPr>
          <p:nvPr/>
        </p:nvSpPr>
        <p:spPr>
          <a:xfrm>
            <a:off x="0" y="0"/>
            <a:ext cx="5048250" cy="6858000"/>
          </a:xfrm>
          <a:prstGeom prst="rect">
            <a:avLst/>
          </a:prstGeom>
          <a:solidFill>
            <a:srgbClr val="FFFFFF"/>
          </a:solidFill>
          <a:ln w="9525">
            <a:solidFill>
              <a:srgbClr val="FFFFFF"/>
            </a:solidFill>
            <a:prstDash val="solid"/>
          </a:ln>
        </p:spPr>
        <p:txBody>
          <a:bodyPr/>
          <a:p/>
        </p:txBody>
      </p:sp>
      <p:sp>
        <p:nvSpPr>
          <p:cNvPr id="419" name="矩形 2"/>
          <p:cNvSpPr>
            <a:spLocks noGrp="1"/>
          </p:cNvSpPr>
          <p:nvPr/>
        </p:nvSpPr>
        <p:spPr>
          <a:xfrm>
            <a:off x="495300" y="514350"/>
            <a:ext cx="2095500" cy="3048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THEME F</a:t>
            </a:r>
            <a:endParaRPr sz="1275" b="1">
              <a:solidFill>
                <a:srgbClr val="1769FF"/>
              </a:solidFill>
              <a:latin typeface="Noto Sans CJK SC"/>
              <a:ea typeface="Noto Sans CJK SC"/>
              <a:cs typeface="Noto Sans CJK SC"/>
            </a:endParaRPr>
          </a:p>
        </p:txBody>
      </p:sp>
      <p:sp>
        <p:nvSpPr>
          <p:cNvPr id="420" name="矩形 3"/>
          <p:cNvSpPr>
            <a:spLocks noGrp="1"/>
          </p:cNvSpPr>
          <p:nvPr/>
        </p:nvSpPr>
        <p:spPr>
          <a:xfrm>
            <a:off x="495300" y="1238250"/>
            <a:ext cx="4476750" cy="60960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开源工程化</a:t>
            </a:r>
            <a:endParaRPr sz="3150" b="1">
              <a:solidFill>
                <a:srgbClr val="111827"/>
              </a:solidFill>
              <a:latin typeface="Noto Sans CJK SC"/>
              <a:ea typeface="Noto Sans CJK SC"/>
              <a:cs typeface="Noto Sans CJK SC"/>
            </a:endParaRPr>
          </a:p>
        </p:txBody>
      </p:sp>
      <p:sp>
        <p:nvSpPr>
          <p:cNvPr id="421" name="矩形 4"/>
          <p:cNvSpPr>
            <a:spLocks noGrp="1"/>
          </p:cNvSpPr>
          <p:nvPr/>
        </p:nvSpPr>
        <p:spPr>
          <a:xfrm>
            <a:off x="495300" y="2076450"/>
            <a:ext cx="4095750" cy="1047750"/>
          </a:xfrm>
          <a:prstGeom prst="rect">
            <a:avLst/>
          </a:prstGeom>
          <a:noFill/>
          <a:ln w="0">
            <a:noFill/>
            <a:prstDash val="solid"/>
          </a:ln>
        </p:spPr>
        <p:txBody>
          <a:bodyPr wrap="square" lIns="0" tIns="0" rIns="0" bIns="0" anchor="t">
            <a:normAutofit/>
          </a:bodyPr>
          <a:lstStyle/>
          <a:p>
            <a:pPr algn="l">
              <a:lnSpc>
                <a:spcPct val="108000"/>
              </a:lnSpc>
              <a:buNone/>
              <a:defRPr sz="1875" b="0">
                <a:solidFill>
                  <a:srgbClr val="667085"/>
                </a:solidFill>
                <a:latin typeface="Noto Sans CJK SC"/>
                <a:ea typeface="Noto Sans CJK SC"/>
                <a:cs typeface="Noto Sans CJK SC"/>
              </a:defRPr>
            </a:pPr>
            <a:r>
              <a:rPr sz="1875" b="0">
                <a:solidFill>
                  <a:srgbClr val="667085"/>
                </a:solidFill>
                <a:latin typeface="Noto Sans CJK SC"/>
                <a:ea typeface="Noto Sans CJK SC"/>
                <a:cs typeface="Noto Sans CJK SC"/>
              </a:rPr>
              <a:t>连接成训练、推理、部署一体化工作台</a:t>
            </a:r>
            <a:endParaRPr sz="1875" b="0">
              <a:solidFill>
                <a:srgbClr val="667085"/>
              </a:solidFill>
              <a:latin typeface="Noto Sans CJK SC"/>
              <a:ea typeface="Noto Sans CJK SC"/>
              <a:cs typeface="Noto Sans CJK SC"/>
            </a:endParaRPr>
          </a:p>
        </p:txBody>
      </p:sp>
      <p:sp>
        <p:nvSpPr>
          <p:cNvPr id="422" name="矩形 5"/>
          <p:cNvSpPr>
            <a:spLocks noGrp="1"/>
          </p:cNvSpPr>
          <p:nvPr/>
        </p:nvSpPr>
        <p:spPr>
          <a:xfrm>
            <a:off x="495300" y="3381375"/>
            <a:ext cx="3238500" cy="47625"/>
          </a:xfrm>
          <a:prstGeom prst="rect">
            <a:avLst/>
          </a:prstGeom>
          <a:solidFill>
            <a:srgbClr val="1769FF"/>
          </a:solidFill>
          <a:ln w="9525">
            <a:solidFill>
              <a:srgbClr val="1769FF"/>
            </a:solidFill>
            <a:prstDash val="solid"/>
          </a:ln>
        </p:spPr>
        <p:txBody>
          <a:bodyPr/>
          <a:p/>
        </p:txBody>
      </p:sp>
      <p:sp>
        <p:nvSpPr>
          <p:cNvPr id="423" name="矩形 6"/>
          <p:cNvSpPr>
            <a:spLocks noGrp="1"/>
          </p:cNvSpPr>
          <p:nvPr/>
        </p:nvSpPr>
        <p:spPr>
          <a:xfrm>
            <a:off x="495300" y="37719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01</a:t>
            </a:r>
            <a:endParaRPr sz="1350" b="1">
              <a:solidFill>
                <a:srgbClr val="1769FF"/>
              </a:solidFill>
              <a:latin typeface="Noto Sans CJK SC"/>
              <a:ea typeface="Noto Sans CJK SC"/>
              <a:cs typeface="Noto Sans CJK SC"/>
            </a:endParaRPr>
          </a:p>
        </p:txBody>
      </p:sp>
      <p:sp>
        <p:nvSpPr>
          <p:cNvPr id="424" name="矩形 7"/>
          <p:cNvSpPr>
            <a:spLocks noGrp="1"/>
          </p:cNvSpPr>
          <p:nvPr/>
        </p:nvSpPr>
        <p:spPr>
          <a:xfrm>
            <a:off x="1028700" y="37623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F1 Studio Core</a:t>
            </a:r>
            <a:endParaRPr sz="1500" b="1">
              <a:solidFill>
                <a:srgbClr val="111827"/>
              </a:solidFill>
              <a:latin typeface="Noto Sans CJK SC"/>
              <a:ea typeface="Noto Sans CJK SC"/>
              <a:cs typeface="Noto Sans CJK SC"/>
            </a:endParaRPr>
          </a:p>
        </p:txBody>
      </p:sp>
      <p:sp>
        <p:nvSpPr>
          <p:cNvPr id="425" name="矩形 8"/>
          <p:cNvSpPr>
            <a:spLocks noGrp="1"/>
          </p:cNvSpPr>
          <p:nvPr/>
        </p:nvSpPr>
        <p:spPr>
          <a:xfrm>
            <a:off x="495300" y="43815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02</a:t>
            </a:r>
            <a:endParaRPr sz="1350" b="1">
              <a:solidFill>
                <a:srgbClr val="1769FF"/>
              </a:solidFill>
              <a:latin typeface="Noto Sans CJK SC"/>
              <a:ea typeface="Noto Sans CJK SC"/>
              <a:cs typeface="Noto Sans CJK SC"/>
            </a:endParaRPr>
          </a:p>
        </p:txBody>
      </p:sp>
      <p:sp>
        <p:nvSpPr>
          <p:cNvPr id="426" name="矩形 9"/>
          <p:cNvSpPr>
            <a:spLocks noGrp="1"/>
          </p:cNvSpPr>
          <p:nvPr/>
        </p:nvSpPr>
        <p:spPr>
          <a:xfrm>
            <a:off x="1028700" y="43719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F2 TrainOps</a:t>
            </a:r>
            <a:endParaRPr sz="1500" b="1">
              <a:solidFill>
                <a:srgbClr val="111827"/>
              </a:solidFill>
              <a:latin typeface="Noto Sans CJK SC"/>
              <a:ea typeface="Noto Sans CJK SC"/>
              <a:cs typeface="Noto Sans CJK SC"/>
            </a:endParaRPr>
          </a:p>
        </p:txBody>
      </p:sp>
      <p:sp>
        <p:nvSpPr>
          <p:cNvPr id="427" name="矩形 10"/>
          <p:cNvSpPr>
            <a:spLocks noGrp="1"/>
          </p:cNvSpPr>
          <p:nvPr/>
        </p:nvSpPr>
        <p:spPr>
          <a:xfrm>
            <a:off x="495300" y="4991100"/>
            <a:ext cx="40005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03</a:t>
            </a:r>
            <a:endParaRPr sz="1350" b="1">
              <a:solidFill>
                <a:srgbClr val="1769FF"/>
              </a:solidFill>
              <a:latin typeface="Noto Sans CJK SC"/>
              <a:ea typeface="Noto Sans CJK SC"/>
              <a:cs typeface="Noto Sans CJK SC"/>
            </a:endParaRPr>
          </a:p>
        </p:txBody>
      </p:sp>
      <p:sp>
        <p:nvSpPr>
          <p:cNvPr id="428" name="矩形 11"/>
          <p:cNvSpPr>
            <a:spLocks noGrp="1"/>
          </p:cNvSpPr>
          <p:nvPr/>
        </p:nvSpPr>
        <p:spPr>
          <a:xfrm>
            <a:off x="1028700" y="4981575"/>
            <a:ext cx="3381375" cy="34290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F3 DeployOps</a:t>
            </a:r>
            <a:endParaRPr sz="1500" b="1">
              <a:solidFill>
                <a:srgbClr val="111827"/>
              </a:solidFill>
              <a:latin typeface="Noto Sans CJK SC"/>
              <a:ea typeface="Noto Sans CJK SC"/>
              <a:cs typeface="Noto Sans CJK SC"/>
            </a:endParaRPr>
          </a:p>
        </p:txBody>
      </p:sp>
      <p:sp>
        <p:nvSpPr>
          <p:cNvPr id="429" name="矩形 12"/>
          <p:cNvSpPr>
            <a:spLocks noGrp="1"/>
          </p:cNvSpPr>
          <p:nvPr/>
        </p:nvSpPr>
        <p:spPr>
          <a:xfrm>
            <a:off x="11049000" y="6191250"/>
            <a:ext cx="685800" cy="323850"/>
          </a:xfrm>
          <a:prstGeom prst="rect">
            <a:avLst/>
          </a:prstGeom>
          <a:noFill/>
          <a:ln w="0">
            <a:noFill/>
            <a:prstDash val="solid"/>
          </a:ln>
        </p:spPr>
        <p:txBody>
          <a:bodyPr wrap="square" lIns="0" tIns="0" rIns="0" bIns="0" anchor="t">
            <a:normAutofit/>
          </a:bodyPr>
          <a:lstStyle/>
          <a:p>
            <a:pPr algn="r">
              <a:lnSpc>
                <a:spcPct val="108000"/>
              </a:lnSpc>
              <a:buNone/>
              <a:defRPr sz="1050" b="1">
                <a:solidFill>
                  <a:srgbClr val="667085"/>
                </a:solidFill>
                <a:latin typeface="Noto Sans CJK SC"/>
                <a:ea typeface="Noto Sans CJK SC"/>
                <a:cs typeface="Noto Sans CJK SC"/>
              </a:defRPr>
            </a:pPr>
            <a:r>
              <a:rPr sz="1050" b="1">
                <a:solidFill>
                  <a:srgbClr val="667085"/>
                </a:solidFill>
                <a:latin typeface="Noto Sans CJK SC"/>
                <a:ea typeface="Noto Sans CJK SC"/>
                <a:cs typeface="Noto Sans CJK SC"/>
              </a:rPr>
              <a:t>27</a:t>
            </a:r>
            <a:endParaRPr sz="1050" b="1">
              <a:solidFill>
                <a:srgbClr val="667085"/>
              </a:solidFill>
              <a:latin typeface="Noto Sans CJK SC"/>
              <a:ea typeface="Noto Sans CJK SC"/>
              <a:cs typeface="Noto Sans CJK SC"/>
            </a:endParaRPr>
          </a:p>
        </p:txBody>
      </p:sp>
    </p:spTree>
  </p:cSld>
  <p:clrMapOvr>
    <a:masterClrMapping/>
  </p:clrMapOvr>
</p:sld>
</file>

<file path=ppt/slides/slide30.xml><?xml version="1.0" encoding="utf-8"?>
<p:sld xmlns:a="http://schemas.openxmlformats.org/drawingml/2006/main" xmlns:p="http://schemas.openxmlformats.org/presentationml/2006/main">
  <p:cSld>
    <p:bg>
      <p:bgPr>
        <a:solidFill>
          <a:srgbClr val="FFFFFF"/>
        </a:solidFill>
        <a:effectLst/>
      </p:bgPr>
    </p:bg>
    <p:spTree>
      <p:nvGrpSpPr>
        <p:cNvPr id="435" name=""/>
        <p:cNvGrpSpPr/>
        <p:nvPr/>
      </p:nvGrpSpPr>
      <p:grpSpPr>
        <a:xfrm>
          <a:off x="0" y="0"/>
          <a:ext cx="0" cy="0"/>
          <a:chOff x="0" y="0"/>
          <a:chExt cx="0" cy="0"/>
        </a:xfrm>
      </p:grpSpPr>
      <p:sp>
        <p:nvSpPr>
          <p:cNvPr id="436"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THEME F  /  F1</a:t>
            </a:r>
            <a:endParaRPr sz="1125" b="1">
              <a:solidFill>
                <a:srgbClr val="1769FF"/>
              </a:solidFill>
              <a:latin typeface="Noto Sans CJK SC"/>
              <a:ea typeface="Noto Sans CJK SC"/>
              <a:cs typeface="Noto Sans CJK SC"/>
            </a:endParaRPr>
          </a:p>
        </p:txBody>
      </p:sp>
      <p:sp>
        <p:nvSpPr>
          <p:cNvPr id="437"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YOLO-Master Studio：把推理 Demo 升级成任务工作台</a:t>
            </a:r>
            <a:endParaRPr sz="2925" b="1">
              <a:solidFill>
                <a:srgbClr val="111827"/>
              </a:solidFill>
              <a:latin typeface="Noto Sans CJK SC"/>
              <a:ea typeface="Noto Sans CJK SC"/>
              <a:cs typeface="Noto Sans CJK SC"/>
            </a:endParaRPr>
          </a:p>
        </p:txBody>
      </p:sp>
      <p:sp>
        <p:nvSpPr>
          <p:cNvPr id="438" name="矩形 2"/>
          <p:cNvSpPr>
            <a:spLocks noGrp="1"/>
          </p:cNvSpPr>
          <p:nvPr/>
        </p:nvSpPr>
        <p:spPr>
          <a:xfrm>
            <a:off x="457200" y="1352550"/>
            <a:ext cx="11277600" cy="28575"/>
          </a:xfrm>
          <a:prstGeom prst="rect">
            <a:avLst/>
          </a:prstGeom>
          <a:solidFill>
            <a:srgbClr val="1769FF"/>
          </a:solidFill>
          <a:ln w="9525">
            <a:solidFill>
              <a:srgbClr val="1769FF"/>
            </a:solidFill>
            <a:prstDash val="solid"/>
          </a:ln>
        </p:spPr>
        <p:txBody>
          <a:bodyPr/>
          <a:p/>
        </p:txBody>
      </p:sp>
      <p:sp>
        <p:nvSpPr>
          <p:cNvPr id="439"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核心问题</a:t>
            </a:r>
            <a:endParaRPr sz="1275" b="1">
              <a:solidFill>
                <a:srgbClr val="1769FF"/>
              </a:solidFill>
              <a:latin typeface="Noto Sans CJK SC"/>
              <a:ea typeface="Noto Sans CJK SC"/>
              <a:cs typeface="Noto Sans CJK SC"/>
            </a:endParaRPr>
          </a:p>
        </p:txBody>
      </p:sp>
      <p:sp>
        <p:nvSpPr>
          <p:cNvPr id="440"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app.py 已覆盖五类单图推理；Agent Skill 已有异步提交、状态与取消，课题重点是产品化衔接。</a:t>
            </a:r>
            <a:endParaRPr sz="1650" b="1">
              <a:solidFill>
                <a:srgbClr val="111827"/>
              </a:solidFill>
              <a:latin typeface="Noto Sans CJK SC"/>
              <a:ea typeface="Noto Sans CJK SC"/>
              <a:cs typeface="Noto Sans CJK SC"/>
            </a:endParaRPr>
          </a:p>
        </p:txBody>
      </p:sp>
      <p:sp>
        <p:nvSpPr>
          <p:cNvPr id="441"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仓库切入 / 关键提醒</a:t>
            </a:r>
            <a:endParaRPr sz="1275" b="1">
              <a:solidFill>
                <a:srgbClr val="1769FF"/>
              </a:solidFill>
              <a:latin typeface="Noto Sans CJK SC"/>
              <a:ea typeface="Noto Sans CJK SC"/>
              <a:cs typeface="Noto Sans CJK SC"/>
            </a:endParaRPr>
          </a:p>
        </p:txBody>
      </p:sp>
      <p:sp>
        <p:nvSpPr>
          <p:cNvPr id="442"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fontScale="96829"/>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复用 policy.async、yolo.job.status/cancel、progress.jsonl；WebUI 不再自建第二套执行器。</a:t>
            </a:r>
            <a:endParaRPr sz="1275" b="0">
              <a:solidFill>
                <a:srgbClr val="667085"/>
              </a:solidFill>
              <a:latin typeface="Noto Sans CJK SC"/>
              <a:ea typeface="Noto Sans CJK SC"/>
              <a:cs typeface="Noto Sans CJK SC"/>
            </a:endParaRPr>
          </a:p>
        </p:txBody>
      </p:sp>
      <p:sp>
        <p:nvSpPr>
          <p:cNvPr id="443"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数据与环境</a:t>
            </a:r>
            <a:endParaRPr sz="1275" b="1">
              <a:solidFill>
                <a:srgbClr val="1769FF"/>
              </a:solidFill>
              <a:latin typeface="Noto Sans CJK SC"/>
              <a:ea typeface="Noto Sans CJK SC"/>
              <a:cs typeface="Noto Sans CJK SC"/>
            </a:endParaRPr>
          </a:p>
        </p:txBody>
      </p:sp>
      <p:sp>
        <p:nvSpPr>
          <p:cNvPr id="444"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Gradio 优先；coco8 / 样例图；CPU 可冒烟，单 GPU 做完整演示。</a:t>
            </a:r>
            <a:endParaRPr sz="1275" b="0">
              <a:solidFill>
                <a:srgbClr val="111827"/>
              </a:solidFill>
              <a:latin typeface="Noto Sans CJK SC"/>
              <a:ea typeface="Noto Sans CJK SC"/>
              <a:cs typeface="Noto Sans CJK SC"/>
            </a:endParaRPr>
          </a:p>
        </p:txBody>
      </p:sp>
      <p:sp>
        <p:nvSpPr>
          <p:cNvPr id="445"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446"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当前终态主要按 PID 存活判断；需用 manifest/结果区分 succeeded / failed / cancelled。</a:t>
            </a:r>
            <a:endParaRPr sz="1200" b="0">
              <a:solidFill>
                <a:srgbClr val="667085"/>
              </a:solidFill>
              <a:latin typeface="Noto Sans CJK SC"/>
              <a:ea typeface="Noto Sans CJK SC"/>
              <a:cs typeface="Noto Sans CJK SC"/>
            </a:endParaRPr>
          </a:p>
        </p:txBody>
      </p:sp>
      <p:sp>
        <p:nvSpPr>
          <p:cNvPr id="447"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P0｜保留现有推理；新增 Jobs 页，接入 doctor + predict 的提交、状态、日志与产物。</a:t>
            </a:r>
            <a:endParaRPr sz="1275" b="1">
              <a:solidFill>
                <a:srgbClr val="111827"/>
              </a:solidFill>
              <a:latin typeface="Noto Sans CJK SC"/>
              <a:ea typeface="Noto Sans CJK SC"/>
              <a:cs typeface="Noto Sans CJK SC"/>
            </a:endParaRPr>
          </a:p>
        </p:txBody>
      </p:sp>
      <p:sp>
        <p:nvSpPr>
          <p:cNvPr id="448" name="圆角矩形 12"/>
          <p:cNvSpPr>
            <a:spLocks noGrp="1"/>
          </p:cNvSpPr>
          <p:nvPr/>
        </p:nvSpPr>
        <p:spPr>
          <a:xfrm>
            <a:off x="4762500" y="2438400"/>
            <a:ext cx="6896100" cy="723900"/>
          </a:xfrm>
          <a:prstGeom prst="roundRect">
            <a:avLst>
              <a:gd name="adj" fmla="val 10526"/>
            </a:avLst>
          </a:prstGeom>
          <a:solidFill>
            <a:srgbClr val="EAF2FF"/>
          </a:solidFill>
          <a:ln w="9525">
            <a:solidFill>
              <a:srgbClr val="1769FF"/>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P1｜修正异步终态语义；补 job list、取消/超时、路径白名单与批量图片/视频推理。</a:t>
            </a:r>
            <a:endParaRPr sz="1275" b="1">
              <a:solidFill>
                <a:srgbClr val="111827"/>
              </a:solidFill>
              <a:latin typeface="Noto Sans CJK SC"/>
              <a:ea typeface="Noto Sans CJK SC"/>
              <a:cs typeface="Noto Sans CJK SC"/>
            </a:endParaRPr>
          </a:p>
        </p:txBody>
      </p:sp>
      <p:sp>
        <p:nvSpPr>
          <p:cNvPr id="449"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P2｜接入 E3 路由诊断/多模态面板；可选 FastAPI + React 前后端分离。</a:t>
            </a:r>
            <a:endParaRPr sz="1275" b="1">
              <a:solidFill>
                <a:srgbClr val="111827"/>
              </a:solidFill>
              <a:latin typeface="Noto Sans CJK SC"/>
              <a:ea typeface="Noto Sans CJK SC"/>
              <a:cs typeface="Noto Sans CJK SC"/>
            </a:endParaRPr>
          </a:p>
        </p:txBody>
      </p:sp>
      <p:sp>
        <p:nvSpPr>
          <p:cNvPr id="450"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六周路径</a:t>
            </a:r>
            <a:endParaRPr sz="1275" b="1">
              <a:solidFill>
                <a:srgbClr val="1769FF"/>
              </a:solidFill>
              <a:latin typeface="Noto Sans CJK SC"/>
              <a:ea typeface="Noto Sans CJK SC"/>
              <a:cs typeface="Noto Sans CJK SC"/>
            </a:endParaRPr>
          </a:p>
        </p:txBody>
      </p:sp>
      <p:sp>
        <p:nvSpPr>
          <p:cNvPr id="451"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52"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async 考古</a:t>
            </a:r>
            <a:endParaRPr sz="1050" b="1">
              <a:solidFill>
                <a:srgbClr val="111827"/>
              </a:solidFill>
              <a:latin typeface="Noto Sans CJK SC"/>
              <a:ea typeface="Noto Sans CJK SC"/>
              <a:cs typeface="Noto Sans CJK SC"/>
            </a:endParaRPr>
          </a:p>
        </p:txBody>
      </p:sp>
      <p:sp>
        <p:nvSpPr>
          <p:cNvPr id="453"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54"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Jobs 适配</a:t>
            </a:r>
            <a:endParaRPr sz="1050" b="1">
              <a:solidFill>
                <a:srgbClr val="111827"/>
              </a:solidFill>
              <a:latin typeface="Noto Sans CJK SC"/>
              <a:ea typeface="Noto Sans CJK SC"/>
              <a:cs typeface="Noto Sans CJK SC"/>
            </a:endParaRPr>
          </a:p>
        </p:txBody>
      </p:sp>
      <p:sp>
        <p:nvSpPr>
          <p:cNvPr id="455"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56"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推理/状态</a:t>
            </a:r>
            <a:endParaRPr sz="1050" b="1">
              <a:solidFill>
                <a:srgbClr val="111827"/>
              </a:solidFill>
              <a:latin typeface="Noto Sans CJK SC"/>
              <a:ea typeface="Noto Sans CJK SC"/>
              <a:cs typeface="Noto Sans CJK SC"/>
            </a:endParaRPr>
          </a:p>
        </p:txBody>
      </p:sp>
      <p:sp>
        <p:nvSpPr>
          <p:cNvPr id="457"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58"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失败/取消</a:t>
            </a:r>
            <a:endParaRPr sz="1050" b="1">
              <a:solidFill>
                <a:srgbClr val="111827"/>
              </a:solidFill>
              <a:latin typeface="Noto Sans CJK SC"/>
              <a:ea typeface="Noto Sans CJK SC"/>
              <a:cs typeface="Noto Sans CJK SC"/>
            </a:endParaRPr>
          </a:p>
        </p:txBody>
      </p:sp>
      <p:sp>
        <p:nvSpPr>
          <p:cNvPr id="459"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60"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测试 + PR</a:t>
            </a:r>
            <a:endParaRPr sz="1050" b="1">
              <a:solidFill>
                <a:srgbClr val="111827"/>
              </a:solidFill>
              <a:latin typeface="Noto Sans CJK SC"/>
              <a:ea typeface="Noto Sans CJK SC"/>
              <a:cs typeface="Noto Sans CJK SC"/>
            </a:endParaRPr>
          </a:p>
        </p:txBody>
      </p:sp>
      <p:sp>
        <p:nvSpPr>
          <p:cNvPr id="461" name="圆角矩形 25"/>
          <p:cNvSpPr>
            <a:spLocks noGrp="1"/>
          </p:cNvSpPr>
          <p:nvPr/>
        </p:nvSpPr>
        <p:spPr>
          <a:xfrm>
            <a:off x="10525125" y="4610100"/>
            <a:ext cx="1000125" cy="457200"/>
          </a:xfrm>
          <a:prstGeom prst="roundRect">
            <a:avLst>
              <a:gd name="adj" fmla="val 12500"/>
            </a:avLst>
          </a:prstGeom>
          <a:solidFill>
            <a:srgbClr val="1769FF"/>
          </a:solidFill>
          <a:ln w="9525">
            <a:solidFill>
              <a:srgbClr val="1769FF"/>
            </a:solidFill>
            <a:prstDash val="solid"/>
          </a:ln>
        </p:spPr>
        <p:txBody>
          <a:bodyPr/>
          <a:p/>
        </p:txBody>
      </p:sp>
      <p:sp>
        <p:nvSpPr>
          <p:cNvPr id="462"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文档/答辩</a:t>
            </a:r>
            <a:endParaRPr sz="1050" b="1">
              <a:solidFill>
                <a:srgbClr val="FFFFFF"/>
              </a:solidFill>
              <a:latin typeface="Noto Sans CJK SC"/>
              <a:ea typeface="Noto Sans CJK SC"/>
              <a:cs typeface="Noto Sans CJK SC"/>
            </a:endParaRPr>
          </a:p>
        </p:txBody>
      </p:sp>
      <p:sp>
        <p:nvSpPr>
          <p:cNvPr id="463"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交付物</a:t>
            </a:r>
            <a:endParaRPr sz="1200" b="1">
              <a:solidFill>
                <a:srgbClr val="1769FF"/>
              </a:solidFill>
              <a:latin typeface="Noto Sans CJK SC"/>
              <a:ea typeface="Noto Sans CJK SC"/>
              <a:cs typeface="Noto Sans CJK SC"/>
            </a:endParaRPr>
          </a:p>
        </p:txBody>
      </p:sp>
      <p:sp>
        <p:nvSpPr>
          <p:cNvPr id="464"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Studio PR、异步任务适配与终态修复、端到端测试、2 分钟演示视频。</a:t>
            </a:r>
            <a:endParaRPr sz="1200" b="0">
              <a:solidFill>
                <a:srgbClr val="111827"/>
              </a:solidFill>
              <a:latin typeface="Noto Sans CJK SC"/>
              <a:ea typeface="Noto Sans CJK SC"/>
              <a:cs typeface="Noto Sans CJK SC"/>
            </a:endParaRPr>
          </a:p>
        </p:txBody>
      </p:sp>
      <p:sp>
        <p:nvSpPr>
          <p:cNvPr id="465"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验收线</a:t>
            </a:r>
            <a:endParaRPr sz="1200" b="1">
              <a:solidFill>
                <a:srgbClr val="1769FF"/>
              </a:solidFill>
              <a:latin typeface="Noto Sans CJK SC"/>
              <a:ea typeface="Noto Sans CJK SC"/>
              <a:cs typeface="Noto Sans CJK SC"/>
            </a:endParaRPr>
          </a:p>
        </p:txBody>
      </p:sp>
      <p:sp>
        <p:nvSpPr>
          <p:cNvPr id="466"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P0 跑通 doctor + predict；P1 区分成功/失败/取消，重启后任务与产物可追溯。</a:t>
            </a:r>
            <a:endParaRPr sz="1200" b="1">
              <a:solidFill>
                <a:srgbClr val="111827"/>
              </a:solidFill>
              <a:latin typeface="Noto Sans CJK SC"/>
              <a:ea typeface="Noto Sans CJK SC"/>
              <a:cs typeface="Noto Sans CJK SC"/>
            </a:endParaRPr>
          </a:p>
        </p:txBody>
      </p:sp>
      <p:sp>
        <p:nvSpPr>
          <p:cNvPr id="467"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468"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469" name="矩形 33"/>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470"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28</a:t>
            </a:r>
            <a:endParaRPr sz="975" b="1">
              <a:solidFill>
                <a:srgbClr val="667085"/>
              </a:solidFill>
              <a:latin typeface="Noto Sans CJK SC"/>
              <a:ea typeface="Noto Sans CJK SC"/>
              <a:cs typeface="Noto Sans CJK SC"/>
            </a:endParaRPr>
          </a:p>
        </p:txBody>
      </p:sp>
    </p:spTree>
  </p:cSld>
  <p:clrMapOvr>
    <a:masterClrMapping/>
  </p:clrMapOvr>
</p:sld>
</file>

<file path=ppt/slides/slide31.xml><?xml version="1.0" encoding="utf-8"?>
<p:sld xmlns:a="http://schemas.openxmlformats.org/drawingml/2006/main" xmlns:p="http://schemas.openxmlformats.org/presentationml/2006/main">
  <p:cSld>
    <p:bg>
      <p:bgPr>
        <a:solidFill>
          <a:srgbClr val="FFFFFF"/>
        </a:solidFill>
        <a:effectLst/>
      </p:bgPr>
    </p:bg>
    <p:spTree>
      <p:nvGrpSpPr>
        <p:cNvPr id="471" name=""/>
        <p:cNvGrpSpPr/>
        <p:nvPr/>
      </p:nvGrpSpPr>
      <p:grpSpPr>
        <a:xfrm>
          <a:off x="0" y="0"/>
          <a:ext cx="0" cy="0"/>
          <a:chOff x="0" y="0"/>
          <a:chExt cx="0" cy="0"/>
        </a:xfrm>
      </p:grpSpPr>
      <p:sp>
        <p:nvSpPr>
          <p:cNvPr id="472"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THEME F  /  F2</a:t>
            </a:r>
            <a:endParaRPr sz="1125" b="1">
              <a:solidFill>
                <a:srgbClr val="1769FF"/>
              </a:solidFill>
              <a:latin typeface="Noto Sans CJK SC"/>
              <a:ea typeface="Noto Sans CJK SC"/>
              <a:cs typeface="Noto Sans CJK SC"/>
            </a:endParaRPr>
          </a:p>
        </p:txBody>
      </p:sp>
      <p:sp>
        <p:nvSpPr>
          <p:cNvPr id="473"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训练中心：从参数填表到可复现实验</a:t>
            </a:r>
            <a:endParaRPr sz="2925" b="1">
              <a:solidFill>
                <a:srgbClr val="111827"/>
              </a:solidFill>
              <a:latin typeface="Noto Sans CJK SC"/>
              <a:ea typeface="Noto Sans CJK SC"/>
              <a:cs typeface="Noto Sans CJK SC"/>
            </a:endParaRPr>
          </a:p>
        </p:txBody>
      </p:sp>
      <p:sp>
        <p:nvSpPr>
          <p:cNvPr id="474" name="矩形 2"/>
          <p:cNvSpPr>
            <a:spLocks noGrp="1"/>
          </p:cNvSpPr>
          <p:nvPr/>
        </p:nvSpPr>
        <p:spPr>
          <a:xfrm>
            <a:off x="457200" y="1352550"/>
            <a:ext cx="11277600" cy="28575"/>
          </a:xfrm>
          <a:prstGeom prst="rect">
            <a:avLst/>
          </a:prstGeom>
          <a:solidFill>
            <a:srgbClr val="1769FF"/>
          </a:solidFill>
          <a:ln w="9525">
            <a:solidFill>
              <a:srgbClr val="1769FF"/>
            </a:solidFill>
            <a:prstDash val="solid"/>
          </a:ln>
        </p:spPr>
        <p:txBody>
          <a:bodyPr/>
          <a:p/>
        </p:txBody>
      </p:sp>
      <p:sp>
        <p:nvSpPr>
          <p:cNvPr id="475"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核心问题</a:t>
            </a:r>
            <a:endParaRPr sz="1275" b="1">
              <a:solidFill>
                <a:srgbClr val="1769FF"/>
              </a:solidFill>
              <a:latin typeface="Noto Sans CJK SC"/>
              <a:ea typeface="Noto Sans CJK SC"/>
              <a:cs typeface="Noto Sans CJK SC"/>
            </a:endParaRPr>
          </a:p>
        </p:txBody>
      </p:sp>
      <p:sp>
        <p:nvSpPr>
          <p:cNvPr id="476"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训练参数、GPU 资源与长任务生命周期必须在 WebUI 中可控，不能只把 CLI 表单化。</a:t>
            </a:r>
            <a:endParaRPr sz="1650" b="1">
              <a:solidFill>
                <a:srgbClr val="111827"/>
              </a:solidFill>
              <a:latin typeface="Noto Sans CJK SC"/>
              <a:ea typeface="Noto Sans CJK SC"/>
              <a:cs typeface="Noto Sans CJK SC"/>
            </a:endParaRPr>
          </a:p>
        </p:txBody>
      </p:sp>
      <p:sp>
        <p:nvSpPr>
          <p:cNvPr id="477"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仓库切入 / 关键提醒</a:t>
            </a:r>
            <a:endParaRPr sz="1275" b="1">
              <a:solidFill>
                <a:srgbClr val="1769FF"/>
              </a:solidFill>
              <a:latin typeface="Noto Sans CJK SC"/>
              <a:ea typeface="Noto Sans CJK SC"/>
              <a:cs typeface="Noto Sans CJK SC"/>
            </a:endParaRPr>
          </a:p>
        </p:txBody>
      </p:sp>
      <p:sp>
        <p:nvSpPr>
          <p:cNvPr id="478"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复用 yolo.train/val、pipeline.experiment 与 progress.jsonl；F2 只负责训练资源与实验。</a:t>
            </a:r>
            <a:endParaRPr sz="1275" b="0">
              <a:solidFill>
                <a:srgbClr val="667085"/>
              </a:solidFill>
              <a:latin typeface="Noto Sans CJK SC"/>
              <a:ea typeface="Noto Sans CJK SC"/>
              <a:cs typeface="Noto Sans CJK SC"/>
            </a:endParaRPr>
          </a:p>
        </p:txBody>
      </p:sp>
      <p:sp>
        <p:nvSpPr>
          <p:cNvPr id="479"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数据与环境</a:t>
            </a:r>
            <a:endParaRPr sz="1275" b="1">
              <a:solidFill>
                <a:srgbClr val="1769FF"/>
              </a:solidFill>
              <a:latin typeface="Noto Sans CJK SC"/>
              <a:ea typeface="Noto Sans CJK SC"/>
              <a:cs typeface="Noto Sans CJK SC"/>
            </a:endParaRPr>
          </a:p>
        </p:txBody>
      </p:sp>
      <p:sp>
        <p:nvSpPr>
          <p:cNvPr id="480"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coco8 / COCO-mini；单卡优先；W1 登记每组 GPU 时段与并发上限。</a:t>
            </a:r>
            <a:endParaRPr sz="1275" b="0">
              <a:solidFill>
                <a:srgbClr val="111827"/>
              </a:solidFill>
              <a:latin typeface="Noto Sans CJK SC"/>
              <a:ea typeface="Noto Sans CJK SC"/>
              <a:cs typeface="Noto Sans CJK SC"/>
            </a:endParaRPr>
          </a:p>
        </p:txBody>
      </p:sp>
      <p:sp>
        <p:nvSpPr>
          <p:cNvPr id="481"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482"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现有 async 可并发启动多任务；P1 补单 GPU lease / 排队与 backpressure，避免显存争抢。</a:t>
            </a:r>
            <a:endParaRPr sz="1200" b="0">
              <a:solidFill>
                <a:srgbClr val="667085"/>
              </a:solidFill>
              <a:latin typeface="Noto Sans CJK SC"/>
              <a:ea typeface="Noto Sans CJK SC"/>
              <a:cs typeface="Noto Sans CJK SC"/>
            </a:endParaRPr>
          </a:p>
        </p:txBody>
      </p:sp>
      <p:sp>
        <p:nvSpPr>
          <p:cNvPr id="483"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P0｜可视化填写训练参数、预览 request；跑通 coco8 1 epoch，并实时展示进度。</a:t>
            </a:r>
            <a:endParaRPr sz="1275" b="1">
              <a:solidFill>
                <a:srgbClr val="111827"/>
              </a:solidFill>
              <a:latin typeface="Noto Sans CJK SC"/>
              <a:ea typeface="Noto Sans CJK SC"/>
              <a:cs typeface="Noto Sans CJK SC"/>
            </a:endParaRPr>
          </a:p>
        </p:txBody>
      </p:sp>
      <p:sp>
        <p:nvSpPr>
          <p:cNvPr id="484" name="圆角矩形 12"/>
          <p:cNvSpPr>
            <a:spLocks noGrp="1"/>
          </p:cNvSpPr>
          <p:nvPr/>
        </p:nvSpPr>
        <p:spPr>
          <a:xfrm>
            <a:off x="4762500" y="2438400"/>
            <a:ext cx="6896100" cy="723900"/>
          </a:xfrm>
          <a:prstGeom prst="roundRect">
            <a:avLst>
              <a:gd name="adj" fmla="val 10526"/>
            </a:avLst>
          </a:prstGeom>
          <a:solidFill>
            <a:srgbClr val="EAF2FF"/>
          </a:solidFill>
          <a:ln w="9525">
            <a:solidFill>
              <a:srgbClr val="1769FF"/>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P1｜支持停止/续训、曲线、显存、checkpoint；实现单 GPU 独占队列与双实验对比。</a:t>
            </a:r>
            <a:endParaRPr sz="1275" b="1">
              <a:solidFill>
                <a:srgbClr val="111827"/>
              </a:solidFill>
              <a:latin typeface="Noto Sans CJK SC"/>
              <a:ea typeface="Noto Sans CJK SC"/>
              <a:cs typeface="Noto Sans CJK SC"/>
            </a:endParaRPr>
          </a:p>
        </p:txBody>
      </p:sp>
      <p:sp>
        <p:nvSpPr>
          <p:cNvPr id="485"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P2｜扩展多 GPU 调度，或增加 V-PEFT / 全量微调对比面板。</a:t>
            </a:r>
            <a:endParaRPr sz="1275" b="1">
              <a:solidFill>
                <a:srgbClr val="111827"/>
              </a:solidFill>
              <a:latin typeface="Noto Sans CJK SC"/>
              <a:ea typeface="Noto Sans CJK SC"/>
              <a:cs typeface="Noto Sans CJK SC"/>
            </a:endParaRPr>
          </a:p>
        </p:txBody>
      </p:sp>
      <p:sp>
        <p:nvSpPr>
          <p:cNvPr id="486"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六周路径</a:t>
            </a:r>
            <a:endParaRPr sz="1275" b="1">
              <a:solidFill>
                <a:srgbClr val="1769FF"/>
              </a:solidFill>
              <a:latin typeface="Noto Sans CJK SC"/>
              <a:ea typeface="Noto Sans CJK SC"/>
              <a:cs typeface="Noto Sans CJK SC"/>
            </a:endParaRPr>
          </a:p>
        </p:txBody>
      </p:sp>
      <p:sp>
        <p:nvSpPr>
          <p:cNvPr id="487"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88"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参数契约</a:t>
            </a:r>
            <a:endParaRPr sz="1050" b="1">
              <a:solidFill>
                <a:srgbClr val="111827"/>
              </a:solidFill>
              <a:latin typeface="Noto Sans CJK SC"/>
              <a:ea typeface="Noto Sans CJK SC"/>
              <a:cs typeface="Noto Sans CJK SC"/>
            </a:endParaRPr>
          </a:p>
        </p:txBody>
      </p:sp>
      <p:sp>
        <p:nvSpPr>
          <p:cNvPr id="489"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90"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表单/dry-run</a:t>
            </a:r>
            <a:endParaRPr sz="1050" b="1">
              <a:solidFill>
                <a:srgbClr val="111827"/>
              </a:solidFill>
              <a:latin typeface="Noto Sans CJK SC"/>
              <a:ea typeface="Noto Sans CJK SC"/>
              <a:cs typeface="Noto Sans CJK SC"/>
            </a:endParaRPr>
          </a:p>
        </p:txBody>
      </p:sp>
      <p:sp>
        <p:nvSpPr>
          <p:cNvPr id="491"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92"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任务队列</a:t>
            </a:r>
            <a:endParaRPr sz="1050" b="1">
              <a:solidFill>
                <a:srgbClr val="111827"/>
              </a:solidFill>
              <a:latin typeface="Noto Sans CJK SC"/>
              <a:ea typeface="Noto Sans CJK SC"/>
              <a:cs typeface="Noto Sans CJK SC"/>
            </a:endParaRPr>
          </a:p>
        </p:txBody>
      </p:sp>
      <p:sp>
        <p:nvSpPr>
          <p:cNvPr id="493"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94"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曲线/续训</a:t>
            </a:r>
            <a:endParaRPr sz="1050" b="1">
              <a:solidFill>
                <a:srgbClr val="111827"/>
              </a:solidFill>
              <a:latin typeface="Noto Sans CJK SC"/>
              <a:ea typeface="Noto Sans CJK SC"/>
              <a:cs typeface="Noto Sans CJK SC"/>
            </a:endParaRPr>
          </a:p>
        </p:txBody>
      </p:sp>
      <p:sp>
        <p:nvSpPr>
          <p:cNvPr id="495"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496"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GPU lease</a:t>
            </a:r>
            <a:endParaRPr sz="1050" b="1">
              <a:solidFill>
                <a:srgbClr val="111827"/>
              </a:solidFill>
              <a:latin typeface="Noto Sans CJK SC"/>
              <a:ea typeface="Noto Sans CJK SC"/>
              <a:cs typeface="Noto Sans CJK SC"/>
            </a:endParaRPr>
          </a:p>
        </p:txBody>
      </p:sp>
      <p:sp>
        <p:nvSpPr>
          <p:cNvPr id="497" name="圆角矩形 25"/>
          <p:cNvSpPr>
            <a:spLocks noGrp="1"/>
          </p:cNvSpPr>
          <p:nvPr/>
        </p:nvSpPr>
        <p:spPr>
          <a:xfrm>
            <a:off x="10525125" y="4610100"/>
            <a:ext cx="1000125" cy="457200"/>
          </a:xfrm>
          <a:prstGeom prst="roundRect">
            <a:avLst>
              <a:gd name="adj" fmla="val 12500"/>
            </a:avLst>
          </a:prstGeom>
          <a:solidFill>
            <a:srgbClr val="1769FF"/>
          </a:solidFill>
          <a:ln w="9525">
            <a:solidFill>
              <a:srgbClr val="1769FF"/>
            </a:solidFill>
            <a:prstDash val="solid"/>
          </a:ln>
        </p:spPr>
        <p:txBody>
          <a:bodyPr/>
          <a:p/>
        </p:txBody>
      </p:sp>
      <p:sp>
        <p:nvSpPr>
          <p:cNvPr id="498"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PR/演示</a:t>
            </a:r>
            <a:endParaRPr sz="1050" b="1">
              <a:solidFill>
                <a:srgbClr val="FFFFFF"/>
              </a:solidFill>
              <a:latin typeface="Noto Sans CJK SC"/>
              <a:ea typeface="Noto Sans CJK SC"/>
              <a:cs typeface="Noto Sans CJK SC"/>
            </a:endParaRPr>
          </a:p>
        </p:txBody>
      </p:sp>
      <p:sp>
        <p:nvSpPr>
          <p:cNvPr id="499"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交付物</a:t>
            </a:r>
            <a:endParaRPr sz="1200" b="1">
              <a:solidFill>
                <a:srgbClr val="1769FF"/>
              </a:solidFill>
              <a:latin typeface="Noto Sans CJK SC"/>
              <a:ea typeface="Noto Sans CJK SC"/>
              <a:cs typeface="Noto Sans CJK SC"/>
            </a:endParaRPr>
          </a:p>
        </p:txBody>
      </p:sp>
      <p:sp>
        <p:nvSpPr>
          <p:cNvPr id="500"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Train 页、GPU lease / 队列、任务状态存储、可复现实验包与自动化测试。</a:t>
            </a:r>
            <a:endParaRPr sz="1200" b="0">
              <a:solidFill>
                <a:srgbClr val="111827"/>
              </a:solidFill>
              <a:latin typeface="Noto Sans CJK SC"/>
              <a:ea typeface="Noto Sans CJK SC"/>
              <a:cs typeface="Noto Sans CJK SC"/>
            </a:endParaRPr>
          </a:p>
        </p:txBody>
      </p:sp>
      <p:sp>
        <p:nvSpPr>
          <p:cNvPr id="501"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验收线</a:t>
            </a:r>
            <a:endParaRPr sz="1200" b="1">
              <a:solidFill>
                <a:srgbClr val="1769FF"/>
              </a:solidFill>
              <a:latin typeface="Noto Sans CJK SC"/>
              <a:ea typeface="Noto Sans CJK SC"/>
              <a:cs typeface="Noto Sans CJK SC"/>
            </a:endParaRPr>
          </a:p>
        </p:txBody>
      </p:sp>
      <p:sp>
        <p:nvSpPr>
          <p:cNvPr id="502"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P0 完成真实训练；P1 并发提交不抢卡，UI 重启后可恢复任务与复现证据。</a:t>
            </a:r>
            <a:endParaRPr sz="1200" b="1">
              <a:solidFill>
                <a:srgbClr val="111827"/>
              </a:solidFill>
              <a:latin typeface="Noto Sans CJK SC"/>
              <a:ea typeface="Noto Sans CJK SC"/>
              <a:cs typeface="Noto Sans CJK SC"/>
            </a:endParaRPr>
          </a:p>
        </p:txBody>
      </p:sp>
      <p:sp>
        <p:nvSpPr>
          <p:cNvPr id="503"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504"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505" name="矩形 33"/>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506"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29</a:t>
            </a:r>
            <a:endParaRPr sz="975" b="1">
              <a:solidFill>
                <a:srgbClr val="667085"/>
              </a:solidFill>
              <a:latin typeface="Noto Sans CJK SC"/>
              <a:ea typeface="Noto Sans CJK SC"/>
              <a:cs typeface="Noto Sans CJK SC"/>
            </a:endParaRPr>
          </a:p>
        </p:txBody>
      </p:sp>
    </p:spTree>
  </p:cSld>
  <p:clrMapOvr>
    <a:masterClrMapping/>
  </p:clrMapOvr>
</p:sld>
</file>

<file path=ppt/slides/slide32.xml><?xml version="1.0" encoding="utf-8"?>
<p:sld xmlns:a="http://schemas.openxmlformats.org/drawingml/2006/main" xmlns:p="http://schemas.openxmlformats.org/presentationml/2006/main">
  <p:cSld>
    <p:bg>
      <p:bgPr>
        <a:solidFill>
          <a:srgbClr val="FFFFFF"/>
        </a:solidFill>
        <a:effectLst/>
      </p:bgPr>
    </p:bg>
    <p:spTree>
      <p:nvGrpSpPr>
        <p:cNvPr id="507" name=""/>
        <p:cNvGrpSpPr/>
        <p:nvPr/>
      </p:nvGrpSpPr>
      <p:grpSpPr>
        <a:xfrm>
          <a:off x="0" y="0"/>
          <a:ext cx="0" cy="0"/>
          <a:chOff x="0" y="0"/>
          <a:chExt cx="0" cy="0"/>
        </a:xfrm>
      </p:grpSpPr>
      <p:sp>
        <p:nvSpPr>
          <p:cNvPr id="508" name="矩形 35"/>
          <p:cNvSpPr>
            <a:spLocks noGrp="1"/>
          </p:cNvSpPr>
          <p:nvPr/>
        </p:nvSpPr>
        <p:spPr>
          <a:xfrm>
            <a:off x="457200" y="285750"/>
            <a:ext cx="2667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THEME F  /  F3</a:t>
            </a:r>
            <a:endParaRPr sz="1125" b="1">
              <a:solidFill>
                <a:srgbClr val="1769FF"/>
              </a:solidFill>
              <a:latin typeface="Noto Sans CJK SC"/>
              <a:ea typeface="Noto Sans CJK SC"/>
              <a:cs typeface="Noto Sans CJK SC"/>
            </a:endParaRPr>
          </a:p>
        </p:txBody>
      </p:sp>
      <p:sp>
        <p:nvSpPr>
          <p:cNvPr id="509" name="矩形 1"/>
          <p:cNvSpPr>
            <a:spLocks noGrp="1"/>
          </p:cNvSpPr>
          <p:nvPr/>
        </p:nvSpPr>
        <p:spPr>
          <a:xfrm>
            <a:off x="457200" y="628650"/>
            <a:ext cx="11096625" cy="628650"/>
          </a:xfrm>
          <a:prstGeom prst="rect">
            <a:avLst/>
          </a:prstGeom>
          <a:noFill/>
          <a:ln w="0">
            <a:noFill/>
            <a:prstDash val="solid"/>
          </a:ln>
        </p:spPr>
        <p:txBody>
          <a:bodyPr wrap="square" lIns="0" tIns="0" rIns="0" bIns="0" anchor="t">
            <a:normAutofit/>
          </a:bodyPr>
          <a:lstStyle/>
          <a:p>
            <a:pPr algn="l">
              <a:lnSpc>
                <a:spcPct val="108000"/>
              </a:lnSpc>
              <a:buNone/>
              <a:defRPr sz="2925" b="1">
                <a:solidFill>
                  <a:srgbClr val="111827"/>
                </a:solidFill>
                <a:latin typeface="Noto Sans CJK SC"/>
                <a:ea typeface="Noto Sans CJK SC"/>
                <a:cs typeface="Noto Sans CJK SC"/>
              </a:defRPr>
            </a:pPr>
            <a:r>
              <a:rPr sz="2925" b="1">
                <a:solidFill>
                  <a:srgbClr val="111827"/>
                </a:solidFill>
                <a:latin typeface="Noto Sans CJK SC"/>
                <a:ea typeface="Noto Sans CJK SC"/>
                <a:cs typeface="Noto Sans CJK SC"/>
              </a:rPr>
              <a:t>部署中心：导出、量化与 Benchmark 向导</a:t>
            </a:r>
            <a:endParaRPr sz="2925" b="1">
              <a:solidFill>
                <a:srgbClr val="111827"/>
              </a:solidFill>
              <a:latin typeface="Noto Sans CJK SC"/>
              <a:ea typeface="Noto Sans CJK SC"/>
              <a:cs typeface="Noto Sans CJK SC"/>
            </a:endParaRPr>
          </a:p>
        </p:txBody>
      </p:sp>
      <p:sp>
        <p:nvSpPr>
          <p:cNvPr id="510" name="矩形 2"/>
          <p:cNvSpPr>
            <a:spLocks noGrp="1"/>
          </p:cNvSpPr>
          <p:nvPr/>
        </p:nvSpPr>
        <p:spPr>
          <a:xfrm>
            <a:off x="457200" y="1352550"/>
            <a:ext cx="11277600" cy="28575"/>
          </a:xfrm>
          <a:prstGeom prst="rect">
            <a:avLst/>
          </a:prstGeom>
          <a:solidFill>
            <a:srgbClr val="1769FF"/>
          </a:solidFill>
          <a:ln w="9525">
            <a:solidFill>
              <a:srgbClr val="1769FF"/>
            </a:solidFill>
            <a:prstDash val="solid"/>
          </a:ln>
        </p:spPr>
        <p:txBody>
          <a:bodyPr/>
          <a:p/>
        </p:txBody>
      </p:sp>
      <p:sp>
        <p:nvSpPr>
          <p:cNvPr id="511" name="矩形 3"/>
          <p:cNvSpPr>
            <a:spLocks noGrp="1"/>
          </p:cNvSpPr>
          <p:nvPr/>
        </p:nvSpPr>
        <p:spPr>
          <a:xfrm>
            <a:off x="495300" y="1619250"/>
            <a:ext cx="1333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核心问题</a:t>
            </a:r>
            <a:endParaRPr sz="1275" b="1">
              <a:solidFill>
                <a:srgbClr val="1769FF"/>
              </a:solidFill>
              <a:latin typeface="Noto Sans CJK SC"/>
              <a:ea typeface="Noto Sans CJK SC"/>
              <a:cs typeface="Noto Sans CJK SC"/>
            </a:endParaRPr>
          </a:p>
        </p:txBody>
      </p:sp>
      <p:sp>
        <p:nvSpPr>
          <p:cNvPr id="512" name="矩形 4"/>
          <p:cNvSpPr>
            <a:spLocks noGrp="1"/>
          </p:cNvSpPr>
          <p:nvPr/>
        </p:nvSpPr>
        <p:spPr>
          <a:xfrm>
            <a:off x="495300" y="1981200"/>
            <a:ext cx="3905250" cy="8382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导出前先说明支持/拒绝与 sparse/dense fallback，再用同口径比较精度、时延和体积。</a:t>
            </a:r>
            <a:endParaRPr sz="1650" b="1">
              <a:solidFill>
                <a:srgbClr val="111827"/>
              </a:solidFill>
              <a:latin typeface="Noto Sans CJK SC"/>
              <a:ea typeface="Noto Sans CJK SC"/>
              <a:cs typeface="Noto Sans CJK SC"/>
            </a:endParaRPr>
          </a:p>
        </p:txBody>
      </p:sp>
      <p:sp>
        <p:nvSpPr>
          <p:cNvPr id="513" name="矩形 5"/>
          <p:cNvSpPr>
            <a:spLocks noGrp="1"/>
          </p:cNvSpPr>
          <p:nvPr/>
        </p:nvSpPr>
        <p:spPr>
          <a:xfrm>
            <a:off x="495300" y="3009900"/>
            <a:ext cx="20955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仓库切入 / 关键提醒</a:t>
            </a:r>
            <a:endParaRPr sz="1275" b="1">
              <a:solidFill>
                <a:srgbClr val="1769FF"/>
              </a:solidFill>
              <a:latin typeface="Noto Sans CJK SC"/>
              <a:ea typeface="Noto Sans CJK SC"/>
              <a:cs typeface="Noto Sans CJK SC"/>
            </a:endParaRPr>
          </a:p>
        </p:txBody>
      </p:sp>
      <p:sp>
        <p:nvSpPr>
          <p:cNvPr id="514" name="矩形 6"/>
          <p:cNvSpPr>
            <a:spLocks noGrp="1"/>
          </p:cNvSpPr>
          <p:nvPr/>
        </p:nvSpPr>
        <p:spPr>
          <a:xfrm>
            <a:off x="495300" y="3352800"/>
            <a:ext cx="3905250" cy="60960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667085"/>
                </a:solidFill>
                <a:latin typeface="Noto Sans CJK SC"/>
                <a:ea typeface="Noto Sans CJK SC"/>
                <a:cs typeface="Noto Sans CJK SC"/>
              </a:defRPr>
            </a:pPr>
            <a:r>
              <a:rPr sz="1275" b="0">
                <a:solidFill>
                  <a:srgbClr val="667085"/>
                </a:solidFill>
                <a:latin typeface="Noto Sans CJK SC"/>
                <a:ea typeface="Noto Sans CJK SC"/>
                <a:cs typeface="Noto Sans CJK SC"/>
              </a:rPr>
              <a:t>复用 export_preflight、能力矩阵与 yolo.export；A3 研究 Export Gap，F3 负责向导与结果固化。</a:t>
            </a:r>
            <a:endParaRPr sz="1275" b="0">
              <a:solidFill>
                <a:srgbClr val="667085"/>
              </a:solidFill>
              <a:latin typeface="Noto Sans CJK SC"/>
              <a:ea typeface="Noto Sans CJK SC"/>
              <a:cs typeface="Noto Sans CJK SC"/>
            </a:endParaRPr>
          </a:p>
        </p:txBody>
      </p:sp>
      <p:sp>
        <p:nvSpPr>
          <p:cNvPr id="515" name="矩形 7"/>
          <p:cNvSpPr>
            <a:spLocks noGrp="1"/>
          </p:cNvSpPr>
          <p:nvPr/>
        </p:nvSpPr>
        <p:spPr>
          <a:xfrm>
            <a:off x="495300" y="4181475"/>
            <a:ext cx="152400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数据与环境</a:t>
            </a:r>
            <a:endParaRPr sz="1275" b="1">
              <a:solidFill>
                <a:srgbClr val="1769FF"/>
              </a:solidFill>
              <a:latin typeface="Noto Sans CJK SC"/>
              <a:ea typeface="Noto Sans CJK SC"/>
              <a:cs typeface="Noto Sans CJK SC"/>
            </a:endParaRPr>
          </a:p>
        </p:txBody>
      </p:sp>
      <p:sp>
        <p:nvSpPr>
          <p:cNvPr id="516" name="矩形 8"/>
          <p:cNvSpPr>
            <a:spLocks noGrp="1"/>
          </p:cNvSpPr>
          <p:nvPr/>
        </p:nvSpPr>
        <p:spPr>
          <a:xfrm>
            <a:off x="495300" y="4514850"/>
            <a:ext cx="3905250" cy="542925"/>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111827"/>
                </a:solidFill>
                <a:latin typeface="Noto Sans CJK SC"/>
                <a:ea typeface="Noto Sans CJK SC"/>
                <a:cs typeface="Noto Sans CJK SC"/>
              </a:defRPr>
            </a:pPr>
            <a:r>
              <a:rPr sz="1275" b="0">
                <a:solidFill>
                  <a:srgbClr val="111827"/>
                </a:solidFill>
                <a:latin typeface="Noto Sans CJK SC"/>
                <a:ea typeface="Noto Sans CJK SC"/>
                <a:cs typeface="Noto Sans CJK SC"/>
              </a:rPr>
              <a:t>ONNX Runtime 必做；有 NVIDIA 环境再做 TensorRT；COCO val 子集校准。</a:t>
            </a:r>
            <a:endParaRPr sz="1275" b="0">
              <a:solidFill>
                <a:srgbClr val="111827"/>
              </a:solidFill>
              <a:latin typeface="Noto Sans CJK SC"/>
              <a:ea typeface="Noto Sans CJK SC"/>
              <a:cs typeface="Noto Sans CJK SC"/>
            </a:endParaRPr>
          </a:p>
        </p:txBody>
      </p:sp>
      <p:sp>
        <p:nvSpPr>
          <p:cNvPr id="517" name="矩形 9"/>
          <p:cNvSpPr>
            <a:spLocks noGrp="1"/>
          </p:cNvSpPr>
          <p:nvPr/>
        </p:nvSpPr>
        <p:spPr>
          <a:xfrm>
            <a:off x="495300" y="5257800"/>
            <a:ext cx="1428750" cy="2476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FF7A00"/>
                </a:solidFill>
                <a:latin typeface="Noto Sans CJK SC"/>
                <a:ea typeface="Noto Sans CJK SC"/>
                <a:cs typeface="Noto Sans CJK SC"/>
              </a:defRPr>
            </a:pPr>
            <a:r>
              <a:rPr sz="1200" b="1">
                <a:solidFill>
                  <a:srgbClr val="FF7A00"/>
                </a:solidFill>
                <a:latin typeface="Noto Sans CJK SC"/>
                <a:ea typeface="Noto Sans CJK SC"/>
                <a:cs typeface="Noto Sans CJK SC"/>
              </a:rPr>
              <a:t>风险 / 降级</a:t>
            </a:r>
            <a:endParaRPr sz="1200" b="1">
              <a:solidFill>
                <a:srgbClr val="FF7A00"/>
              </a:solidFill>
              <a:latin typeface="Noto Sans CJK SC"/>
              <a:ea typeface="Noto Sans CJK SC"/>
              <a:cs typeface="Noto Sans CJK SC"/>
            </a:endParaRPr>
          </a:p>
        </p:txBody>
      </p:sp>
      <p:sp>
        <p:nvSpPr>
          <p:cNvPr id="518" name="矩形 10"/>
          <p:cNvSpPr>
            <a:spLocks noGrp="1"/>
          </p:cNvSpPr>
          <p:nvPr/>
        </p:nvSpPr>
        <p:spPr>
          <a:xfrm>
            <a:off x="495300" y="5562600"/>
            <a:ext cx="39052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667085"/>
                </a:solidFill>
                <a:latin typeface="Noto Sans CJK SC"/>
                <a:ea typeface="Noto Sans CJK SC"/>
                <a:cs typeface="Noto Sans CJK SC"/>
              </a:defRPr>
            </a:pPr>
            <a:r>
              <a:rPr sz="1200" b="0">
                <a:solidFill>
                  <a:srgbClr val="667085"/>
                </a:solidFill>
                <a:latin typeface="Noto Sans CJK SC"/>
                <a:ea typeface="Noto Sans CJK SC"/>
                <a:cs typeface="Noto Sans CJK SC"/>
              </a:rPr>
              <a:t>无 TensorRT 时仍须完成 ONNX Runtime 静态 INT8 PTQ；硬件专用结果只在对应运行时发布。</a:t>
            </a:r>
            <a:endParaRPr sz="1200" b="0">
              <a:solidFill>
                <a:srgbClr val="667085"/>
              </a:solidFill>
              <a:latin typeface="Noto Sans CJK SC"/>
              <a:ea typeface="Noto Sans CJK SC"/>
              <a:cs typeface="Noto Sans CJK SC"/>
            </a:endParaRPr>
          </a:p>
        </p:txBody>
      </p:sp>
      <p:sp>
        <p:nvSpPr>
          <p:cNvPr id="519" name="圆角矩形 11"/>
          <p:cNvSpPr>
            <a:spLocks noGrp="1"/>
          </p:cNvSpPr>
          <p:nvPr/>
        </p:nvSpPr>
        <p:spPr>
          <a:xfrm>
            <a:off x="4762500" y="1581150"/>
            <a:ext cx="6896100" cy="723900"/>
          </a:xfrm>
          <a:prstGeom prst="roundRect">
            <a:avLst>
              <a:gd name="adj" fmla="val 10526"/>
            </a:avLst>
          </a:prstGeom>
          <a:solidFill>
            <a:srgbClr val="F2F4F7"/>
          </a:solidFill>
          <a:ln w="9525">
            <a:solidFill>
              <a:srgbClr val="111827"/>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P0｜选择 checkpoint/后端，运行 strict preflight；展示拒绝/fallback 并导出 ONNX FP32。</a:t>
            </a:r>
            <a:endParaRPr sz="1275" b="1">
              <a:solidFill>
                <a:srgbClr val="111827"/>
              </a:solidFill>
              <a:latin typeface="Noto Sans CJK SC"/>
              <a:ea typeface="Noto Sans CJK SC"/>
              <a:cs typeface="Noto Sans CJK SC"/>
            </a:endParaRPr>
          </a:p>
        </p:txBody>
      </p:sp>
      <p:sp>
        <p:nvSpPr>
          <p:cNvPr id="520" name="圆角矩形 12"/>
          <p:cNvSpPr>
            <a:spLocks noGrp="1"/>
          </p:cNvSpPr>
          <p:nvPr/>
        </p:nvSpPr>
        <p:spPr>
          <a:xfrm>
            <a:off x="4762500" y="2438400"/>
            <a:ext cx="6896100" cy="723900"/>
          </a:xfrm>
          <a:prstGeom prst="roundRect">
            <a:avLst>
              <a:gd name="adj" fmla="val 10526"/>
            </a:avLst>
          </a:prstGeom>
          <a:solidFill>
            <a:srgbClr val="EAF2FF"/>
          </a:solidFill>
          <a:ln w="9525">
            <a:solidFill>
              <a:srgbClr val="1769FF"/>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P1｜ONNX Runtime INT8 PTQ 必做；有 NVIDIA 再补 TensorRT FP16/INT8 与同口径对比。</a:t>
            </a:r>
            <a:endParaRPr sz="1275" b="1">
              <a:solidFill>
                <a:srgbClr val="111827"/>
              </a:solidFill>
              <a:latin typeface="Noto Sans CJK SC"/>
              <a:ea typeface="Noto Sans CJK SC"/>
              <a:cs typeface="Noto Sans CJK SC"/>
            </a:endParaRPr>
          </a:p>
        </p:txBody>
      </p:sp>
      <p:sp>
        <p:nvSpPr>
          <p:cNvPr id="521" name="圆角矩形 13"/>
          <p:cNvSpPr>
            <a:spLocks noGrp="1"/>
          </p:cNvSpPr>
          <p:nvPr/>
        </p:nvSpPr>
        <p:spPr>
          <a:xfrm>
            <a:off x="4762500" y="3295650"/>
            <a:ext cx="6896100" cy="723900"/>
          </a:xfrm>
          <a:prstGeom prst="roundRect">
            <a:avLst>
              <a:gd name="adj" fmla="val 10526"/>
            </a:avLst>
          </a:prstGeom>
          <a:solidFill>
            <a:srgbClr val="FFF1E6"/>
          </a:solidFill>
          <a:ln w="9525">
            <a:solidFill>
              <a:srgbClr val="FF7A00"/>
            </a:solidFill>
            <a:prstDash val="solid"/>
          </a:ln>
        </p:spPr>
        <p:txBody>
          <a:bodyPr wrap="square" lIns="247650" tIns="76200" rIns="171450" bIns="76200" anchor="ctr">
            <a:normAutofit/>
          </a:bodyPr>
          <a:lstStyle/>
          <a:p>
            <a:pPr algn="l">
              <a:lnSpc>
                <a:spcPct val="106000"/>
              </a:lnSpc>
              <a:buNone/>
              <a:defRPr sz="1275" b="1">
                <a:solidFill>
                  <a:srgbClr val="111827"/>
                </a:solidFill>
                <a:latin typeface="Noto Sans CJK SC"/>
                <a:ea typeface="Noto Sans CJK SC"/>
                <a:cs typeface="Noto Sans CJK SC"/>
              </a:defRPr>
            </a:pPr>
            <a:r>
              <a:rPr sz="1275" b="1">
                <a:solidFill>
                  <a:srgbClr val="111827"/>
                </a:solidFill>
                <a:latin typeface="Noto Sans CJK SC"/>
                <a:ea typeface="Noto Sans CJK SC"/>
                <a:cs typeface="Noto Sans CJK SC"/>
              </a:rPr>
              <a:t>P2｜尝试 QAT、远端设备插件，或把 A3 的路由一致率分析接入面板。</a:t>
            </a:r>
            <a:endParaRPr sz="1275" b="1">
              <a:solidFill>
                <a:srgbClr val="111827"/>
              </a:solidFill>
              <a:latin typeface="Noto Sans CJK SC"/>
              <a:ea typeface="Noto Sans CJK SC"/>
              <a:cs typeface="Noto Sans CJK SC"/>
            </a:endParaRPr>
          </a:p>
        </p:txBody>
      </p:sp>
      <p:sp>
        <p:nvSpPr>
          <p:cNvPr id="522" name="矩形 14"/>
          <p:cNvSpPr>
            <a:spLocks noGrp="1"/>
          </p:cNvSpPr>
          <p:nvPr/>
        </p:nvSpPr>
        <p:spPr>
          <a:xfrm>
            <a:off x="4762500" y="4248150"/>
            <a:ext cx="1047750" cy="26670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1769FF"/>
                </a:solidFill>
                <a:latin typeface="Noto Sans CJK SC"/>
                <a:ea typeface="Noto Sans CJK SC"/>
                <a:cs typeface="Noto Sans CJK SC"/>
              </a:defRPr>
            </a:pPr>
            <a:r>
              <a:rPr sz="1275" b="1">
                <a:solidFill>
                  <a:srgbClr val="1769FF"/>
                </a:solidFill>
                <a:latin typeface="Noto Sans CJK SC"/>
                <a:ea typeface="Noto Sans CJK SC"/>
                <a:cs typeface="Noto Sans CJK SC"/>
              </a:rPr>
              <a:t>六周路径</a:t>
            </a:r>
            <a:endParaRPr sz="1275" b="1">
              <a:solidFill>
                <a:srgbClr val="1769FF"/>
              </a:solidFill>
              <a:latin typeface="Noto Sans CJK SC"/>
              <a:ea typeface="Noto Sans CJK SC"/>
              <a:cs typeface="Noto Sans CJK SC"/>
            </a:endParaRPr>
          </a:p>
        </p:txBody>
      </p:sp>
      <p:sp>
        <p:nvSpPr>
          <p:cNvPr id="523" name="圆角矩形 15"/>
          <p:cNvSpPr>
            <a:spLocks noGrp="1"/>
          </p:cNvSpPr>
          <p:nvPr/>
        </p:nvSpPr>
        <p:spPr>
          <a:xfrm>
            <a:off x="47625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524" name="矩形 16"/>
          <p:cNvSpPr>
            <a:spLocks noGrp="1"/>
          </p:cNvSpPr>
          <p:nvPr/>
        </p:nvSpPr>
        <p:spPr>
          <a:xfrm>
            <a:off x="48101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W1</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能力矩阵</a:t>
            </a:r>
            <a:endParaRPr sz="1050" b="1">
              <a:solidFill>
                <a:srgbClr val="111827"/>
              </a:solidFill>
              <a:latin typeface="Noto Sans CJK SC"/>
              <a:ea typeface="Noto Sans CJK SC"/>
              <a:cs typeface="Noto Sans CJK SC"/>
            </a:endParaRPr>
          </a:p>
        </p:txBody>
      </p:sp>
      <p:sp>
        <p:nvSpPr>
          <p:cNvPr id="525" name="圆角矩形 17"/>
          <p:cNvSpPr>
            <a:spLocks noGrp="1"/>
          </p:cNvSpPr>
          <p:nvPr/>
        </p:nvSpPr>
        <p:spPr>
          <a:xfrm>
            <a:off x="591502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526" name="矩形 18"/>
          <p:cNvSpPr>
            <a:spLocks noGrp="1"/>
          </p:cNvSpPr>
          <p:nvPr/>
        </p:nvSpPr>
        <p:spPr>
          <a:xfrm>
            <a:off x="59626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W2</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ONNX 导出</a:t>
            </a:r>
            <a:endParaRPr sz="1050" b="1">
              <a:solidFill>
                <a:srgbClr val="111827"/>
              </a:solidFill>
              <a:latin typeface="Noto Sans CJK SC"/>
              <a:ea typeface="Noto Sans CJK SC"/>
              <a:cs typeface="Noto Sans CJK SC"/>
            </a:endParaRPr>
          </a:p>
        </p:txBody>
      </p:sp>
      <p:sp>
        <p:nvSpPr>
          <p:cNvPr id="527" name="圆角矩形 19"/>
          <p:cNvSpPr>
            <a:spLocks noGrp="1"/>
          </p:cNvSpPr>
          <p:nvPr/>
        </p:nvSpPr>
        <p:spPr>
          <a:xfrm>
            <a:off x="706755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528" name="矩形 20"/>
          <p:cNvSpPr>
            <a:spLocks noGrp="1"/>
          </p:cNvSpPr>
          <p:nvPr/>
        </p:nvSpPr>
        <p:spPr>
          <a:xfrm>
            <a:off x="711517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W3</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benchmark</a:t>
            </a:r>
            <a:endParaRPr sz="1050" b="1">
              <a:solidFill>
                <a:srgbClr val="111827"/>
              </a:solidFill>
              <a:latin typeface="Noto Sans CJK SC"/>
              <a:ea typeface="Noto Sans CJK SC"/>
              <a:cs typeface="Noto Sans CJK SC"/>
            </a:endParaRPr>
          </a:p>
        </p:txBody>
      </p:sp>
      <p:sp>
        <p:nvSpPr>
          <p:cNvPr id="529" name="圆角矩形 21"/>
          <p:cNvSpPr>
            <a:spLocks noGrp="1"/>
          </p:cNvSpPr>
          <p:nvPr/>
        </p:nvSpPr>
        <p:spPr>
          <a:xfrm>
            <a:off x="8220075"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530" name="矩形 22"/>
          <p:cNvSpPr>
            <a:spLocks noGrp="1"/>
          </p:cNvSpPr>
          <p:nvPr/>
        </p:nvSpPr>
        <p:spPr>
          <a:xfrm>
            <a:off x="826770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W4</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INT8/TRT</a:t>
            </a:r>
            <a:endParaRPr sz="1050" b="1">
              <a:solidFill>
                <a:srgbClr val="111827"/>
              </a:solidFill>
              <a:latin typeface="Noto Sans CJK SC"/>
              <a:ea typeface="Noto Sans CJK SC"/>
              <a:cs typeface="Noto Sans CJK SC"/>
            </a:endParaRPr>
          </a:p>
        </p:txBody>
      </p:sp>
      <p:sp>
        <p:nvSpPr>
          <p:cNvPr id="531" name="圆角矩形 23"/>
          <p:cNvSpPr>
            <a:spLocks noGrp="1"/>
          </p:cNvSpPr>
          <p:nvPr/>
        </p:nvSpPr>
        <p:spPr>
          <a:xfrm>
            <a:off x="9372600" y="4610100"/>
            <a:ext cx="1000125" cy="457200"/>
          </a:xfrm>
          <a:prstGeom prst="roundRect">
            <a:avLst>
              <a:gd name="adj" fmla="val 12500"/>
            </a:avLst>
          </a:prstGeom>
          <a:solidFill>
            <a:srgbClr val="F2F4F7"/>
          </a:solidFill>
          <a:ln w="9525">
            <a:solidFill>
              <a:srgbClr val="F2F4F7"/>
            </a:solidFill>
            <a:prstDash val="solid"/>
          </a:ln>
        </p:spPr>
        <p:txBody>
          <a:bodyPr/>
          <a:p/>
        </p:txBody>
      </p:sp>
      <p:sp>
        <p:nvSpPr>
          <p:cNvPr id="532" name="矩形 24"/>
          <p:cNvSpPr>
            <a:spLocks noGrp="1"/>
          </p:cNvSpPr>
          <p:nvPr/>
        </p:nvSpPr>
        <p:spPr>
          <a:xfrm>
            <a:off x="9420225"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W5</a:t>
            </a:r>
            <a:endParaRPr sz="1050" b="1">
              <a:solidFill>
                <a:srgbClr val="111827"/>
              </a:solidFill>
              <a:latin typeface="Noto Sans CJK SC"/>
              <a:ea typeface="Noto Sans CJK SC"/>
              <a:cs typeface="Noto Sans CJK SC"/>
            </a:endParaRPr>
          </a:p>
          <a:p>
            <a:pPr algn="ctr">
              <a:lnSpc>
                <a:spcPct val="95000"/>
              </a:lnSpc>
              <a:buNone/>
              <a:defRPr sz="1050" b="1">
                <a:solidFill>
                  <a:srgbClr val="111827"/>
                </a:solidFill>
                <a:latin typeface="Noto Sans CJK SC"/>
                <a:ea typeface="Noto Sans CJK SC"/>
                <a:cs typeface="Noto Sans CJK SC"/>
              </a:defRPr>
            </a:pPr>
            <a:r>
              <a:rPr sz="1050" b="1">
                <a:solidFill>
                  <a:srgbClr val="111827"/>
                </a:solidFill>
                <a:latin typeface="Noto Sans CJK SC"/>
                <a:ea typeface="Noto Sans CJK SC"/>
                <a:cs typeface="Noto Sans CJK SC"/>
              </a:rPr>
              <a:t>护栏/测试</a:t>
            </a:r>
            <a:endParaRPr sz="1050" b="1">
              <a:solidFill>
                <a:srgbClr val="111827"/>
              </a:solidFill>
              <a:latin typeface="Noto Sans CJK SC"/>
              <a:ea typeface="Noto Sans CJK SC"/>
              <a:cs typeface="Noto Sans CJK SC"/>
            </a:endParaRPr>
          </a:p>
        </p:txBody>
      </p:sp>
      <p:sp>
        <p:nvSpPr>
          <p:cNvPr id="533" name="圆角矩形 25"/>
          <p:cNvSpPr>
            <a:spLocks noGrp="1"/>
          </p:cNvSpPr>
          <p:nvPr/>
        </p:nvSpPr>
        <p:spPr>
          <a:xfrm>
            <a:off x="10525125" y="4610100"/>
            <a:ext cx="1000125" cy="457200"/>
          </a:xfrm>
          <a:prstGeom prst="roundRect">
            <a:avLst>
              <a:gd name="adj" fmla="val 12500"/>
            </a:avLst>
          </a:prstGeom>
          <a:solidFill>
            <a:srgbClr val="1769FF"/>
          </a:solidFill>
          <a:ln w="9525">
            <a:solidFill>
              <a:srgbClr val="1769FF"/>
            </a:solidFill>
            <a:prstDash val="solid"/>
          </a:ln>
        </p:spPr>
        <p:txBody>
          <a:bodyPr/>
          <a:p/>
        </p:txBody>
      </p:sp>
      <p:sp>
        <p:nvSpPr>
          <p:cNvPr id="534" name="矩形 26"/>
          <p:cNvSpPr>
            <a:spLocks noGrp="1"/>
          </p:cNvSpPr>
          <p:nvPr/>
        </p:nvSpPr>
        <p:spPr>
          <a:xfrm>
            <a:off x="10572750" y="4657725"/>
            <a:ext cx="904875" cy="361950"/>
          </a:xfrm>
          <a:prstGeom prst="rect">
            <a:avLst/>
          </a:prstGeom>
          <a:noFill/>
          <a:ln w="0">
            <a:noFill/>
            <a:prstDash val="solid"/>
          </a:ln>
        </p:spPr>
        <p:txBody>
          <a:bodyPr wrap="square" lIns="0" tIns="0" rIns="0" bIns="0" anchor="ctr">
            <a:normAutofit/>
          </a:bodyPr>
          <a:lstStyle/>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W6</a:t>
            </a:r>
            <a:endParaRPr sz="1050" b="1">
              <a:solidFill>
                <a:srgbClr val="FFFFFF"/>
              </a:solidFill>
              <a:latin typeface="Noto Sans CJK SC"/>
              <a:ea typeface="Noto Sans CJK SC"/>
              <a:cs typeface="Noto Sans CJK SC"/>
            </a:endParaRPr>
          </a:p>
          <a:p>
            <a:pPr algn="ctr">
              <a:lnSpc>
                <a:spcPct val="95000"/>
              </a:lnSpc>
              <a:buNone/>
              <a:defRPr sz="1050" b="1">
                <a:solidFill>
                  <a:srgbClr val="FFFFFF"/>
                </a:solidFill>
                <a:latin typeface="Noto Sans CJK SC"/>
                <a:ea typeface="Noto Sans CJK SC"/>
                <a:cs typeface="Noto Sans CJK SC"/>
              </a:defRPr>
            </a:pPr>
            <a:r>
              <a:rPr sz="1050" b="1">
                <a:solidFill>
                  <a:srgbClr val="FFFFFF"/>
                </a:solidFill>
                <a:latin typeface="Noto Sans CJK SC"/>
                <a:ea typeface="Noto Sans CJK SC"/>
                <a:cs typeface="Noto Sans CJK SC"/>
              </a:rPr>
              <a:t>PR/报告</a:t>
            </a:r>
            <a:endParaRPr sz="1050" b="1">
              <a:solidFill>
                <a:srgbClr val="FFFFFF"/>
              </a:solidFill>
              <a:latin typeface="Noto Sans CJK SC"/>
              <a:ea typeface="Noto Sans CJK SC"/>
              <a:cs typeface="Noto Sans CJK SC"/>
            </a:endParaRPr>
          </a:p>
        </p:txBody>
      </p:sp>
      <p:sp>
        <p:nvSpPr>
          <p:cNvPr id="535" name="矩形 27"/>
          <p:cNvSpPr>
            <a:spLocks noGrp="1"/>
          </p:cNvSpPr>
          <p:nvPr/>
        </p:nvSpPr>
        <p:spPr>
          <a:xfrm>
            <a:off x="476250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交付物</a:t>
            </a:r>
            <a:endParaRPr sz="1200" b="1">
              <a:solidFill>
                <a:srgbClr val="1769FF"/>
              </a:solidFill>
              <a:latin typeface="Noto Sans CJK SC"/>
              <a:ea typeface="Noto Sans CJK SC"/>
              <a:cs typeface="Noto Sans CJK SC"/>
            </a:endParaRPr>
          </a:p>
        </p:txBody>
      </p:sp>
      <p:sp>
        <p:nvSpPr>
          <p:cNvPr id="536" name="矩形 28"/>
          <p:cNvSpPr>
            <a:spLocks noGrp="1"/>
          </p:cNvSpPr>
          <p:nvPr/>
        </p:nvSpPr>
        <p:spPr>
          <a:xfrm>
            <a:off x="476250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Deploy 页、preflight 报告、产物/benchmark 表与自动化测试。</a:t>
            </a:r>
            <a:endParaRPr sz="1200" b="0">
              <a:solidFill>
                <a:srgbClr val="111827"/>
              </a:solidFill>
              <a:latin typeface="Noto Sans CJK SC"/>
              <a:ea typeface="Noto Sans CJK SC"/>
              <a:cs typeface="Noto Sans CJK SC"/>
            </a:endParaRPr>
          </a:p>
        </p:txBody>
      </p:sp>
      <p:sp>
        <p:nvSpPr>
          <p:cNvPr id="537" name="矩形 29"/>
          <p:cNvSpPr>
            <a:spLocks noGrp="1"/>
          </p:cNvSpPr>
          <p:nvPr/>
        </p:nvSpPr>
        <p:spPr>
          <a:xfrm>
            <a:off x="8324850" y="5276850"/>
            <a:ext cx="742950" cy="2286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验收线</a:t>
            </a:r>
            <a:endParaRPr sz="1200" b="1">
              <a:solidFill>
                <a:srgbClr val="1769FF"/>
              </a:solidFill>
              <a:latin typeface="Noto Sans CJK SC"/>
              <a:ea typeface="Noto Sans CJK SC"/>
              <a:cs typeface="Noto Sans CJK SC"/>
            </a:endParaRPr>
          </a:p>
        </p:txBody>
      </p:sp>
      <p:sp>
        <p:nvSpPr>
          <p:cNvPr id="538" name="矩形 30"/>
          <p:cNvSpPr>
            <a:spLocks noGrp="1"/>
          </p:cNvSpPr>
          <p:nvPr/>
        </p:nvSpPr>
        <p:spPr>
          <a:xfrm>
            <a:off x="8324850" y="5543550"/>
            <a:ext cx="3333750" cy="51435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无效组合预检拒绝；FP32/INT8 同样本比较，产物记录源权重、后端、校准集与 checksum。</a:t>
            </a:r>
            <a:endParaRPr sz="1200" b="1">
              <a:solidFill>
                <a:srgbClr val="111827"/>
              </a:solidFill>
              <a:latin typeface="Noto Sans CJK SC"/>
              <a:ea typeface="Noto Sans CJK SC"/>
              <a:cs typeface="Noto Sans CJK SC"/>
            </a:endParaRPr>
          </a:p>
        </p:txBody>
      </p:sp>
      <p:sp>
        <p:nvSpPr>
          <p:cNvPr id="539" name="矩形 31"/>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540" name="矩形 32"/>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541" name="矩形 33"/>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542" name="矩形 34"/>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30</a:t>
            </a:r>
            <a:endParaRPr sz="975" b="1">
              <a:solidFill>
                <a:srgbClr val="667085"/>
              </a:solidFill>
              <a:latin typeface="Noto Sans CJK SC"/>
              <a:ea typeface="Noto Sans CJK SC"/>
              <a:cs typeface="Noto Sans CJK SC"/>
            </a:endParaRPr>
          </a:p>
        </p:txBody>
      </p:sp>
    </p:spTree>
  </p:cSld>
  <p:clrMapOvr>
    <a:masterClrMapping/>
  </p:clrMapOvr>
</p:sld>
</file>

<file path=ppt/slides/slide33.xml><?xml version="1.0" encoding="utf-8"?>
<p:sld xmlns:a="http://schemas.openxmlformats.org/drawingml/2006/main" xmlns:p="http://schemas.openxmlformats.org/presentationml/2006/main">
  <p:cSld>
    <p:bg>
      <p:bgPr>
        <a:solidFill>
          <a:srgbClr val="FFFFFF"/>
        </a:solidFill>
        <a:effectLst/>
      </p:bgPr>
    </p:bg>
    <p:spTree>
      <p:nvGrpSpPr>
        <p:cNvPr id="543" name=""/>
        <p:cNvGrpSpPr/>
        <p:nvPr/>
      </p:nvGrpSpPr>
      <p:grpSpPr>
        <a:xfrm>
          <a:off x="0" y="0"/>
          <a:ext cx="0" cy="0"/>
          <a:chOff x="0" y="0"/>
          <a:chExt cx="0" cy="0"/>
        </a:xfrm>
      </p:grpSpPr>
      <p:sp>
        <p:nvSpPr>
          <p:cNvPr id="544" name="矩形 27"/>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WEBUI WORK PACKAGES</a:t>
            </a:r>
            <a:endParaRPr sz="1125" b="1">
              <a:solidFill>
                <a:srgbClr val="1769FF"/>
              </a:solidFill>
              <a:latin typeface="Noto Sans CJK SC"/>
              <a:ea typeface="Noto Sans CJK SC"/>
              <a:cs typeface="Noto Sans CJK SC"/>
            </a:endParaRPr>
          </a:p>
        </p:txBody>
      </p:sp>
      <p:sp>
        <p:nvSpPr>
          <p:cNvPr id="545"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不是三套 WebUI，而是一个平台的三个工作包</a:t>
            </a:r>
            <a:endParaRPr sz="3000" b="1">
              <a:solidFill>
                <a:srgbClr val="111827"/>
              </a:solidFill>
              <a:latin typeface="Noto Sans CJK SC"/>
              <a:ea typeface="Noto Sans CJK SC"/>
              <a:cs typeface="Noto Sans CJK SC"/>
            </a:endParaRPr>
          </a:p>
        </p:txBody>
      </p:sp>
      <p:sp>
        <p:nvSpPr>
          <p:cNvPr id="546"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547"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548"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549"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31</a:t>
            </a:r>
            <a:endParaRPr sz="975" b="1">
              <a:solidFill>
                <a:srgbClr val="667085"/>
              </a:solidFill>
              <a:latin typeface="Noto Sans CJK SC"/>
              <a:ea typeface="Noto Sans CJK SC"/>
              <a:cs typeface="Noto Sans CJK SC"/>
            </a:endParaRPr>
          </a:p>
        </p:txBody>
      </p:sp>
      <p:sp>
        <p:nvSpPr>
          <p:cNvPr id="550" name="圆角矩形 6"/>
          <p:cNvSpPr>
            <a:spLocks noGrp="1"/>
          </p:cNvSpPr>
          <p:nvPr/>
        </p:nvSpPr>
        <p:spPr>
          <a:xfrm>
            <a:off x="457200" y="1657350"/>
            <a:ext cx="3429000" cy="2000250"/>
          </a:xfrm>
          <a:prstGeom prst="roundRect">
            <a:avLst>
              <a:gd name="adj" fmla="val 3810"/>
            </a:avLst>
          </a:prstGeom>
          <a:solidFill>
            <a:srgbClr val="F2F4F7"/>
          </a:solidFill>
          <a:ln w="9525">
            <a:solidFill>
              <a:srgbClr val="111827"/>
            </a:solidFill>
            <a:prstDash val="solid"/>
          </a:ln>
        </p:spPr>
        <p:txBody>
          <a:bodyPr/>
          <a:p/>
        </p:txBody>
      </p:sp>
      <p:sp>
        <p:nvSpPr>
          <p:cNvPr id="551" name="矩形 7"/>
          <p:cNvSpPr>
            <a:spLocks noGrp="1"/>
          </p:cNvSpPr>
          <p:nvPr/>
        </p:nvSpPr>
        <p:spPr>
          <a:xfrm>
            <a:off x="647700" y="1885950"/>
            <a:ext cx="800100" cy="55245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11827"/>
                </a:solidFill>
                <a:latin typeface="Noto Sans CJK SC"/>
                <a:ea typeface="Noto Sans CJK SC"/>
                <a:cs typeface="Noto Sans CJK SC"/>
              </a:defRPr>
            </a:pPr>
            <a:r>
              <a:rPr sz="3150" b="1">
                <a:solidFill>
                  <a:srgbClr val="111827"/>
                </a:solidFill>
                <a:latin typeface="Noto Sans CJK SC"/>
                <a:ea typeface="Noto Sans CJK SC"/>
                <a:cs typeface="Noto Sans CJK SC"/>
              </a:rPr>
              <a:t>F1</a:t>
            </a:r>
            <a:endParaRPr sz="3150" b="1">
              <a:solidFill>
                <a:srgbClr val="111827"/>
              </a:solidFill>
              <a:latin typeface="Noto Sans CJK SC"/>
              <a:ea typeface="Noto Sans CJK SC"/>
              <a:cs typeface="Noto Sans CJK SC"/>
            </a:endParaRPr>
          </a:p>
        </p:txBody>
      </p:sp>
      <p:sp>
        <p:nvSpPr>
          <p:cNvPr id="552" name="矩形 8"/>
          <p:cNvSpPr>
            <a:spLocks noGrp="1"/>
          </p:cNvSpPr>
          <p:nvPr/>
        </p:nvSpPr>
        <p:spPr>
          <a:xfrm>
            <a:off x="1581150" y="1952625"/>
            <a:ext cx="1524000"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平台内核</a:t>
            </a:r>
            <a:endParaRPr sz="1800" b="1">
              <a:solidFill>
                <a:srgbClr val="111827"/>
              </a:solidFill>
              <a:latin typeface="Noto Sans CJK SC"/>
              <a:ea typeface="Noto Sans CJK SC"/>
              <a:cs typeface="Noto Sans CJK SC"/>
            </a:endParaRPr>
          </a:p>
        </p:txBody>
      </p:sp>
      <p:sp>
        <p:nvSpPr>
          <p:cNvPr id="553" name="矩形 9"/>
          <p:cNvSpPr>
            <a:spLocks noGrp="1"/>
          </p:cNvSpPr>
          <p:nvPr/>
        </p:nvSpPr>
        <p:spPr>
          <a:xfrm>
            <a:off x="647700" y="2714625"/>
            <a:ext cx="2952750" cy="5905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job adapter / 推理 / 模型资产</a:t>
            </a:r>
            <a:endParaRPr sz="1500" b="0">
              <a:solidFill>
                <a:srgbClr val="667085"/>
              </a:solidFill>
              <a:latin typeface="Noto Sans CJK SC"/>
              <a:ea typeface="Noto Sans CJK SC"/>
              <a:cs typeface="Noto Sans CJK SC"/>
            </a:endParaRPr>
          </a:p>
        </p:txBody>
      </p:sp>
      <p:sp>
        <p:nvSpPr>
          <p:cNvPr id="554" name="圆角矩形 10"/>
          <p:cNvSpPr>
            <a:spLocks noGrp="1"/>
          </p:cNvSpPr>
          <p:nvPr/>
        </p:nvSpPr>
        <p:spPr>
          <a:xfrm>
            <a:off x="4229100" y="1657350"/>
            <a:ext cx="3429000" cy="2000250"/>
          </a:xfrm>
          <a:prstGeom prst="roundRect">
            <a:avLst>
              <a:gd name="adj" fmla="val 3810"/>
            </a:avLst>
          </a:prstGeom>
          <a:solidFill>
            <a:srgbClr val="EAF2FF"/>
          </a:solidFill>
          <a:ln w="9525">
            <a:solidFill>
              <a:srgbClr val="1769FF"/>
            </a:solidFill>
            <a:prstDash val="solid"/>
          </a:ln>
        </p:spPr>
        <p:txBody>
          <a:bodyPr/>
          <a:p/>
        </p:txBody>
      </p:sp>
      <p:sp>
        <p:nvSpPr>
          <p:cNvPr id="555" name="矩形 11"/>
          <p:cNvSpPr>
            <a:spLocks noGrp="1"/>
          </p:cNvSpPr>
          <p:nvPr/>
        </p:nvSpPr>
        <p:spPr>
          <a:xfrm>
            <a:off x="4419600" y="1885950"/>
            <a:ext cx="800100" cy="55245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1769FF"/>
                </a:solidFill>
                <a:latin typeface="Noto Sans CJK SC"/>
                <a:ea typeface="Noto Sans CJK SC"/>
                <a:cs typeface="Noto Sans CJK SC"/>
              </a:defRPr>
            </a:pPr>
            <a:r>
              <a:rPr sz="3150" b="1">
                <a:solidFill>
                  <a:srgbClr val="1769FF"/>
                </a:solidFill>
                <a:latin typeface="Noto Sans CJK SC"/>
                <a:ea typeface="Noto Sans CJK SC"/>
                <a:cs typeface="Noto Sans CJK SC"/>
              </a:rPr>
              <a:t>F2</a:t>
            </a:r>
            <a:endParaRPr sz="3150" b="1">
              <a:solidFill>
                <a:srgbClr val="1769FF"/>
              </a:solidFill>
              <a:latin typeface="Noto Sans CJK SC"/>
              <a:ea typeface="Noto Sans CJK SC"/>
              <a:cs typeface="Noto Sans CJK SC"/>
            </a:endParaRPr>
          </a:p>
        </p:txBody>
      </p:sp>
      <p:sp>
        <p:nvSpPr>
          <p:cNvPr id="556" name="矩形 12"/>
          <p:cNvSpPr>
            <a:spLocks noGrp="1"/>
          </p:cNvSpPr>
          <p:nvPr/>
        </p:nvSpPr>
        <p:spPr>
          <a:xfrm>
            <a:off x="5353050" y="1952625"/>
            <a:ext cx="1524000"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训练中心</a:t>
            </a:r>
            <a:endParaRPr sz="1800" b="1">
              <a:solidFill>
                <a:srgbClr val="111827"/>
              </a:solidFill>
              <a:latin typeface="Noto Sans CJK SC"/>
              <a:ea typeface="Noto Sans CJK SC"/>
              <a:cs typeface="Noto Sans CJK SC"/>
            </a:endParaRPr>
          </a:p>
        </p:txBody>
      </p:sp>
      <p:sp>
        <p:nvSpPr>
          <p:cNvPr id="557" name="矩形 13"/>
          <p:cNvSpPr>
            <a:spLocks noGrp="1"/>
          </p:cNvSpPr>
          <p:nvPr/>
        </p:nvSpPr>
        <p:spPr>
          <a:xfrm>
            <a:off x="4419600" y="2714625"/>
            <a:ext cx="2952750" cy="5905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配置 / 队列 / 进度 / 续训</a:t>
            </a:r>
            <a:endParaRPr sz="1500" b="0">
              <a:solidFill>
                <a:srgbClr val="667085"/>
              </a:solidFill>
              <a:latin typeface="Noto Sans CJK SC"/>
              <a:ea typeface="Noto Sans CJK SC"/>
              <a:cs typeface="Noto Sans CJK SC"/>
            </a:endParaRPr>
          </a:p>
        </p:txBody>
      </p:sp>
      <p:sp>
        <p:nvSpPr>
          <p:cNvPr id="558" name="圆角矩形 14"/>
          <p:cNvSpPr>
            <a:spLocks noGrp="1"/>
          </p:cNvSpPr>
          <p:nvPr/>
        </p:nvSpPr>
        <p:spPr>
          <a:xfrm>
            <a:off x="8001000" y="1657350"/>
            <a:ext cx="3429000" cy="2000250"/>
          </a:xfrm>
          <a:prstGeom prst="roundRect">
            <a:avLst>
              <a:gd name="adj" fmla="val 3810"/>
            </a:avLst>
          </a:prstGeom>
          <a:solidFill>
            <a:srgbClr val="FFF1E6"/>
          </a:solidFill>
          <a:ln w="9525">
            <a:solidFill>
              <a:srgbClr val="FF7A00"/>
            </a:solidFill>
            <a:prstDash val="solid"/>
          </a:ln>
        </p:spPr>
        <p:txBody>
          <a:bodyPr/>
          <a:p/>
        </p:txBody>
      </p:sp>
      <p:sp>
        <p:nvSpPr>
          <p:cNvPr id="559" name="矩形 15"/>
          <p:cNvSpPr>
            <a:spLocks noGrp="1"/>
          </p:cNvSpPr>
          <p:nvPr/>
        </p:nvSpPr>
        <p:spPr>
          <a:xfrm>
            <a:off x="8191500" y="1885950"/>
            <a:ext cx="800100" cy="552450"/>
          </a:xfrm>
          <a:prstGeom prst="rect">
            <a:avLst/>
          </a:prstGeom>
          <a:noFill/>
          <a:ln w="0">
            <a:noFill/>
            <a:prstDash val="solid"/>
          </a:ln>
        </p:spPr>
        <p:txBody>
          <a:bodyPr wrap="square" lIns="0" tIns="0" rIns="0" bIns="0" anchor="t">
            <a:normAutofit/>
          </a:bodyPr>
          <a:lstStyle/>
          <a:p>
            <a:pPr algn="l">
              <a:lnSpc>
                <a:spcPct val="108000"/>
              </a:lnSpc>
              <a:buNone/>
              <a:defRPr sz="3150" b="1">
                <a:solidFill>
                  <a:srgbClr val="FF7A00"/>
                </a:solidFill>
                <a:latin typeface="Noto Sans CJK SC"/>
                <a:ea typeface="Noto Sans CJK SC"/>
                <a:cs typeface="Noto Sans CJK SC"/>
              </a:defRPr>
            </a:pPr>
            <a:r>
              <a:rPr sz="3150" b="1">
                <a:solidFill>
                  <a:srgbClr val="FF7A00"/>
                </a:solidFill>
                <a:latin typeface="Noto Sans CJK SC"/>
                <a:ea typeface="Noto Sans CJK SC"/>
                <a:cs typeface="Noto Sans CJK SC"/>
              </a:rPr>
              <a:t>F3</a:t>
            </a:r>
            <a:endParaRPr sz="3150" b="1">
              <a:solidFill>
                <a:srgbClr val="FF7A00"/>
              </a:solidFill>
              <a:latin typeface="Noto Sans CJK SC"/>
              <a:ea typeface="Noto Sans CJK SC"/>
              <a:cs typeface="Noto Sans CJK SC"/>
            </a:endParaRPr>
          </a:p>
        </p:txBody>
      </p:sp>
      <p:sp>
        <p:nvSpPr>
          <p:cNvPr id="560" name="矩形 16"/>
          <p:cNvSpPr>
            <a:spLocks noGrp="1"/>
          </p:cNvSpPr>
          <p:nvPr/>
        </p:nvSpPr>
        <p:spPr>
          <a:xfrm>
            <a:off x="9124950" y="1952625"/>
            <a:ext cx="1524000" cy="3619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部署中心</a:t>
            </a:r>
            <a:endParaRPr sz="1800" b="1">
              <a:solidFill>
                <a:srgbClr val="111827"/>
              </a:solidFill>
              <a:latin typeface="Noto Sans CJK SC"/>
              <a:ea typeface="Noto Sans CJK SC"/>
              <a:cs typeface="Noto Sans CJK SC"/>
            </a:endParaRPr>
          </a:p>
        </p:txBody>
      </p:sp>
      <p:sp>
        <p:nvSpPr>
          <p:cNvPr id="561" name="矩形 17"/>
          <p:cNvSpPr>
            <a:spLocks noGrp="1"/>
          </p:cNvSpPr>
          <p:nvPr/>
        </p:nvSpPr>
        <p:spPr>
          <a:xfrm>
            <a:off x="8191500" y="2714625"/>
            <a:ext cx="2952750" cy="5905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预检 / 导出 / 量化 / benchmark</a:t>
            </a:r>
            <a:endParaRPr sz="1500" b="0">
              <a:solidFill>
                <a:srgbClr val="667085"/>
              </a:solidFill>
              <a:latin typeface="Noto Sans CJK SC"/>
              <a:ea typeface="Noto Sans CJK SC"/>
              <a:cs typeface="Noto Sans CJK SC"/>
            </a:endParaRPr>
          </a:p>
        </p:txBody>
      </p:sp>
      <p:sp>
        <p:nvSpPr>
          <p:cNvPr id="562" name="矩形 18"/>
          <p:cNvSpPr>
            <a:spLocks noGrp="1"/>
          </p:cNvSpPr>
          <p:nvPr/>
        </p:nvSpPr>
        <p:spPr>
          <a:xfrm>
            <a:off x="457200" y="4095750"/>
            <a:ext cx="5334000" cy="323850"/>
          </a:xfrm>
          <a:prstGeom prst="rect">
            <a:avLst/>
          </a:prstGeom>
          <a:noFill/>
          <a:ln w="0">
            <a:noFill/>
            <a:prstDash val="solid"/>
          </a:ln>
        </p:spPr>
        <p:txBody>
          <a:bodyPr wrap="square" lIns="0" tIns="0" rIns="0" bIns="0" anchor="t">
            <a:normAutofit/>
          </a:bodyPr>
          <a:lstStyle/>
          <a:p>
            <a:pPr algn="l">
              <a:lnSpc>
                <a:spcPct val="108000"/>
              </a:lnSpc>
              <a:buNone/>
              <a:defRPr sz="1800" b="1">
                <a:solidFill>
                  <a:srgbClr val="111827"/>
                </a:solidFill>
                <a:latin typeface="Noto Sans CJK SC"/>
                <a:ea typeface="Noto Sans CJK SC"/>
                <a:cs typeface="Noto Sans CJK SC"/>
              </a:defRPr>
            </a:pPr>
            <a:r>
              <a:rPr sz="1800" b="1">
                <a:solidFill>
                  <a:srgbClr val="111827"/>
                </a:solidFill>
                <a:latin typeface="Noto Sans CJK SC"/>
                <a:ea typeface="Noto Sans CJK SC"/>
                <a:cs typeface="Noto Sans CJK SC"/>
              </a:rPr>
              <a:t>共享接口必须在 8.24 锁定</a:t>
            </a:r>
            <a:endParaRPr sz="1800" b="1">
              <a:solidFill>
                <a:srgbClr val="111827"/>
              </a:solidFill>
              <a:latin typeface="Noto Sans CJK SC"/>
              <a:ea typeface="Noto Sans CJK SC"/>
              <a:cs typeface="Noto Sans CJK SC"/>
            </a:endParaRPr>
          </a:p>
        </p:txBody>
      </p:sp>
      <p:sp>
        <p:nvSpPr>
          <p:cNvPr id="563" name="矩形 19"/>
          <p:cNvSpPr>
            <a:spLocks noGrp="1"/>
          </p:cNvSpPr>
          <p:nvPr/>
        </p:nvSpPr>
        <p:spPr>
          <a:xfrm>
            <a:off x="457200" y="46482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564" name="矩形 20"/>
          <p:cNvSpPr>
            <a:spLocks noGrp="1"/>
          </p:cNvSpPr>
          <p:nvPr/>
        </p:nvSpPr>
        <p:spPr>
          <a:xfrm>
            <a:off x="857250" y="46672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Request JSON + request_id + profile/model/data</a:t>
            </a:r>
            <a:endParaRPr sz="1425" b="1">
              <a:solidFill>
                <a:srgbClr val="111827"/>
              </a:solidFill>
              <a:latin typeface="Noto Sans CJK SC"/>
              <a:ea typeface="Noto Sans CJK SC"/>
              <a:cs typeface="Noto Sans CJK SC"/>
            </a:endParaRPr>
          </a:p>
        </p:txBody>
      </p:sp>
      <p:sp>
        <p:nvSpPr>
          <p:cNvPr id="565" name="矩形 21"/>
          <p:cNvSpPr>
            <a:spLocks noGrp="1"/>
          </p:cNvSpPr>
          <p:nvPr/>
        </p:nvSpPr>
        <p:spPr>
          <a:xfrm>
            <a:off x="6038850" y="46482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566" name="矩形 22"/>
          <p:cNvSpPr>
            <a:spLocks noGrp="1"/>
          </p:cNvSpPr>
          <p:nvPr/>
        </p:nvSpPr>
        <p:spPr>
          <a:xfrm>
            <a:off x="6438900" y="46672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policy.async + yolo.job.status / yolo.job.cancel</a:t>
            </a:r>
            <a:endParaRPr sz="1425" b="1">
              <a:solidFill>
                <a:srgbClr val="111827"/>
              </a:solidFill>
              <a:latin typeface="Noto Sans CJK SC"/>
              <a:ea typeface="Noto Sans CJK SC"/>
              <a:cs typeface="Noto Sans CJK SC"/>
            </a:endParaRPr>
          </a:p>
        </p:txBody>
      </p:sp>
      <p:sp>
        <p:nvSpPr>
          <p:cNvPr id="567" name="矩形 23"/>
          <p:cNvSpPr>
            <a:spLocks noGrp="1"/>
          </p:cNvSpPr>
          <p:nvPr/>
        </p:nvSpPr>
        <p:spPr>
          <a:xfrm>
            <a:off x="457200" y="52959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568" name="矩形 24"/>
          <p:cNvSpPr>
            <a:spLocks noGrp="1"/>
          </p:cNvSpPr>
          <p:nvPr/>
        </p:nvSpPr>
        <p:spPr>
          <a:xfrm>
            <a:off x="857250" y="53149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progress.jsonl + skill_manifest.json + bounded logs</a:t>
            </a:r>
            <a:endParaRPr sz="1425" b="1">
              <a:solidFill>
                <a:srgbClr val="111827"/>
              </a:solidFill>
              <a:latin typeface="Noto Sans CJK SC"/>
              <a:ea typeface="Noto Sans CJK SC"/>
              <a:cs typeface="Noto Sans CJK SC"/>
            </a:endParaRPr>
          </a:p>
        </p:txBody>
      </p:sp>
      <p:sp>
        <p:nvSpPr>
          <p:cNvPr id="569" name="矩形 25"/>
          <p:cNvSpPr>
            <a:spLocks noGrp="1"/>
          </p:cNvSpPr>
          <p:nvPr/>
        </p:nvSpPr>
        <p:spPr>
          <a:xfrm>
            <a:off x="6038850" y="5295900"/>
            <a:ext cx="304800" cy="304800"/>
          </a:xfrm>
          <a:prstGeom prst="rect">
            <a:avLst/>
          </a:prstGeom>
          <a:noFill/>
          <a:ln w="0">
            <a:noFill/>
            <a:prstDash val="solid"/>
          </a:ln>
        </p:spPr>
        <p:txBody>
          <a:bodyPr wrap="square" lIns="0" tIns="0" rIns="0" bIns="0" anchor="t">
            <a:normAutofit/>
          </a:bodyPr>
          <a:lstStyle/>
          <a:p>
            <a:pPr algn="l">
              <a:lnSpc>
                <a:spcPct val="108000"/>
              </a:lnSpc>
              <a:buNone/>
              <a:defRPr sz="1725" b="1">
                <a:solidFill>
                  <a:srgbClr val="00A05A"/>
                </a:solidFill>
                <a:latin typeface="Noto Sans CJK SC"/>
                <a:ea typeface="Noto Sans CJK SC"/>
                <a:cs typeface="Noto Sans CJK SC"/>
              </a:defRPr>
            </a:pPr>
            <a:r>
              <a:rPr sz="1725" b="1">
                <a:solidFill>
                  <a:srgbClr val="00A05A"/>
                </a:solidFill>
                <a:latin typeface="Noto Sans CJK SC"/>
                <a:ea typeface="Noto Sans CJK SC"/>
                <a:cs typeface="Noto Sans CJK SC"/>
              </a:rPr>
              <a:t>✓</a:t>
            </a:r>
            <a:endParaRPr sz="1725" b="1">
              <a:solidFill>
                <a:srgbClr val="00A05A"/>
              </a:solidFill>
              <a:latin typeface="Noto Sans CJK SC"/>
              <a:ea typeface="Noto Sans CJK SC"/>
              <a:cs typeface="Noto Sans CJK SC"/>
            </a:endParaRPr>
          </a:p>
        </p:txBody>
      </p:sp>
      <p:sp>
        <p:nvSpPr>
          <p:cNvPr id="570" name="矩形 26"/>
          <p:cNvSpPr>
            <a:spLocks noGrp="1"/>
          </p:cNvSpPr>
          <p:nvPr/>
        </p:nvSpPr>
        <p:spPr>
          <a:xfrm>
            <a:off x="6438900" y="5314950"/>
            <a:ext cx="4857750" cy="323850"/>
          </a:xfrm>
          <a:prstGeom prst="rect">
            <a:avLst/>
          </a:prstGeom>
          <a:noFill/>
          <a:ln w="0">
            <a:noFill/>
            <a:prstDash val="solid"/>
          </a:ln>
        </p:spPr>
        <p:txBody>
          <a:bodyPr wrap="square" lIns="0" tIns="0" rIns="0" bIns="0" anchor="t">
            <a:normAutofit/>
          </a:bodyPr>
          <a:lstStyle/>
          <a:p>
            <a:pPr algn="l">
              <a:lnSpc>
                <a:spcPct val="108000"/>
              </a:lnSpc>
              <a:buNone/>
              <a:defRPr sz="1425" b="1">
                <a:solidFill>
                  <a:srgbClr val="111827"/>
                </a:solidFill>
                <a:latin typeface="Noto Sans CJK SC"/>
                <a:ea typeface="Noto Sans CJK SC"/>
                <a:cs typeface="Noto Sans CJK SC"/>
              </a:defRPr>
            </a:pPr>
            <a:r>
              <a:rPr sz="1425" b="1">
                <a:solidFill>
                  <a:srgbClr val="111827"/>
                </a:solidFill>
                <a:latin typeface="Noto Sans CJK SC"/>
                <a:ea typeface="Noto Sans CJK SC"/>
                <a:cs typeface="Noto Sans CJK SC"/>
              </a:rPr>
              <a:t>路径白名单 + 脱敏 + 禁止任意 shell</a:t>
            </a:r>
            <a:endParaRPr sz="1425" b="1">
              <a:solidFill>
                <a:srgbClr val="111827"/>
              </a:solidFill>
              <a:latin typeface="Noto Sans CJK SC"/>
              <a:ea typeface="Noto Sans CJK SC"/>
              <a:cs typeface="Noto Sans CJK SC"/>
            </a:endParaRPr>
          </a:p>
        </p:txBody>
      </p:sp>
    </p:spTree>
  </p:cSld>
  <p:clrMapOvr>
    <a:masterClrMapping/>
  </p:clrMapOvr>
</p:sld>
</file>

<file path=ppt/slides/slide34.xml><?xml version="1.0" encoding="utf-8"?>
<p:sld xmlns:a="http://schemas.openxmlformats.org/drawingml/2006/main" xmlns:p="http://schemas.openxmlformats.org/presentationml/2006/main">
  <p:cSld>
    <p:bg>
      <p:bgPr>
        <a:solidFill>
          <a:srgbClr val="FFFFFF"/>
        </a:solidFill>
        <a:effectLst/>
      </p:bgPr>
    </p:bg>
    <p:spTree>
      <p:nvGrpSpPr>
        <p:cNvPr id="571" name=""/>
        <p:cNvGrpSpPr/>
        <p:nvPr/>
      </p:nvGrpSpPr>
      <p:grpSpPr>
        <a:xfrm>
          <a:off x="0" y="0"/>
          <a:ext cx="0" cy="0"/>
          <a:chOff x="0" y="0"/>
          <a:chExt cx="0" cy="0"/>
        </a:xfrm>
      </p:grpSpPr>
      <p:sp>
        <p:nvSpPr>
          <p:cNvPr id="572" name="矩形 3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STUDIO ARCHITECTURE</a:t>
            </a:r>
            <a:endParaRPr sz="1125" b="1">
              <a:solidFill>
                <a:srgbClr val="1769FF"/>
              </a:solidFill>
              <a:latin typeface="Noto Sans CJK SC"/>
              <a:ea typeface="Noto Sans CJK SC"/>
              <a:cs typeface="Noto Sans CJK SC"/>
            </a:endParaRPr>
          </a:p>
        </p:txBody>
      </p:sp>
      <p:sp>
        <p:nvSpPr>
          <p:cNvPr id="573"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Studio 不重写训练引擎，只补齐产品编排层</a:t>
            </a:r>
            <a:endParaRPr sz="3000" b="1">
              <a:solidFill>
                <a:srgbClr val="111827"/>
              </a:solidFill>
              <a:latin typeface="Noto Sans CJK SC"/>
              <a:ea typeface="Noto Sans CJK SC"/>
              <a:cs typeface="Noto Sans CJK SC"/>
            </a:endParaRPr>
          </a:p>
        </p:txBody>
      </p:sp>
      <p:sp>
        <p:nvSpPr>
          <p:cNvPr id="574"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575"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576"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577"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32</a:t>
            </a:r>
            <a:endParaRPr sz="975" b="1">
              <a:solidFill>
                <a:srgbClr val="667085"/>
              </a:solidFill>
              <a:latin typeface="Noto Sans CJK SC"/>
              <a:ea typeface="Noto Sans CJK SC"/>
              <a:cs typeface="Noto Sans CJK SC"/>
            </a:endParaRPr>
          </a:p>
        </p:txBody>
      </p:sp>
      <p:sp>
        <p:nvSpPr>
          <p:cNvPr id="578" name="圆角矩形 6"/>
          <p:cNvSpPr>
            <a:spLocks noGrp="1"/>
          </p:cNvSpPr>
          <p:nvPr/>
        </p:nvSpPr>
        <p:spPr>
          <a:xfrm>
            <a:off x="457200" y="15240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579" name="矩形 7"/>
          <p:cNvSpPr>
            <a:spLocks noGrp="1"/>
          </p:cNvSpPr>
          <p:nvPr/>
        </p:nvSpPr>
        <p:spPr>
          <a:xfrm>
            <a:off x="590550" y="16097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01  WebUI Shell</a:t>
            </a:r>
            <a:endParaRPr sz="1500" b="1">
              <a:solidFill>
                <a:srgbClr val="1769FF"/>
              </a:solidFill>
              <a:latin typeface="Noto Sans CJK SC"/>
              <a:ea typeface="Noto Sans CJK SC"/>
              <a:cs typeface="Noto Sans CJK SC"/>
            </a:endParaRPr>
          </a:p>
        </p:txBody>
      </p:sp>
      <p:sp>
        <p:nvSpPr>
          <p:cNvPr id="580" name="矩形 8"/>
          <p:cNvSpPr>
            <a:spLocks noGrp="1"/>
          </p:cNvSpPr>
          <p:nvPr/>
        </p:nvSpPr>
        <p:spPr>
          <a:xfrm>
            <a:off x="3143250" y="16097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Gradio：Home / Train / Predict / Deploy / Jobs</a:t>
            </a:r>
            <a:endParaRPr sz="1350" b="0">
              <a:solidFill>
                <a:srgbClr val="111827"/>
              </a:solidFill>
              <a:latin typeface="Noto Sans CJK SC"/>
              <a:ea typeface="Noto Sans CJK SC"/>
              <a:cs typeface="Noto Sans CJK SC"/>
            </a:endParaRPr>
          </a:p>
        </p:txBody>
      </p:sp>
      <p:sp>
        <p:nvSpPr>
          <p:cNvPr id="581" name="矩形 9"/>
          <p:cNvSpPr>
            <a:spLocks noGrp="1"/>
          </p:cNvSpPr>
          <p:nvPr/>
        </p:nvSpPr>
        <p:spPr>
          <a:xfrm>
            <a:off x="3143250" y="2143125"/>
            <a:ext cx="8191500" cy="9525"/>
          </a:xfrm>
          <a:prstGeom prst="rect">
            <a:avLst/>
          </a:prstGeom>
          <a:solidFill>
            <a:srgbClr val="D0D5DD"/>
          </a:solidFill>
          <a:ln w="9525">
            <a:solidFill>
              <a:srgbClr val="D0D5DD"/>
            </a:solidFill>
            <a:prstDash val="solid"/>
          </a:ln>
        </p:spPr>
        <p:txBody>
          <a:bodyPr/>
          <a:p/>
        </p:txBody>
      </p:sp>
      <p:sp>
        <p:nvSpPr>
          <p:cNvPr id="582" name="圆角矩形 10"/>
          <p:cNvSpPr>
            <a:spLocks noGrp="1"/>
          </p:cNvSpPr>
          <p:nvPr/>
        </p:nvSpPr>
        <p:spPr>
          <a:xfrm>
            <a:off x="457200" y="22669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583" name="矩形 11"/>
          <p:cNvSpPr>
            <a:spLocks noGrp="1"/>
          </p:cNvSpPr>
          <p:nvPr/>
        </p:nvSpPr>
        <p:spPr>
          <a:xfrm>
            <a:off x="590550" y="23526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02  Request Gateway</a:t>
            </a:r>
            <a:endParaRPr sz="1500" b="1">
              <a:solidFill>
                <a:srgbClr val="111827"/>
              </a:solidFill>
              <a:latin typeface="Noto Sans CJK SC"/>
              <a:ea typeface="Noto Sans CJK SC"/>
              <a:cs typeface="Noto Sans CJK SC"/>
            </a:endParaRPr>
          </a:p>
        </p:txBody>
      </p:sp>
      <p:sp>
        <p:nvSpPr>
          <p:cNvPr id="584" name="矩形 12"/>
          <p:cNvSpPr>
            <a:spLocks noGrp="1"/>
          </p:cNvSpPr>
          <p:nvPr/>
        </p:nvSpPr>
        <p:spPr>
          <a:xfrm>
            <a:off x="3143250" y="23526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JSON schema / dry-run / request_id / 路径白名单</a:t>
            </a:r>
            <a:endParaRPr sz="1350" b="0">
              <a:solidFill>
                <a:srgbClr val="111827"/>
              </a:solidFill>
              <a:latin typeface="Noto Sans CJK SC"/>
              <a:ea typeface="Noto Sans CJK SC"/>
              <a:cs typeface="Noto Sans CJK SC"/>
            </a:endParaRPr>
          </a:p>
        </p:txBody>
      </p:sp>
      <p:sp>
        <p:nvSpPr>
          <p:cNvPr id="585" name="矩形 13"/>
          <p:cNvSpPr>
            <a:spLocks noGrp="1"/>
          </p:cNvSpPr>
          <p:nvPr/>
        </p:nvSpPr>
        <p:spPr>
          <a:xfrm>
            <a:off x="3143250" y="2886075"/>
            <a:ext cx="8191500" cy="9525"/>
          </a:xfrm>
          <a:prstGeom prst="rect">
            <a:avLst/>
          </a:prstGeom>
          <a:solidFill>
            <a:srgbClr val="D0D5DD"/>
          </a:solidFill>
          <a:ln w="9525">
            <a:solidFill>
              <a:srgbClr val="D0D5DD"/>
            </a:solidFill>
            <a:prstDash val="solid"/>
          </a:ln>
        </p:spPr>
        <p:txBody>
          <a:bodyPr/>
          <a:p/>
        </p:txBody>
      </p:sp>
      <p:sp>
        <p:nvSpPr>
          <p:cNvPr id="586" name="圆角矩形 14"/>
          <p:cNvSpPr>
            <a:spLocks noGrp="1"/>
          </p:cNvSpPr>
          <p:nvPr/>
        </p:nvSpPr>
        <p:spPr>
          <a:xfrm>
            <a:off x="457200" y="30099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587" name="矩形 15"/>
          <p:cNvSpPr>
            <a:spLocks noGrp="1"/>
          </p:cNvSpPr>
          <p:nvPr/>
        </p:nvSpPr>
        <p:spPr>
          <a:xfrm>
            <a:off x="590550" y="30956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03  Agent Dispatcher</a:t>
            </a:r>
            <a:endParaRPr sz="1500" b="1">
              <a:solidFill>
                <a:srgbClr val="1769FF"/>
              </a:solidFill>
              <a:latin typeface="Noto Sans CJK SC"/>
              <a:ea typeface="Noto Sans CJK SC"/>
              <a:cs typeface="Noto Sans CJK SC"/>
            </a:endParaRPr>
          </a:p>
        </p:txBody>
      </p:sp>
      <p:sp>
        <p:nvSpPr>
          <p:cNvPr id="588" name="矩形 16"/>
          <p:cNvSpPr>
            <a:spLocks noGrp="1"/>
          </p:cNvSpPr>
          <p:nvPr/>
        </p:nvSpPr>
        <p:spPr>
          <a:xfrm>
            <a:off x="3143250" y="30956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yolo.train / val / predict / export / benchmark / doctor</a:t>
            </a:r>
            <a:endParaRPr sz="1350" b="0">
              <a:solidFill>
                <a:srgbClr val="111827"/>
              </a:solidFill>
              <a:latin typeface="Noto Sans CJK SC"/>
              <a:ea typeface="Noto Sans CJK SC"/>
              <a:cs typeface="Noto Sans CJK SC"/>
            </a:endParaRPr>
          </a:p>
        </p:txBody>
      </p:sp>
      <p:sp>
        <p:nvSpPr>
          <p:cNvPr id="589" name="矩形 17"/>
          <p:cNvSpPr>
            <a:spLocks noGrp="1"/>
          </p:cNvSpPr>
          <p:nvPr/>
        </p:nvSpPr>
        <p:spPr>
          <a:xfrm>
            <a:off x="3143250" y="3629025"/>
            <a:ext cx="8191500" cy="9525"/>
          </a:xfrm>
          <a:prstGeom prst="rect">
            <a:avLst/>
          </a:prstGeom>
          <a:solidFill>
            <a:srgbClr val="D0D5DD"/>
          </a:solidFill>
          <a:ln w="9525">
            <a:solidFill>
              <a:srgbClr val="D0D5DD"/>
            </a:solidFill>
            <a:prstDash val="solid"/>
          </a:ln>
        </p:spPr>
        <p:txBody>
          <a:bodyPr/>
          <a:p/>
        </p:txBody>
      </p:sp>
      <p:sp>
        <p:nvSpPr>
          <p:cNvPr id="590" name="圆角矩形 18"/>
          <p:cNvSpPr>
            <a:spLocks noGrp="1"/>
          </p:cNvSpPr>
          <p:nvPr/>
        </p:nvSpPr>
        <p:spPr>
          <a:xfrm>
            <a:off x="457200" y="37528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591" name="矩形 19"/>
          <p:cNvSpPr>
            <a:spLocks noGrp="1"/>
          </p:cNvSpPr>
          <p:nvPr/>
        </p:nvSpPr>
        <p:spPr>
          <a:xfrm>
            <a:off x="590550" y="38385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04  Async Jobs</a:t>
            </a:r>
            <a:endParaRPr sz="1500" b="1">
              <a:solidFill>
                <a:srgbClr val="111827"/>
              </a:solidFill>
              <a:latin typeface="Noto Sans CJK SC"/>
              <a:ea typeface="Noto Sans CJK SC"/>
              <a:cs typeface="Noto Sans CJK SC"/>
            </a:endParaRPr>
          </a:p>
        </p:txBody>
      </p:sp>
      <p:sp>
        <p:nvSpPr>
          <p:cNvPr id="592" name="矩形 20"/>
          <p:cNvSpPr>
            <a:spLocks noGrp="1"/>
          </p:cNvSpPr>
          <p:nvPr/>
        </p:nvSpPr>
        <p:spPr>
          <a:xfrm>
            <a:off x="3143250" y="38385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policy.async + status/cancel；补终态语义与 GPU lease</a:t>
            </a:r>
            <a:endParaRPr sz="1350" b="0">
              <a:solidFill>
                <a:srgbClr val="111827"/>
              </a:solidFill>
              <a:latin typeface="Noto Sans CJK SC"/>
              <a:ea typeface="Noto Sans CJK SC"/>
              <a:cs typeface="Noto Sans CJK SC"/>
            </a:endParaRPr>
          </a:p>
        </p:txBody>
      </p:sp>
      <p:sp>
        <p:nvSpPr>
          <p:cNvPr id="593" name="矩形 21"/>
          <p:cNvSpPr>
            <a:spLocks noGrp="1"/>
          </p:cNvSpPr>
          <p:nvPr/>
        </p:nvSpPr>
        <p:spPr>
          <a:xfrm>
            <a:off x="3143250" y="4371975"/>
            <a:ext cx="8191500" cy="9525"/>
          </a:xfrm>
          <a:prstGeom prst="rect">
            <a:avLst/>
          </a:prstGeom>
          <a:solidFill>
            <a:srgbClr val="D0D5DD"/>
          </a:solidFill>
          <a:ln w="9525">
            <a:solidFill>
              <a:srgbClr val="D0D5DD"/>
            </a:solidFill>
            <a:prstDash val="solid"/>
          </a:ln>
        </p:spPr>
        <p:txBody>
          <a:bodyPr/>
          <a:p/>
        </p:txBody>
      </p:sp>
      <p:sp>
        <p:nvSpPr>
          <p:cNvPr id="594" name="圆角矩形 22"/>
          <p:cNvSpPr>
            <a:spLocks noGrp="1"/>
          </p:cNvSpPr>
          <p:nvPr/>
        </p:nvSpPr>
        <p:spPr>
          <a:xfrm>
            <a:off x="457200" y="44958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595" name="矩形 23"/>
          <p:cNvSpPr>
            <a:spLocks noGrp="1"/>
          </p:cNvSpPr>
          <p:nvPr/>
        </p:nvSpPr>
        <p:spPr>
          <a:xfrm>
            <a:off x="590550" y="45815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05  Evidence Stream</a:t>
            </a:r>
            <a:endParaRPr sz="1500" b="1">
              <a:solidFill>
                <a:srgbClr val="1769FF"/>
              </a:solidFill>
              <a:latin typeface="Noto Sans CJK SC"/>
              <a:ea typeface="Noto Sans CJK SC"/>
              <a:cs typeface="Noto Sans CJK SC"/>
            </a:endParaRPr>
          </a:p>
        </p:txBody>
      </p:sp>
      <p:sp>
        <p:nvSpPr>
          <p:cNvPr id="596" name="矩形 24"/>
          <p:cNvSpPr>
            <a:spLocks noGrp="1"/>
          </p:cNvSpPr>
          <p:nvPr/>
        </p:nvSpPr>
        <p:spPr>
          <a:xfrm>
            <a:off x="3143250" y="45815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progress.jsonl + stdout/stderr + metrics + recovery</a:t>
            </a:r>
            <a:endParaRPr sz="1350" b="0">
              <a:solidFill>
                <a:srgbClr val="111827"/>
              </a:solidFill>
              <a:latin typeface="Noto Sans CJK SC"/>
              <a:ea typeface="Noto Sans CJK SC"/>
              <a:cs typeface="Noto Sans CJK SC"/>
            </a:endParaRPr>
          </a:p>
        </p:txBody>
      </p:sp>
      <p:sp>
        <p:nvSpPr>
          <p:cNvPr id="597" name="矩形 25"/>
          <p:cNvSpPr>
            <a:spLocks noGrp="1"/>
          </p:cNvSpPr>
          <p:nvPr/>
        </p:nvSpPr>
        <p:spPr>
          <a:xfrm>
            <a:off x="3143250" y="5114925"/>
            <a:ext cx="8191500" cy="9525"/>
          </a:xfrm>
          <a:prstGeom prst="rect">
            <a:avLst/>
          </a:prstGeom>
          <a:solidFill>
            <a:srgbClr val="D0D5DD"/>
          </a:solidFill>
          <a:ln w="9525">
            <a:solidFill>
              <a:srgbClr val="D0D5DD"/>
            </a:solidFill>
            <a:prstDash val="solid"/>
          </a:ln>
        </p:spPr>
        <p:txBody>
          <a:bodyPr/>
          <a:p/>
        </p:txBody>
      </p:sp>
      <p:sp>
        <p:nvSpPr>
          <p:cNvPr id="598" name="圆角矩形 26"/>
          <p:cNvSpPr>
            <a:spLocks noGrp="1"/>
          </p:cNvSpPr>
          <p:nvPr/>
        </p:nvSpPr>
        <p:spPr>
          <a:xfrm>
            <a:off x="457200" y="52387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599" name="矩形 27"/>
          <p:cNvSpPr>
            <a:spLocks noGrp="1"/>
          </p:cNvSpPr>
          <p:nvPr/>
        </p:nvSpPr>
        <p:spPr>
          <a:xfrm>
            <a:off x="590550" y="53244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06  Artifact Registry</a:t>
            </a:r>
            <a:endParaRPr sz="1500" b="1">
              <a:solidFill>
                <a:srgbClr val="111827"/>
              </a:solidFill>
              <a:latin typeface="Noto Sans CJK SC"/>
              <a:ea typeface="Noto Sans CJK SC"/>
              <a:cs typeface="Noto Sans CJK SC"/>
            </a:endParaRPr>
          </a:p>
        </p:txBody>
      </p:sp>
      <p:sp>
        <p:nvSpPr>
          <p:cNvPr id="600" name="矩形 28"/>
          <p:cNvSpPr>
            <a:spLocks noGrp="1"/>
          </p:cNvSpPr>
          <p:nvPr/>
        </p:nvSpPr>
        <p:spPr>
          <a:xfrm>
            <a:off x="3143250" y="53244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skill_manifest + checkpoints + exports + checksum</a:t>
            </a:r>
            <a:endParaRPr sz="1350" b="0">
              <a:solidFill>
                <a:srgbClr val="111827"/>
              </a:solidFill>
              <a:latin typeface="Noto Sans CJK SC"/>
              <a:ea typeface="Noto Sans CJK SC"/>
              <a:cs typeface="Noto Sans CJK SC"/>
            </a:endParaRPr>
          </a:p>
        </p:txBody>
      </p:sp>
      <p:sp>
        <p:nvSpPr>
          <p:cNvPr id="601" name="矩形 29"/>
          <p:cNvSpPr>
            <a:spLocks noGrp="1"/>
          </p:cNvSpPr>
          <p:nvPr/>
        </p:nvSpPr>
        <p:spPr>
          <a:xfrm>
            <a:off x="457200" y="5981700"/>
            <a:ext cx="10477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667085"/>
                </a:solidFill>
                <a:latin typeface="Noto Sans CJK SC"/>
                <a:ea typeface="Noto Sans CJK SC"/>
                <a:cs typeface="Noto Sans CJK SC"/>
              </a:defRPr>
            </a:pPr>
            <a:r>
              <a:rPr sz="1275" b="1">
                <a:solidFill>
                  <a:srgbClr val="667085"/>
                </a:solidFill>
                <a:latin typeface="Noto Sans CJK SC"/>
                <a:ea typeface="Noto Sans CJK SC"/>
                <a:cs typeface="Noto Sans CJK SC"/>
              </a:rPr>
              <a:t>统一 smoke：doctor → coco8 train → predict → preflight → ONNX/INT8 → benchmark</a:t>
            </a:r>
            <a:endParaRPr sz="1275" b="1">
              <a:solidFill>
                <a:srgbClr val="667085"/>
              </a:solidFill>
              <a:latin typeface="Noto Sans CJK SC"/>
              <a:ea typeface="Noto Sans CJK SC"/>
              <a:cs typeface="Noto Sans CJK SC"/>
            </a:endParaRPr>
          </a:p>
        </p:txBody>
      </p:sp>
    </p:spTree>
  </p:cSld>
  <p:clrMapOvr>
    <a:masterClrMapping/>
  </p:clrMapOvr>
</p:sld>
</file>

<file path=ppt/slides/slide35.xml><?xml version="1.0" encoding="utf-8"?>
<p:sld xmlns:a="http://schemas.openxmlformats.org/drawingml/2006/main" xmlns:p="http://schemas.openxmlformats.org/presentationml/2006/main">
  <p:cSld>
    <p:bg>
      <p:bgPr>
        <a:solidFill>
          <a:srgbClr val="FFFFFF"/>
        </a:solidFill>
        <a:effectLst/>
      </p:bgPr>
    </p:bg>
    <p:spTree>
      <p:nvGrpSpPr>
        <p:cNvPr id="602" name=""/>
        <p:cNvGrpSpPr/>
        <p:nvPr/>
      </p:nvGrpSpPr>
      <p:grpSpPr>
        <a:xfrm>
          <a:off x="0" y="0"/>
          <a:ext cx="0" cy="0"/>
          <a:chOff x="0" y="0"/>
          <a:chExt cx="0" cy="0"/>
        </a:xfrm>
      </p:grpSpPr>
      <p:sp>
        <p:nvSpPr>
          <p:cNvPr id="603" name="矩形 3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DEPENDENCIES</a:t>
            </a:r>
            <a:endParaRPr sz="1125" b="1">
              <a:solidFill>
                <a:srgbClr val="1769FF"/>
              </a:solidFill>
              <a:latin typeface="Noto Sans CJK SC"/>
              <a:ea typeface="Noto Sans CJK SC"/>
              <a:cs typeface="Noto Sans CJK SC"/>
            </a:endParaRPr>
          </a:p>
        </p:txBody>
      </p:sp>
      <p:sp>
        <p:nvSpPr>
          <p:cNvPr id="604"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课题联动的价值，是把一次开发变成多组共同基础设施</a:t>
            </a:r>
            <a:endParaRPr sz="3000" b="1">
              <a:solidFill>
                <a:srgbClr val="111827"/>
              </a:solidFill>
              <a:latin typeface="Noto Sans CJK SC"/>
              <a:ea typeface="Noto Sans CJK SC"/>
              <a:cs typeface="Noto Sans CJK SC"/>
            </a:endParaRPr>
          </a:p>
        </p:txBody>
      </p:sp>
      <p:sp>
        <p:nvSpPr>
          <p:cNvPr id="605"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606"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607"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608"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33</a:t>
            </a:r>
            <a:endParaRPr sz="975" b="1">
              <a:solidFill>
                <a:srgbClr val="667085"/>
              </a:solidFill>
              <a:latin typeface="Noto Sans CJK SC"/>
              <a:ea typeface="Noto Sans CJK SC"/>
              <a:cs typeface="Noto Sans CJK SC"/>
            </a:endParaRPr>
          </a:p>
        </p:txBody>
      </p:sp>
      <p:sp>
        <p:nvSpPr>
          <p:cNvPr id="609" name="圆角矩形 6"/>
          <p:cNvSpPr>
            <a:spLocks noGrp="1"/>
          </p:cNvSpPr>
          <p:nvPr/>
        </p:nvSpPr>
        <p:spPr>
          <a:xfrm>
            <a:off x="457200" y="15240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610" name="矩形 7"/>
          <p:cNvSpPr>
            <a:spLocks noGrp="1"/>
          </p:cNvSpPr>
          <p:nvPr/>
        </p:nvSpPr>
        <p:spPr>
          <a:xfrm>
            <a:off x="590550" y="16097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E3 → F1</a:t>
            </a:r>
            <a:endParaRPr sz="1500" b="1">
              <a:solidFill>
                <a:srgbClr val="1769FF"/>
              </a:solidFill>
              <a:latin typeface="Noto Sans CJK SC"/>
              <a:ea typeface="Noto Sans CJK SC"/>
              <a:cs typeface="Noto Sans CJK SC"/>
            </a:endParaRPr>
          </a:p>
        </p:txBody>
      </p:sp>
      <p:sp>
        <p:nvSpPr>
          <p:cNvPr id="611" name="矩形 8"/>
          <p:cNvSpPr>
            <a:spLocks noGrp="1"/>
          </p:cNvSpPr>
          <p:nvPr/>
        </p:nvSpPr>
        <p:spPr>
          <a:xfrm>
            <a:off x="3143250" y="16097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路由诊断 schema 与空间热图直接进入 Studio 推理分析面板</a:t>
            </a:r>
            <a:endParaRPr sz="1350" b="0">
              <a:solidFill>
                <a:srgbClr val="111827"/>
              </a:solidFill>
              <a:latin typeface="Noto Sans CJK SC"/>
              <a:ea typeface="Noto Sans CJK SC"/>
              <a:cs typeface="Noto Sans CJK SC"/>
            </a:endParaRPr>
          </a:p>
        </p:txBody>
      </p:sp>
      <p:sp>
        <p:nvSpPr>
          <p:cNvPr id="612" name="矩形 9"/>
          <p:cNvSpPr>
            <a:spLocks noGrp="1"/>
          </p:cNvSpPr>
          <p:nvPr/>
        </p:nvSpPr>
        <p:spPr>
          <a:xfrm>
            <a:off x="3143250" y="2143125"/>
            <a:ext cx="8191500" cy="9525"/>
          </a:xfrm>
          <a:prstGeom prst="rect">
            <a:avLst/>
          </a:prstGeom>
          <a:solidFill>
            <a:srgbClr val="D0D5DD"/>
          </a:solidFill>
          <a:ln w="9525">
            <a:solidFill>
              <a:srgbClr val="D0D5DD"/>
            </a:solidFill>
            <a:prstDash val="solid"/>
          </a:ln>
        </p:spPr>
        <p:txBody>
          <a:bodyPr/>
          <a:p/>
        </p:txBody>
      </p:sp>
      <p:sp>
        <p:nvSpPr>
          <p:cNvPr id="613" name="圆角矩形 10"/>
          <p:cNvSpPr>
            <a:spLocks noGrp="1"/>
          </p:cNvSpPr>
          <p:nvPr/>
        </p:nvSpPr>
        <p:spPr>
          <a:xfrm>
            <a:off x="457200" y="22669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614" name="矩形 11"/>
          <p:cNvSpPr>
            <a:spLocks noGrp="1"/>
          </p:cNvSpPr>
          <p:nvPr/>
        </p:nvSpPr>
        <p:spPr>
          <a:xfrm>
            <a:off x="590550" y="23526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E1 ↔ E2</a:t>
            </a:r>
            <a:endParaRPr sz="1500" b="1">
              <a:solidFill>
                <a:srgbClr val="111827"/>
              </a:solidFill>
              <a:latin typeface="Noto Sans CJK SC"/>
              <a:ea typeface="Noto Sans CJK SC"/>
              <a:cs typeface="Noto Sans CJK SC"/>
            </a:endParaRPr>
          </a:p>
        </p:txBody>
      </p:sp>
      <p:sp>
        <p:nvSpPr>
          <p:cNvPr id="615" name="矩形 12"/>
          <p:cNvSpPr>
            <a:spLocks noGrp="1"/>
          </p:cNvSpPr>
          <p:nvPr/>
        </p:nvSpPr>
        <p:spPr>
          <a:xfrm>
            <a:off x="3143250" y="23526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共享多 seed 统计脚手架、GPU 排期与 ES-MoE 复测数据</a:t>
            </a:r>
            <a:endParaRPr sz="1350" b="0">
              <a:solidFill>
                <a:srgbClr val="111827"/>
              </a:solidFill>
              <a:latin typeface="Noto Sans CJK SC"/>
              <a:ea typeface="Noto Sans CJK SC"/>
              <a:cs typeface="Noto Sans CJK SC"/>
            </a:endParaRPr>
          </a:p>
        </p:txBody>
      </p:sp>
      <p:sp>
        <p:nvSpPr>
          <p:cNvPr id="616" name="矩形 13"/>
          <p:cNvSpPr>
            <a:spLocks noGrp="1"/>
          </p:cNvSpPr>
          <p:nvPr/>
        </p:nvSpPr>
        <p:spPr>
          <a:xfrm>
            <a:off x="3143250" y="2886075"/>
            <a:ext cx="8191500" cy="9525"/>
          </a:xfrm>
          <a:prstGeom prst="rect">
            <a:avLst/>
          </a:prstGeom>
          <a:solidFill>
            <a:srgbClr val="D0D5DD"/>
          </a:solidFill>
          <a:ln w="9525">
            <a:solidFill>
              <a:srgbClr val="D0D5DD"/>
            </a:solidFill>
            <a:prstDash val="solid"/>
          </a:ln>
        </p:spPr>
        <p:txBody>
          <a:bodyPr/>
          <a:p/>
        </p:txBody>
      </p:sp>
      <p:sp>
        <p:nvSpPr>
          <p:cNvPr id="617" name="圆角矩形 14"/>
          <p:cNvSpPr>
            <a:spLocks noGrp="1"/>
          </p:cNvSpPr>
          <p:nvPr/>
        </p:nvSpPr>
        <p:spPr>
          <a:xfrm>
            <a:off x="457200" y="30099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618" name="矩形 15"/>
          <p:cNvSpPr>
            <a:spLocks noGrp="1"/>
          </p:cNvSpPr>
          <p:nvPr/>
        </p:nvSpPr>
        <p:spPr>
          <a:xfrm>
            <a:off x="590550" y="30956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A2 → C1</a:t>
            </a:r>
            <a:endParaRPr sz="1500" b="1">
              <a:solidFill>
                <a:srgbClr val="1769FF"/>
              </a:solidFill>
              <a:latin typeface="Noto Sans CJK SC"/>
              <a:ea typeface="Noto Sans CJK SC"/>
              <a:cs typeface="Noto Sans CJK SC"/>
            </a:endParaRPr>
          </a:p>
        </p:txBody>
      </p:sp>
      <p:sp>
        <p:nvSpPr>
          <p:cNvPr id="619" name="矩形 16"/>
          <p:cNvSpPr>
            <a:spLocks noGrp="1"/>
          </p:cNvSpPr>
          <p:nvPr/>
        </p:nvSpPr>
        <p:spPr>
          <a:xfrm>
            <a:off x="3143250" y="30956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STAL 是擂台合法武器；A2 组可直接提供实现与参数经验</a:t>
            </a:r>
            <a:endParaRPr sz="1350" b="0">
              <a:solidFill>
                <a:srgbClr val="111827"/>
              </a:solidFill>
              <a:latin typeface="Noto Sans CJK SC"/>
              <a:ea typeface="Noto Sans CJK SC"/>
              <a:cs typeface="Noto Sans CJK SC"/>
            </a:endParaRPr>
          </a:p>
        </p:txBody>
      </p:sp>
      <p:sp>
        <p:nvSpPr>
          <p:cNvPr id="620" name="矩形 17"/>
          <p:cNvSpPr>
            <a:spLocks noGrp="1"/>
          </p:cNvSpPr>
          <p:nvPr/>
        </p:nvSpPr>
        <p:spPr>
          <a:xfrm>
            <a:off x="3143250" y="3629025"/>
            <a:ext cx="8191500" cy="9525"/>
          </a:xfrm>
          <a:prstGeom prst="rect">
            <a:avLst/>
          </a:prstGeom>
          <a:solidFill>
            <a:srgbClr val="D0D5DD"/>
          </a:solidFill>
          <a:ln w="9525">
            <a:solidFill>
              <a:srgbClr val="D0D5DD"/>
            </a:solidFill>
            <a:prstDash val="solid"/>
          </a:ln>
        </p:spPr>
        <p:txBody>
          <a:bodyPr/>
          <a:p/>
        </p:txBody>
      </p:sp>
      <p:sp>
        <p:nvSpPr>
          <p:cNvPr id="621" name="圆角矩形 18"/>
          <p:cNvSpPr>
            <a:spLocks noGrp="1"/>
          </p:cNvSpPr>
          <p:nvPr/>
        </p:nvSpPr>
        <p:spPr>
          <a:xfrm>
            <a:off x="457200" y="37528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622" name="矩形 19"/>
          <p:cNvSpPr>
            <a:spLocks noGrp="1"/>
          </p:cNvSpPr>
          <p:nvPr/>
        </p:nvSpPr>
        <p:spPr>
          <a:xfrm>
            <a:off x="590550" y="38385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D2 → F11</a:t>
            </a:r>
            <a:endParaRPr sz="1500" b="1">
              <a:solidFill>
                <a:srgbClr val="111827"/>
              </a:solidFill>
              <a:latin typeface="Noto Sans CJK SC"/>
              <a:ea typeface="Noto Sans CJK SC"/>
              <a:cs typeface="Noto Sans CJK SC"/>
            </a:endParaRPr>
          </a:p>
        </p:txBody>
      </p:sp>
      <p:sp>
        <p:nvSpPr>
          <p:cNvPr id="623" name="矩形 20"/>
          <p:cNvSpPr>
            <a:spLocks noGrp="1"/>
          </p:cNvSpPr>
          <p:nvPr/>
        </p:nvSpPr>
        <p:spPr>
          <a:xfrm>
            <a:off x="3143250" y="38385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现有 Foundation 蒸馏基线与 teacher adapter 直接支撑路由 KD</a:t>
            </a:r>
            <a:endParaRPr sz="1350" b="0">
              <a:solidFill>
                <a:srgbClr val="111827"/>
              </a:solidFill>
              <a:latin typeface="Noto Sans CJK SC"/>
              <a:ea typeface="Noto Sans CJK SC"/>
              <a:cs typeface="Noto Sans CJK SC"/>
            </a:endParaRPr>
          </a:p>
        </p:txBody>
      </p:sp>
      <p:sp>
        <p:nvSpPr>
          <p:cNvPr id="624" name="矩形 21"/>
          <p:cNvSpPr>
            <a:spLocks noGrp="1"/>
          </p:cNvSpPr>
          <p:nvPr/>
        </p:nvSpPr>
        <p:spPr>
          <a:xfrm>
            <a:off x="3143250" y="4371975"/>
            <a:ext cx="8191500" cy="9525"/>
          </a:xfrm>
          <a:prstGeom prst="rect">
            <a:avLst/>
          </a:prstGeom>
          <a:solidFill>
            <a:srgbClr val="D0D5DD"/>
          </a:solidFill>
          <a:ln w="9525">
            <a:solidFill>
              <a:srgbClr val="D0D5DD"/>
            </a:solidFill>
            <a:prstDash val="solid"/>
          </a:ln>
        </p:spPr>
        <p:txBody>
          <a:bodyPr/>
          <a:p/>
        </p:txBody>
      </p:sp>
      <p:sp>
        <p:nvSpPr>
          <p:cNvPr id="625" name="圆角矩形 22"/>
          <p:cNvSpPr>
            <a:spLocks noGrp="1"/>
          </p:cNvSpPr>
          <p:nvPr/>
        </p:nvSpPr>
        <p:spPr>
          <a:xfrm>
            <a:off x="457200" y="44958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626" name="矩形 23"/>
          <p:cNvSpPr>
            <a:spLocks noGrp="1"/>
          </p:cNvSpPr>
          <p:nvPr/>
        </p:nvSpPr>
        <p:spPr>
          <a:xfrm>
            <a:off x="590550" y="45815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B2 → C1</a:t>
            </a:r>
            <a:endParaRPr sz="1500" b="1">
              <a:solidFill>
                <a:srgbClr val="1769FF"/>
              </a:solidFill>
              <a:latin typeface="Noto Sans CJK SC"/>
              <a:ea typeface="Noto Sans CJK SC"/>
              <a:cs typeface="Noto Sans CJK SC"/>
            </a:endParaRPr>
          </a:p>
        </p:txBody>
      </p:sp>
      <p:sp>
        <p:nvSpPr>
          <p:cNvPr id="627" name="矩形 24"/>
          <p:cNvSpPr>
            <a:spLocks noGrp="1"/>
          </p:cNvSpPr>
          <p:nvPr/>
        </p:nvSpPr>
        <p:spPr>
          <a:xfrm>
            <a:off x="3143250" y="45815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自动标注数据可成为擂台加赛数据集，验证噪声鲁棒性</a:t>
            </a:r>
            <a:endParaRPr sz="1350" b="0">
              <a:solidFill>
                <a:srgbClr val="111827"/>
              </a:solidFill>
              <a:latin typeface="Noto Sans CJK SC"/>
              <a:ea typeface="Noto Sans CJK SC"/>
              <a:cs typeface="Noto Sans CJK SC"/>
            </a:endParaRPr>
          </a:p>
        </p:txBody>
      </p:sp>
      <p:sp>
        <p:nvSpPr>
          <p:cNvPr id="628" name="矩形 25"/>
          <p:cNvSpPr>
            <a:spLocks noGrp="1"/>
          </p:cNvSpPr>
          <p:nvPr/>
        </p:nvSpPr>
        <p:spPr>
          <a:xfrm>
            <a:off x="3143250" y="5114925"/>
            <a:ext cx="8191500" cy="9525"/>
          </a:xfrm>
          <a:prstGeom prst="rect">
            <a:avLst/>
          </a:prstGeom>
          <a:solidFill>
            <a:srgbClr val="D0D5DD"/>
          </a:solidFill>
          <a:ln w="9525">
            <a:solidFill>
              <a:srgbClr val="D0D5DD"/>
            </a:solidFill>
            <a:prstDash val="solid"/>
          </a:ln>
        </p:spPr>
        <p:txBody>
          <a:bodyPr/>
          <a:p/>
        </p:txBody>
      </p:sp>
      <p:sp>
        <p:nvSpPr>
          <p:cNvPr id="629" name="圆角矩形 26"/>
          <p:cNvSpPr>
            <a:spLocks noGrp="1"/>
          </p:cNvSpPr>
          <p:nvPr/>
        </p:nvSpPr>
        <p:spPr>
          <a:xfrm>
            <a:off x="457200" y="52387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630" name="矩形 27"/>
          <p:cNvSpPr>
            <a:spLocks noGrp="1"/>
          </p:cNvSpPr>
          <p:nvPr/>
        </p:nvSpPr>
        <p:spPr>
          <a:xfrm>
            <a:off x="590550" y="53244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A3 → F3</a:t>
            </a:r>
            <a:endParaRPr sz="1500" b="1">
              <a:solidFill>
                <a:srgbClr val="111827"/>
              </a:solidFill>
              <a:latin typeface="Noto Sans CJK SC"/>
              <a:ea typeface="Noto Sans CJK SC"/>
              <a:cs typeface="Noto Sans CJK SC"/>
            </a:endParaRPr>
          </a:p>
        </p:txBody>
      </p:sp>
      <p:sp>
        <p:nvSpPr>
          <p:cNvPr id="631" name="矩形 28"/>
          <p:cNvSpPr>
            <a:spLocks noGrp="1"/>
          </p:cNvSpPr>
          <p:nvPr/>
        </p:nvSpPr>
        <p:spPr>
          <a:xfrm>
            <a:off x="3143250" y="53244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量化、fallback 与导出实验沉淀为 DeployOps 的预检与 benchmark 工作流</a:t>
            </a:r>
            <a:endParaRPr sz="1350" b="0">
              <a:solidFill>
                <a:srgbClr val="111827"/>
              </a:solidFill>
              <a:latin typeface="Noto Sans CJK SC"/>
              <a:ea typeface="Noto Sans CJK SC"/>
              <a:cs typeface="Noto Sans CJK SC"/>
            </a:endParaRPr>
          </a:p>
        </p:txBody>
      </p:sp>
      <p:sp>
        <p:nvSpPr>
          <p:cNvPr id="632" name="矩形 29"/>
          <p:cNvSpPr>
            <a:spLocks noGrp="1"/>
          </p:cNvSpPr>
          <p:nvPr/>
        </p:nvSpPr>
        <p:spPr>
          <a:xfrm>
            <a:off x="457200" y="5981700"/>
            <a:ext cx="10477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667085"/>
                </a:solidFill>
                <a:latin typeface="Noto Sans CJK SC"/>
                <a:ea typeface="Noto Sans CJK SC"/>
                <a:cs typeface="Noto Sans CJK SC"/>
              </a:defRPr>
            </a:pPr>
            <a:r>
              <a:rPr sz="1275" b="1">
                <a:solidFill>
                  <a:srgbClr val="667085"/>
                </a:solidFill>
                <a:latin typeface="Noto Sans CJK SC"/>
                <a:ea typeface="Noto Sans CJK SC"/>
                <a:cs typeface="Noto Sans CJK SC"/>
              </a:rPr>
              <a:t>公共执行底座：Agent Skill → F1/F2/F3；WebUI 不直接拼接 shell 命令。</a:t>
            </a:r>
            <a:endParaRPr sz="1275" b="1">
              <a:solidFill>
                <a:srgbClr val="667085"/>
              </a:solidFill>
              <a:latin typeface="Noto Sans CJK SC"/>
              <a:ea typeface="Noto Sans CJK SC"/>
              <a:cs typeface="Noto Sans CJK SC"/>
            </a:endParaRPr>
          </a:p>
        </p:txBody>
      </p:sp>
    </p:spTree>
  </p:cSld>
  <p:clrMapOvr>
    <a:masterClrMapping/>
  </p:clrMapOvr>
</p:sld>
</file>

<file path=ppt/slides/slide36.xml><?xml version="1.0" encoding="utf-8"?>
<p:sld xmlns:a="http://schemas.openxmlformats.org/drawingml/2006/main" xmlns:p="http://schemas.openxmlformats.org/presentationml/2006/main">
  <p:cSld>
    <p:bg>
      <p:bgPr>
        <a:solidFill>
          <a:srgbClr val="FFFFFF"/>
        </a:solidFill>
        <a:effectLst/>
      </p:bgPr>
    </p:bg>
    <p:spTree>
      <p:nvGrpSpPr>
        <p:cNvPr id="633" name=""/>
        <p:cNvGrpSpPr/>
        <p:nvPr/>
      </p:nvGrpSpPr>
      <p:grpSpPr>
        <a:xfrm>
          <a:off x="0" y="0"/>
          <a:ext cx="0" cy="0"/>
          <a:chOff x="0" y="0"/>
          <a:chExt cx="0" cy="0"/>
        </a:xfrm>
      </p:grpSpPr>
      <p:sp>
        <p:nvSpPr>
          <p:cNvPr id="634" name="矩形 97"/>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TOPIC SELECTION</a:t>
            </a:r>
            <a:endParaRPr sz="1125" b="1">
              <a:solidFill>
                <a:srgbClr val="1769FF"/>
              </a:solidFill>
              <a:latin typeface="Noto Sans CJK SC"/>
              <a:ea typeface="Noto Sans CJK SC"/>
              <a:cs typeface="Noto Sans CJK SC"/>
            </a:endParaRPr>
          </a:p>
        </p:txBody>
      </p:sp>
      <p:sp>
        <p:nvSpPr>
          <p:cNvPr id="635"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A–E 看矩阵；F 组三题按“一个平台、三个工作包”组队</a:t>
            </a:r>
            <a:endParaRPr sz="3000" b="1">
              <a:solidFill>
                <a:srgbClr val="111827"/>
              </a:solidFill>
              <a:latin typeface="Noto Sans CJK SC"/>
              <a:ea typeface="Noto Sans CJK SC"/>
              <a:cs typeface="Noto Sans CJK SC"/>
            </a:endParaRPr>
          </a:p>
        </p:txBody>
      </p:sp>
      <p:sp>
        <p:nvSpPr>
          <p:cNvPr id="636"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637"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638"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639"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34</a:t>
            </a:r>
            <a:endParaRPr sz="975" b="1">
              <a:solidFill>
                <a:srgbClr val="667085"/>
              </a:solidFill>
              <a:latin typeface="Noto Sans CJK SC"/>
              <a:ea typeface="Noto Sans CJK SC"/>
              <a:cs typeface="Noto Sans CJK SC"/>
            </a:endParaRPr>
          </a:p>
        </p:txBody>
      </p:sp>
      <p:sp>
        <p:nvSpPr>
          <p:cNvPr id="640" name="矩形 6"/>
          <p:cNvSpPr>
            <a:spLocks noGrp="1"/>
          </p:cNvSpPr>
          <p:nvPr/>
        </p:nvSpPr>
        <p:spPr>
          <a:xfrm>
            <a:off x="457200" y="1428750"/>
            <a:ext cx="11277600" cy="285750"/>
          </a:xfrm>
          <a:prstGeom prst="rect">
            <a:avLst/>
          </a:prstGeom>
          <a:solidFill>
            <a:srgbClr val="111827"/>
          </a:solidFill>
          <a:ln w="9525">
            <a:solidFill>
              <a:srgbClr val="111827"/>
            </a:solidFill>
            <a:prstDash val="solid"/>
          </a:ln>
        </p:spPr>
        <p:txBody>
          <a:bodyPr/>
          <a:p/>
        </p:txBody>
      </p:sp>
      <p:sp>
        <p:nvSpPr>
          <p:cNvPr id="641" name="矩形 7"/>
          <p:cNvSpPr>
            <a:spLocks noGrp="1"/>
          </p:cNvSpPr>
          <p:nvPr/>
        </p:nvSpPr>
        <p:spPr>
          <a:xfrm>
            <a:off x="533400" y="14668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FFFFFF"/>
                </a:solidFill>
                <a:latin typeface="Noto Sans CJK SC"/>
                <a:ea typeface="Noto Sans CJK SC"/>
                <a:cs typeface="Noto Sans CJK SC"/>
              </a:defRPr>
            </a:pPr>
            <a:r>
              <a:rPr sz="1200" b="1">
                <a:solidFill>
                  <a:srgbClr val="FFFFFF"/>
                </a:solidFill>
                <a:latin typeface="Noto Sans CJK SC"/>
                <a:ea typeface="Noto Sans CJK SC"/>
                <a:cs typeface="Noto Sans CJK SC"/>
              </a:rPr>
              <a:t>课题</a:t>
            </a:r>
            <a:endParaRPr sz="1200" b="1">
              <a:solidFill>
                <a:srgbClr val="FFFFFF"/>
              </a:solidFill>
              <a:latin typeface="Noto Sans CJK SC"/>
              <a:ea typeface="Noto Sans CJK SC"/>
              <a:cs typeface="Noto Sans CJK SC"/>
            </a:endParaRPr>
          </a:p>
        </p:txBody>
      </p:sp>
      <p:sp>
        <p:nvSpPr>
          <p:cNvPr id="642" name="矩形 8"/>
          <p:cNvSpPr>
            <a:spLocks noGrp="1"/>
          </p:cNvSpPr>
          <p:nvPr/>
        </p:nvSpPr>
        <p:spPr>
          <a:xfrm>
            <a:off x="1581150" y="14668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1">
                <a:solidFill>
                  <a:srgbClr val="FFFFFF"/>
                </a:solidFill>
                <a:latin typeface="Noto Sans CJK SC"/>
                <a:ea typeface="Noto Sans CJK SC"/>
                <a:cs typeface="Noto Sans CJK SC"/>
              </a:defRPr>
            </a:pPr>
            <a:r>
              <a:rPr sz="1200" b="1">
                <a:solidFill>
                  <a:srgbClr val="FFFFFF"/>
                </a:solidFill>
                <a:latin typeface="Noto Sans CJK SC"/>
                <a:ea typeface="Noto Sans CJK SC"/>
                <a:cs typeface="Noto Sans CJK SC"/>
              </a:rPr>
              <a:t>主能力</a:t>
            </a:r>
            <a:endParaRPr sz="1200" b="1">
              <a:solidFill>
                <a:srgbClr val="FFFFFF"/>
              </a:solidFill>
              <a:latin typeface="Noto Sans CJK SC"/>
              <a:ea typeface="Noto Sans CJK SC"/>
              <a:cs typeface="Noto Sans CJK SC"/>
            </a:endParaRPr>
          </a:p>
        </p:txBody>
      </p:sp>
      <p:sp>
        <p:nvSpPr>
          <p:cNvPr id="643" name="矩形 9"/>
          <p:cNvSpPr>
            <a:spLocks noGrp="1"/>
          </p:cNvSpPr>
          <p:nvPr/>
        </p:nvSpPr>
        <p:spPr>
          <a:xfrm>
            <a:off x="4267200" y="14668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1">
                <a:solidFill>
                  <a:srgbClr val="FFFFFF"/>
                </a:solidFill>
                <a:latin typeface="Noto Sans CJK SC"/>
                <a:ea typeface="Noto Sans CJK SC"/>
                <a:cs typeface="Noto Sans CJK SC"/>
              </a:defRPr>
            </a:pPr>
            <a:r>
              <a:rPr sz="1200" b="1">
                <a:solidFill>
                  <a:srgbClr val="FFFFFF"/>
                </a:solidFill>
                <a:latin typeface="Noto Sans CJK SC"/>
                <a:ea typeface="Noto Sans CJK SC"/>
                <a:cs typeface="Noto Sans CJK SC"/>
              </a:rPr>
              <a:t>算力</a:t>
            </a:r>
            <a:endParaRPr sz="1200" b="1">
              <a:solidFill>
                <a:srgbClr val="FFFFFF"/>
              </a:solidFill>
              <a:latin typeface="Noto Sans CJK SC"/>
              <a:ea typeface="Noto Sans CJK SC"/>
              <a:cs typeface="Noto Sans CJK SC"/>
            </a:endParaRPr>
          </a:p>
        </p:txBody>
      </p:sp>
      <p:sp>
        <p:nvSpPr>
          <p:cNvPr id="644" name="矩形 10"/>
          <p:cNvSpPr>
            <a:spLocks noGrp="1"/>
          </p:cNvSpPr>
          <p:nvPr/>
        </p:nvSpPr>
        <p:spPr>
          <a:xfrm>
            <a:off x="5695950" y="14668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1">
                <a:solidFill>
                  <a:srgbClr val="FFFFFF"/>
                </a:solidFill>
                <a:latin typeface="Noto Sans CJK SC"/>
                <a:ea typeface="Noto Sans CJK SC"/>
                <a:cs typeface="Noto Sans CJK SC"/>
              </a:defRPr>
            </a:pPr>
            <a:r>
              <a:rPr sz="1200" b="1">
                <a:solidFill>
                  <a:srgbClr val="FFFFFF"/>
                </a:solidFill>
                <a:latin typeface="Noto Sans CJK SC"/>
                <a:ea typeface="Noto Sans CJK SC"/>
                <a:cs typeface="Noto Sans CJK SC"/>
              </a:rPr>
              <a:t>研究不确定性</a:t>
            </a:r>
            <a:endParaRPr sz="1200" b="1">
              <a:solidFill>
                <a:srgbClr val="FFFFFF"/>
              </a:solidFill>
              <a:latin typeface="Noto Sans CJK SC"/>
              <a:ea typeface="Noto Sans CJK SC"/>
              <a:cs typeface="Noto Sans CJK SC"/>
            </a:endParaRPr>
          </a:p>
        </p:txBody>
      </p:sp>
      <p:sp>
        <p:nvSpPr>
          <p:cNvPr id="645" name="矩形 11"/>
          <p:cNvSpPr>
            <a:spLocks noGrp="1"/>
          </p:cNvSpPr>
          <p:nvPr/>
        </p:nvSpPr>
        <p:spPr>
          <a:xfrm>
            <a:off x="7810500" y="14668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1">
                <a:solidFill>
                  <a:srgbClr val="FFFFFF"/>
                </a:solidFill>
                <a:latin typeface="Noto Sans CJK SC"/>
                <a:ea typeface="Noto Sans CJK SC"/>
                <a:cs typeface="Noto Sans CJK SC"/>
              </a:defRPr>
            </a:pPr>
            <a:r>
              <a:rPr sz="1200" b="1">
                <a:solidFill>
                  <a:srgbClr val="FFFFFF"/>
                </a:solidFill>
                <a:latin typeface="Noto Sans CJK SC"/>
                <a:ea typeface="Noto Sans CJK SC"/>
                <a:cs typeface="Noto Sans CJK SC"/>
              </a:rPr>
              <a:t>最适合</a:t>
            </a:r>
            <a:endParaRPr sz="1200" b="1">
              <a:solidFill>
                <a:srgbClr val="FFFFFF"/>
              </a:solidFill>
              <a:latin typeface="Noto Sans CJK SC"/>
              <a:ea typeface="Noto Sans CJK SC"/>
              <a:cs typeface="Noto Sans CJK SC"/>
            </a:endParaRPr>
          </a:p>
        </p:txBody>
      </p:sp>
      <p:sp>
        <p:nvSpPr>
          <p:cNvPr id="646" name="矩形 12"/>
          <p:cNvSpPr>
            <a:spLocks noGrp="1"/>
          </p:cNvSpPr>
          <p:nvPr/>
        </p:nvSpPr>
        <p:spPr>
          <a:xfrm>
            <a:off x="457200" y="1733550"/>
            <a:ext cx="11277600" cy="285750"/>
          </a:xfrm>
          <a:prstGeom prst="rect">
            <a:avLst/>
          </a:prstGeom>
          <a:solidFill>
            <a:srgbClr val="F8FAFC"/>
          </a:solidFill>
          <a:ln w="9525">
            <a:solidFill>
              <a:srgbClr val="D0D5DD"/>
            </a:solidFill>
            <a:prstDash val="solid"/>
          </a:ln>
        </p:spPr>
        <p:txBody>
          <a:bodyPr/>
          <a:p/>
        </p:txBody>
      </p:sp>
      <p:sp>
        <p:nvSpPr>
          <p:cNvPr id="647" name="矩形 13"/>
          <p:cNvSpPr>
            <a:spLocks noGrp="1"/>
          </p:cNvSpPr>
          <p:nvPr/>
        </p:nvSpPr>
        <p:spPr>
          <a:xfrm>
            <a:off x="533400" y="17716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A1</a:t>
            </a:r>
            <a:endParaRPr sz="1200" b="1">
              <a:solidFill>
                <a:srgbClr val="111827"/>
              </a:solidFill>
              <a:latin typeface="Noto Sans CJK SC"/>
              <a:ea typeface="Noto Sans CJK SC"/>
              <a:cs typeface="Noto Sans CJK SC"/>
            </a:endParaRPr>
          </a:p>
        </p:txBody>
      </p:sp>
      <p:sp>
        <p:nvSpPr>
          <p:cNvPr id="648" name="矩形 14"/>
          <p:cNvSpPr>
            <a:spLocks noGrp="1"/>
          </p:cNvSpPr>
          <p:nvPr/>
        </p:nvSpPr>
        <p:spPr>
          <a:xfrm>
            <a:off x="1581150" y="17716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端到端闭环 / 分配</a:t>
            </a:r>
            <a:endParaRPr sz="1200" b="0">
              <a:solidFill>
                <a:srgbClr val="111827"/>
              </a:solidFill>
              <a:latin typeface="Noto Sans CJK SC"/>
              <a:ea typeface="Noto Sans CJK SC"/>
              <a:cs typeface="Noto Sans CJK SC"/>
            </a:endParaRPr>
          </a:p>
        </p:txBody>
      </p:sp>
      <p:sp>
        <p:nvSpPr>
          <p:cNvPr id="649" name="矩形 15"/>
          <p:cNvSpPr>
            <a:spLocks noGrp="1"/>
          </p:cNvSpPr>
          <p:nvPr/>
        </p:nvSpPr>
        <p:spPr>
          <a:xfrm>
            <a:off x="4267200" y="17716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50" name="矩形 16"/>
          <p:cNvSpPr>
            <a:spLocks noGrp="1"/>
          </p:cNvSpPr>
          <p:nvPr/>
        </p:nvSpPr>
        <p:spPr>
          <a:xfrm>
            <a:off x="5695950" y="17716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高</a:t>
            </a:r>
            <a:endParaRPr sz="1200" b="0">
              <a:solidFill>
                <a:srgbClr val="111827"/>
              </a:solidFill>
              <a:latin typeface="Noto Sans CJK SC"/>
              <a:ea typeface="Noto Sans CJK SC"/>
              <a:cs typeface="Noto Sans CJK SC"/>
            </a:endParaRPr>
          </a:p>
        </p:txBody>
      </p:sp>
      <p:sp>
        <p:nvSpPr>
          <p:cNvPr id="651" name="矩形 17"/>
          <p:cNvSpPr>
            <a:spLocks noGrp="1"/>
          </p:cNvSpPr>
          <p:nvPr/>
        </p:nvSpPr>
        <p:spPr>
          <a:xfrm>
            <a:off x="7810500" y="17716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算法研究型</a:t>
            </a:r>
            <a:endParaRPr sz="1200" b="0">
              <a:solidFill>
                <a:srgbClr val="111827"/>
              </a:solidFill>
              <a:latin typeface="Noto Sans CJK SC"/>
              <a:ea typeface="Noto Sans CJK SC"/>
              <a:cs typeface="Noto Sans CJK SC"/>
            </a:endParaRPr>
          </a:p>
        </p:txBody>
      </p:sp>
      <p:sp>
        <p:nvSpPr>
          <p:cNvPr id="652" name="矩形 18"/>
          <p:cNvSpPr>
            <a:spLocks noGrp="1"/>
          </p:cNvSpPr>
          <p:nvPr/>
        </p:nvSpPr>
        <p:spPr>
          <a:xfrm>
            <a:off x="457200" y="2038350"/>
            <a:ext cx="11277600" cy="285750"/>
          </a:xfrm>
          <a:prstGeom prst="rect">
            <a:avLst/>
          </a:prstGeom>
          <a:solidFill>
            <a:srgbClr val="FFFFFF"/>
          </a:solidFill>
          <a:ln w="9525">
            <a:solidFill>
              <a:srgbClr val="D0D5DD"/>
            </a:solidFill>
            <a:prstDash val="solid"/>
          </a:ln>
        </p:spPr>
        <p:txBody>
          <a:bodyPr/>
          <a:p/>
        </p:txBody>
      </p:sp>
      <p:sp>
        <p:nvSpPr>
          <p:cNvPr id="653" name="矩形 19"/>
          <p:cNvSpPr>
            <a:spLocks noGrp="1"/>
          </p:cNvSpPr>
          <p:nvPr/>
        </p:nvSpPr>
        <p:spPr>
          <a:xfrm>
            <a:off x="533400" y="20764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A2</a:t>
            </a:r>
            <a:endParaRPr sz="1200" b="1">
              <a:solidFill>
                <a:srgbClr val="111827"/>
              </a:solidFill>
              <a:latin typeface="Noto Sans CJK SC"/>
              <a:ea typeface="Noto Sans CJK SC"/>
              <a:cs typeface="Noto Sans CJK SC"/>
            </a:endParaRPr>
          </a:p>
        </p:txBody>
      </p:sp>
      <p:sp>
        <p:nvSpPr>
          <p:cNvPr id="654" name="矩形 20"/>
          <p:cNvSpPr>
            <a:spLocks noGrp="1"/>
          </p:cNvSpPr>
          <p:nvPr/>
        </p:nvSpPr>
        <p:spPr>
          <a:xfrm>
            <a:off x="1581150" y="20764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标签分配</a:t>
            </a:r>
            <a:endParaRPr sz="1200" b="0">
              <a:solidFill>
                <a:srgbClr val="111827"/>
              </a:solidFill>
              <a:latin typeface="Noto Sans CJK SC"/>
              <a:ea typeface="Noto Sans CJK SC"/>
              <a:cs typeface="Noto Sans CJK SC"/>
            </a:endParaRPr>
          </a:p>
        </p:txBody>
      </p:sp>
      <p:sp>
        <p:nvSpPr>
          <p:cNvPr id="655" name="矩形 21"/>
          <p:cNvSpPr>
            <a:spLocks noGrp="1"/>
          </p:cNvSpPr>
          <p:nvPr/>
        </p:nvSpPr>
        <p:spPr>
          <a:xfrm>
            <a:off x="4267200" y="20764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低–中</a:t>
            </a:r>
            <a:endParaRPr sz="1200" b="0">
              <a:solidFill>
                <a:srgbClr val="111827"/>
              </a:solidFill>
              <a:latin typeface="Noto Sans CJK SC"/>
              <a:ea typeface="Noto Sans CJK SC"/>
              <a:cs typeface="Noto Sans CJK SC"/>
            </a:endParaRPr>
          </a:p>
        </p:txBody>
      </p:sp>
      <p:sp>
        <p:nvSpPr>
          <p:cNvPr id="656" name="矩形 22"/>
          <p:cNvSpPr>
            <a:spLocks noGrp="1"/>
          </p:cNvSpPr>
          <p:nvPr/>
        </p:nvSpPr>
        <p:spPr>
          <a:xfrm>
            <a:off x="5695950" y="20764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a:t>
            </a:r>
            <a:endParaRPr sz="1200" b="0">
              <a:solidFill>
                <a:srgbClr val="111827"/>
              </a:solidFill>
              <a:latin typeface="Noto Sans CJK SC"/>
              <a:ea typeface="Noto Sans CJK SC"/>
              <a:cs typeface="Noto Sans CJK SC"/>
            </a:endParaRPr>
          </a:p>
        </p:txBody>
      </p:sp>
      <p:sp>
        <p:nvSpPr>
          <p:cNvPr id="657" name="矩形 23"/>
          <p:cNvSpPr>
            <a:spLocks noGrp="1"/>
          </p:cNvSpPr>
          <p:nvPr/>
        </p:nvSpPr>
        <p:spPr>
          <a:xfrm>
            <a:off x="7810500" y="20764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稳健涨点型</a:t>
            </a:r>
            <a:endParaRPr sz="1200" b="0">
              <a:solidFill>
                <a:srgbClr val="111827"/>
              </a:solidFill>
              <a:latin typeface="Noto Sans CJK SC"/>
              <a:ea typeface="Noto Sans CJK SC"/>
              <a:cs typeface="Noto Sans CJK SC"/>
            </a:endParaRPr>
          </a:p>
        </p:txBody>
      </p:sp>
      <p:sp>
        <p:nvSpPr>
          <p:cNvPr id="658" name="矩形 24"/>
          <p:cNvSpPr>
            <a:spLocks noGrp="1"/>
          </p:cNvSpPr>
          <p:nvPr/>
        </p:nvSpPr>
        <p:spPr>
          <a:xfrm>
            <a:off x="457200" y="2343150"/>
            <a:ext cx="11277600" cy="285750"/>
          </a:xfrm>
          <a:prstGeom prst="rect">
            <a:avLst/>
          </a:prstGeom>
          <a:solidFill>
            <a:srgbClr val="F8FAFC"/>
          </a:solidFill>
          <a:ln w="9525">
            <a:solidFill>
              <a:srgbClr val="D0D5DD"/>
            </a:solidFill>
            <a:prstDash val="solid"/>
          </a:ln>
        </p:spPr>
        <p:txBody>
          <a:bodyPr/>
          <a:p/>
        </p:txBody>
      </p:sp>
      <p:sp>
        <p:nvSpPr>
          <p:cNvPr id="659" name="矩形 25"/>
          <p:cNvSpPr>
            <a:spLocks noGrp="1"/>
          </p:cNvSpPr>
          <p:nvPr/>
        </p:nvSpPr>
        <p:spPr>
          <a:xfrm>
            <a:off x="533400" y="23812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A3</a:t>
            </a:r>
            <a:endParaRPr sz="1200" b="1">
              <a:solidFill>
                <a:srgbClr val="111827"/>
              </a:solidFill>
              <a:latin typeface="Noto Sans CJK SC"/>
              <a:ea typeface="Noto Sans CJK SC"/>
              <a:cs typeface="Noto Sans CJK SC"/>
            </a:endParaRPr>
          </a:p>
        </p:txBody>
      </p:sp>
      <p:sp>
        <p:nvSpPr>
          <p:cNvPr id="660" name="矩形 26"/>
          <p:cNvSpPr>
            <a:spLocks noGrp="1"/>
          </p:cNvSpPr>
          <p:nvPr/>
        </p:nvSpPr>
        <p:spPr>
          <a:xfrm>
            <a:off x="1581150" y="23812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部署 / 量化</a:t>
            </a:r>
            <a:endParaRPr sz="1200" b="0">
              <a:solidFill>
                <a:srgbClr val="111827"/>
              </a:solidFill>
              <a:latin typeface="Noto Sans CJK SC"/>
              <a:ea typeface="Noto Sans CJK SC"/>
              <a:cs typeface="Noto Sans CJK SC"/>
            </a:endParaRPr>
          </a:p>
        </p:txBody>
      </p:sp>
      <p:sp>
        <p:nvSpPr>
          <p:cNvPr id="661" name="矩形 27"/>
          <p:cNvSpPr>
            <a:spLocks noGrp="1"/>
          </p:cNvSpPr>
          <p:nvPr/>
        </p:nvSpPr>
        <p:spPr>
          <a:xfrm>
            <a:off x="4267200" y="23812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62" name="矩形 28"/>
          <p:cNvSpPr>
            <a:spLocks noGrp="1"/>
          </p:cNvSpPr>
          <p:nvPr/>
        </p:nvSpPr>
        <p:spPr>
          <a:xfrm>
            <a:off x="5695950" y="23812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63" name="矩形 29"/>
          <p:cNvSpPr>
            <a:spLocks noGrp="1"/>
          </p:cNvSpPr>
          <p:nvPr/>
        </p:nvSpPr>
        <p:spPr>
          <a:xfrm>
            <a:off x="7810500" y="23812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端侧工程型</a:t>
            </a:r>
            <a:endParaRPr sz="1200" b="0">
              <a:solidFill>
                <a:srgbClr val="111827"/>
              </a:solidFill>
              <a:latin typeface="Noto Sans CJK SC"/>
              <a:ea typeface="Noto Sans CJK SC"/>
              <a:cs typeface="Noto Sans CJK SC"/>
            </a:endParaRPr>
          </a:p>
        </p:txBody>
      </p:sp>
      <p:sp>
        <p:nvSpPr>
          <p:cNvPr id="664" name="矩形 30"/>
          <p:cNvSpPr>
            <a:spLocks noGrp="1"/>
          </p:cNvSpPr>
          <p:nvPr/>
        </p:nvSpPr>
        <p:spPr>
          <a:xfrm>
            <a:off x="457200" y="2647950"/>
            <a:ext cx="11277600" cy="285750"/>
          </a:xfrm>
          <a:prstGeom prst="rect">
            <a:avLst/>
          </a:prstGeom>
          <a:solidFill>
            <a:srgbClr val="FFFFFF"/>
          </a:solidFill>
          <a:ln w="9525">
            <a:solidFill>
              <a:srgbClr val="D0D5DD"/>
            </a:solidFill>
            <a:prstDash val="solid"/>
          </a:ln>
        </p:spPr>
        <p:txBody>
          <a:bodyPr/>
          <a:p/>
        </p:txBody>
      </p:sp>
      <p:sp>
        <p:nvSpPr>
          <p:cNvPr id="665" name="矩形 31"/>
          <p:cNvSpPr>
            <a:spLocks noGrp="1"/>
          </p:cNvSpPr>
          <p:nvPr/>
        </p:nvSpPr>
        <p:spPr>
          <a:xfrm>
            <a:off x="533400" y="26860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B1</a:t>
            </a:r>
            <a:endParaRPr sz="1200" b="1">
              <a:solidFill>
                <a:srgbClr val="111827"/>
              </a:solidFill>
              <a:latin typeface="Noto Sans CJK SC"/>
              <a:ea typeface="Noto Sans CJK SC"/>
              <a:cs typeface="Noto Sans CJK SC"/>
            </a:endParaRPr>
          </a:p>
        </p:txBody>
      </p:sp>
      <p:sp>
        <p:nvSpPr>
          <p:cNvPr id="666" name="矩形 32"/>
          <p:cNvSpPr>
            <a:spLocks noGrp="1"/>
          </p:cNvSpPr>
          <p:nvPr/>
        </p:nvSpPr>
        <p:spPr>
          <a:xfrm>
            <a:off x="1581150" y="26860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开放词汇 / 路由</a:t>
            </a:r>
            <a:endParaRPr sz="1200" b="0">
              <a:solidFill>
                <a:srgbClr val="111827"/>
              </a:solidFill>
              <a:latin typeface="Noto Sans CJK SC"/>
              <a:ea typeface="Noto Sans CJK SC"/>
              <a:cs typeface="Noto Sans CJK SC"/>
            </a:endParaRPr>
          </a:p>
        </p:txBody>
      </p:sp>
      <p:sp>
        <p:nvSpPr>
          <p:cNvPr id="667" name="矩形 33"/>
          <p:cNvSpPr>
            <a:spLocks noGrp="1"/>
          </p:cNvSpPr>
          <p:nvPr/>
        </p:nvSpPr>
        <p:spPr>
          <a:xfrm>
            <a:off x="4267200" y="26860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高</a:t>
            </a:r>
            <a:endParaRPr sz="1200" b="0">
              <a:solidFill>
                <a:srgbClr val="111827"/>
              </a:solidFill>
              <a:latin typeface="Noto Sans CJK SC"/>
              <a:ea typeface="Noto Sans CJK SC"/>
              <a:cs typeface="Noto Sans CJK SC"/>
            </a:endParaRPr>
          </a:p>
        </p:txBody>
      </p:sp>
      <p:sp>
        <p:nvSpPr>
          <p:cNvPr id="668" name="矩形 34"/>
          <p:cNvSpPr>
            <a:spLocks noGrp="1"/>
          </p:cNvSpPr>
          <p:nvPr/>
        </p:nvSpPr>
        <p:spPr>
          <a:xfrm>
            <a:off x="5695950" y="26860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高</a:t>
            </a:r>
            <a:endParaRPr sz="1200" b="0">
              <a:solidFill>
                <a:srgbClr val="111827"/>
              </a:solidFill>
              <a:latin typeface="Noto Sans CJK SC"/>
              <a:ea typeface="Noto Sans CJK SC"/>
              <a:cs typeface="Noto Sans CJK SC"/>
            </a:endParaRPr>
          </a:p>
        </p:txBody>
      </p:sp>
      <p:sp>
        <p:nvSpPr>
          <p:cNvPr id="669" name="矩形 35"/>
          <p:cNvSpPr>
            <a:spLocks noGrp="1"/>
          </p:cNvSpPr>
          <p:nvPr/>
        </p:nvSpPr>
        <p:spPr>
          <a:xfrm>
            <a:off x="7810500" y="26860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前沿研究型</a:t>
            </a:r>
            <a:endParaRPr sz="1200" b="0">
              <a:solidFill>
                <a:srgbClr val="111827"/>
              </a:solidFill>
              <a:latin typeface="Noto Sans CJK SC"/>
              <a:ea typeface="Noto Sans CJK SC"/>
              <a:cs typeface="Noto Sans CJK SC"/>
            </a:endParaRPr>
          </a:p>
        </p:txBody>
      </p:sp>
      <p:sp>
        <p:nvSpPr>
          <p:cNvPr id="670" name="矩形 36"/>
          <p:cNvSpPr>
            <a:spLocks noGrp="1"/>
          </p:cNvSpPr>
          <p:nvPr/>
        </p:nvSpPr>
        <p:spPr>
          <a:xfrm>
            <a:off x="457200" y="2952750"/>
            <a:ext cx="11277600" cy="285750"/>
          </a:xfrm>
          <a:prstGeom prst="rect">
            <a:avLst/>
          </a:prstGeom>
          <a:solidFill>
            <a:srgbClr val="F8FAFC"/>
          </a:solidFill>
          <a:ln w="9525">
            <a:solidFill>
              <a:srgbClr val="D0D5DD"/>
            </a:solidFill>
            <a:prstDash val="solid"/>
          </a:ln>
        </p:spPr>
        <p:txBody>
          <a:bodyPr/>
          <a:p/>
        </p:txBody>
      </p:sp>
      <p:sp>
        <p:nvSpPr>
          <p:cNvPr id="671" name="矩形 37"/>
          <p:cNvSpPr>
            <a:spLocks noGrp="1"/>
          </p:cNvSpPr>
          <p:nvPr/>
        </p:nvSpPr>
        <p:spPr>
          <a:xfrm>
            <a:off x="533400" y="29908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B2</a:t>
            </a:r>
            <a:endParaRPr sz="1200" b="1">
              <a:solidFill>
                <a:srgbClr val="111827"/>
              </a:solidFill>
              <a:latin typeface="Noto Sans CJK SC"/>
              <a:ea typeface="Noto Sans CJK SC"/>
              <a:cs typeface="Noto Sans CJK SC"/>
            </a:endParaRPr>
          </a:p>
        </p:txBody>
      </p:sp>
      <p:sp>
        <p:nvSpPr>
          <p:cNvPr id="672" name="矩形 38"/>
          <p:cNvSpPr>
            <a:spLocks noGrp="1"/>
          </p:cNvSpPr>
          <p:nvPr/>
        </p:nvSpPr>
        <p:spPr>
          <a:xfrm>
            <a:off x="1581150" y="29908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数据闭环</a:t>
            </a:r>
            <a:endParaRPr sz="1200" b="0">
              <a:solidFill>
                <a:srgbClr val="111827"/>
              </a:solidFill>
              <a:latin typeface="Noto Sans CJK SC"/>
              <a:ea typeface="Noto Sans CJK SC"/>
              <a:cs typeface="Noto Sans CJK SC"/>
            </a:endParaRPr>
          </a:p>
        </p:txBody>
      </p:sp>
      <p:sp>
        <p:nvSpPr>
          <p:cNvPr id="673" name="矩形 39"/>
          <p:cNvSpPr>
            <a:spLocks noGrp="1"/>
          </p:cNvSpPr>
          <p:nvPr/>
        </p:nvSpPr>
        <p:spPr>
          <a:xfrm>
            <a:off x="4267200" y="29908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74" name="矩形 40"/>
          <p:cNvSpPr>
            <a:spLocks noGrp="1"/>
          </p:cNvSpPr>
          <p:nvPr/>
        </p:nvSpPr>
        <p:spPr>
          <a:xfrm>
            <a:off x="5695950" y="29908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75" name="矩形 41"/>
          <p:cNvSpPr>
            <a:spLocks noGrp="1"/>
          </p:cNvSpPr>
          <p:nvPr/>
        </p:nvSpPr>
        <p:spPr>
          <a:xfrm>
            <a:off x="7810500" y="29908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数据工程型</a:t>
            </a:r>
            <a:endParaRPr sz="1200" b="0">
              <a:solidFill>
                <a:srgbClr val="111827"/>
              </a:solidFill>
              <a:latin typeface="Noto Sans CJK SC"/>
              <a:ea typeface="Noto Sans CJK SC"/>
              <a:cs typeface="Noto Sans CJK SC"/>
            </a:endParaRPr>
          </a:p>
        </p:txBody>
      </p:sp>
      <p:sp>
        <p:nvSpPr>
          <p:cNvPr id="676" name="矩形 42"/>
          <p:cNvSpPr>
            <a:spLocks noGrp="1"/>
          </p:cNvSpPr>
          <p:nvPr/>
        </p:nvSpPr>
        <p:spPr>
          <a:xfrm>
            <a:off x="457200" y="3257550"/>
            <a:ext cx="11277600" cy="285750"/>
          </a:xfrm>
          <a:prstGeom prst="rect">
            <a:avLst/>
          </a:prstGeom>
          <a:solidFill>
            <a:srgbClr val="FFFFFF"/>
          </a:solidFill>
          <a:ln w="9525">
            <a:solidFill>
              <a:srgbClr val="D0D5DD"/>
            </a:solidFill>
            <a:prstDash val="solid"/>
          </a:ln>
        </p:spPr>
        <p:txBody>
          <a:bodyPr/>
          <a:p/>
        </p:txBody>
      </p:sp>
      <p:sp>
        <p:nvSpPr>
          <p:cNvPr id="677" name="矩形 43"/>
          <p:cNvSpPr>
            <a:spLocks noGrp="1"/>
          </p:cNvSpPr>
          <p:nvPr/>
        </p:nvSpPr>
        <p:spPr>
          <a:xfrm>
            <a:off x="533400" y="32956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C1</a:t>
            </a:r>
            <a:endParaRPr sz="1200" b="1">
              <a:solidFill>
                <a:srgbClr val="111827"/>
              </a:solidFill>
              <a:latin typeface="Noto Sans CJK SC"/>
              <a:ea typeface="Noto Sans CJK SC"/>
              <a:cs typeface="Noto Sans CJK SC"/>
            </a:endParaRPr>
          </a:p>
        </p:txBody>
      </p:sp>
      <p:sp>
        <p:nvSpPr>
          <p:cNvPr id="678" name="矩形 44"/>
          <p:cNvSpPr>
            <a:spLocks noGrp="1"/>
          </p:cNvSpPr>
          <p:nvPr/>
        </p:nvSpPr>
        <p:spPr>
          <a:xfrm>
            <a:off x="1581150" y="32956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公平竞赛 / 调参</a:t>
            </a:r>
            <a:endParaRPr sz="1200" b="0">
              <a:solidFill>
                <a:srgbClr val="111827"/>
              </a:solidFill>
              <a:latin typeface="Noto Sans CJK SC"/>
              <a:ea typeface="Noto Sans CJK SC"/>
              <a:cs typeface="Noto Sans CJK SC"/>
            </a:endParaRPr>
          </a:p>
        </p:txBody>
      </p:sp>
      <p:sp>
        <p:nvSpPr>
          <p:cNvPr id="679" name="矩形 45"/>
          <p:cNvSpPr>
            <a:spLocks noGrp="1"/>
          </p:cNvSpPr>
          <p:nvPr/>
        </p:nvSpPr>
        <p:spPr>
          <a:xfrm>
            <a:off x="4267200" y="32956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低–中</a:t>
            </a:r>
            <a:endParaRPr sz="1200" b="0">
              <a:solidFill>
                <a:srgbClr val="111827"/>
              </a:solidFill>
              <a:latin typeface="Noto Sans CJK SC"/>
              <a:ea typeface="Noto Sans CJK SC"/>
              <a:cs typeface="Noto Sans CJK SC"/>
            </a:endParaRPr>
          </a:p>
        </p:txBody>
      </p:sp>
      <p:sp>
        <p:nvSpPr>
          <p:cNvPr id="680" name="矩形 46"/>
          <p:cNvSpPr>
            <a:spLocks noGrp="1"/>
          </p:cNvSpPr>
          <p:nvPr/>
        </p:nvSpPr>
        <p:spPr>
          <a:xfrm>
            <a:off x="5695950" y="32956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81" name="矩形 47"/>
          <p:cNvSpPr>
            <a:spLocks noGrp="1"/>
          </p:cNvSpPr>
          <p:nvPr/>
        </p:nvSpPr>
        <p:spPr>
          <a:xfrm>
            <a:off x="7810500" y="32956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竞赛协作型</a:t>
            </a:r>
            <a:endParaRPr sz="1200" b="0">
              <a:solidFill>
                <a:srgbClr val="111827"/>
              </a:solidFill>
              <a:latin typeface="Noto Sans CJK SC"/>
              <a:ea typeface="Noto Sans CJK SC"/>
              <a:cs typeface="Noto Sans CJK SC"/>
            </a:endParaRPr>
          </a:p>
        </p:txBody>
      </p:sp>
      <p:sp>
        <p:nvSpPr>
          <p:cNvPr id="682" name="矩形 48"/>
          <p:cNvSpPr>
            <a:spLocks noGrp="1"/>
          </p:cNvSpPr>
          <p:nvPr/>
        </p:nvSpPr>
        <p:spPr>
          <a:xfrm>
            <a:off x="457200" y="3562350"/>
            <a:ext cx="11277600" cy="285750"/>
          </a:xfrm>
          <a:prstGeom prst="rect">
            <a:avLst/>
          </a:prstGeom>
          <a:solidFill>
            <a:srgbClr val="F8FAFC"/>
          </a:solidFill>
          <a:ln w="9525">
            <a:solidFill>
              <a:srgbClr val="D0D5DD"/>
            </a:solidFill>
            <a:prstDash val="solid"/>
          </a:ln>
        </p:spPr>
        <p:txBody>
          <a:bodyPr/>
          <a:p/>
        </p:txBody>
      </p:sp>
      <p:sp>
        <p:nvSpPr>
          <p:cNvPr id="683" name="矩形 49"/>
          <p:cNvSpPr>
            <a:spLocks noGrp="1"/>
          </p:cNvSpPr>
          <p:nvPr/>
        </p:nvSpPr>
        <p:spPr>
          <a:xfrm>
            <a:off x="533400" y="36004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C2</a:t>
            </a:r>
            <a:endParaRPr sz="1200" b="1">
              <a:solidFill>
                <a:srgbClr val="111827"/>
              </a:solidFill>
              <a:latin typeface="Noto Sans CJK SC"/>
              <a:ea typeface="Noto Sans CJK SC"/>
              <a:cs typeface="Noto Sans CJK SC"/>
            </a:endParaRPr>
          </a:p>
        </p:txBody>
      </p:sp>
      <p:sp>
        <p:nvSpPr>
          <p:cNvPr id="684" name="矩形 50"/>
          <p:cNvSpPr>
            <a:spLocks noGrp="1"/>
          </p:cNvSpPr>
          <p:nvPr/>
        </p:nvSpPr>
        <p:spPr>
          <a:xfrm>
            <a:off x="1581150" y="36004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unified OBB 分支</a:t>
            </a:r>
            <a:endParaRPr sz="1200" b="0">
              <a:solidFill>
                <a:srgbClr val="111827"/>
              </a:solidFill>
              <a:latin typeface="Noto Sans CJK SC"/>
              <a:ea typeface="Noto Sans CJK SC"/>
              <a:cs typeface="Noto Sans CJK SC"/>
            </a:endParaRPr>
          </a:p>
        </p:txBody>
      </p:sp>
      <p:sp>
        <p:nvSpPr>
          <p:cNvPr id="685" name="矩形 51"/>
          <p:cNvSpPr>
            <a:spLocks noGrp="1"/>
          </p:cNvSpPr>
          <p:nvPr/>
        </p:nvSpPr>
        <p:spPr>
          <a:xfrm>
            <a:off x="4267200" y="36004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86" name="矩形 52"/>
          <p:cNvSpPr>
            <a:spLocks noGrp="1"/>
          </p:cNvSpPr>
          <p:nvPr/>
        </p:nvSpPr>
        <p:spPr>
          <a:xfrm>
            <a:off x="5695950" y="36004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中–高</a:t>
            </a:r>
            <a:endParaRPr sz="1200" b="0">
              <a:solidFill>
                <a:srgbClr val="111827"/>
              </a:solidFill>
              <a:latin typeface="Noto Sans CJK SC"/>
              <a:ea typeface="Noto Sans CJK SC"/>
              <a:cs typeface="Noto Sans CJK SC"/>
            </a:endParaRPr>
          </a:p>
        </p:txBody>
      </p:sp>
      <p:sp>
        <p:nvSpPr>
          <p:cNvPr id="687" name="矩形 53"/>
          <p:cNvSpPr>
            <a:spLocks noGrp="1"/>
          </p:cNvSpPr>
          <p:nvPr/>
        </p:nvSpPr>
        <p:spPr>
          <a:xfrm>
            <a:off x="7810500" y="36004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强工程型</a:t>
            </a:r>
            <a:endParaRPr sz="1200" b="0">
              <a:solidFill>
                <a:srgbClr val="111827"/>
              </a:solidFill>
              <a:latin typeface="Noto Sans CJK SC"/>
              <a:ea typeface="Noto Sans CJK SC"/>
              <a:cs typeface="Noto Sans CJK SC"/>
            </a:endParaRPr>
          </a:p>
        </p:txBody>
      </p:sp>
      <p:sp>
        <p:nvSpPr>
          <p:cNvPr id="688" name="矩形 54"/>
          <p:cNvSpPr>
            <a:spLocks noGrp="1"/>
          </p:cNvSpPr>
          <p:nvPr/>
        </p:nvSpPr>
        <p:spPr>
          <a:xfrm>
            <a:off x="457200" y="3867150"/>
            <a:ext cx="11277600" cy="285750"/>
          </a:xfrm>
          <a:prstGeom prst="rect">
            <a:avLst/>
          </a:prstGeom>
          <a:solidFill>
            <a:srgbClr val="FFFFFF"/>
          </a:solidFill>
          <a:ln w="9525">
            <a:solidFill>
              <a:srgbClr val="D0D5DD"/>
            </a:solidFill>
            <a:prstDash val="solid"/>
          </a:ln>
        </p:spPr>
        <p:txBody>
          <a:bodyPr/>
          <a:p/>
        </p:txBody>
      </p:sp>
      <p:sp>
        <p:nvSpPr>
          <p:cNvPr id="689" name="矩形 55"/>
          <p:cNvSpPr>
            <a:spLocks noGrp="1"/>
          </p:cNvSpPr>
          <p:nvPr/>
        </p:nvSpPr>
        <p:spPr>
          <a:xfrm>
            <a:off x="533400" y="39052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C3</a:t>
            </a:r>
            <a:endParaRPr sz="1200" b="1">
              <a:solidFill>
                <a:srgbClr val="111827"/>
              </a:solidFill>
              <a:latin typeface="Noto Sans CJK SC"/>
              <a:ea typeface="Noto Sans CJK SC"/>
              <a:cs typeface="Noto Sans CJK SC"/>
            </a:endParaRPr>
          </a:p>
        </p:txBody>
      </p:sp>
      <p:sp>
        <p:nvSpPr>
          <p:cNvPr id="690" name="矩形 56"/>
          <p:cNvSpPr>
            <a:spLocks noGrp="1"/>
          </p:cNvSpPr>
          <p:nvPr/>
        </p:nvSpPr>
        <p:spPr>
          <a:xfrm>
            <a:off x="1581150" y="39052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PEFT / 工业</a:t>
            </a:r>
            <a:endParaRPr sz="1200" b="0">
              <a:solidFill>
                <a:srgbClr val="111827"/>
              </a:solidFill>
              <a:latin typeface="Noto Sans CJK SC"/>
              <a:ea typeface="Noto Sans CJK SC"/>
              <a:cs typeface="Noto Sans CJK SC"/>
            </a:endParaRPr>
          </a:p>
        </p:txBody>
      </p:sp>
      <p:sp>
        <p:nvSpPr>
          <p:cNvPr id="691" name="矩形 57"/>
          <p:cNvSpPr>
            <a:spLocks noGrp="1"/>
          </p:cNvSpPr>
          <p:nvPr/>
        </p:nvSpPr>
        <p:spPr>
          <a:xfrm>
            <a:off x="4267200" y="39052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a:t>
            </a:r>
            <a:endParaRPr sz="1200" b="0">
              <a:solidFill>
                <a:srgbClr val="111827"/>
              </a:solidFill>
              <a:latin typeface="Noto Sans CJK SC"/>
              <a:ea typeface="Noto Sans CJK SC"/>
              <a:cs typeface="Noto Sans CJK SC"/>
            </a:endParaRPr>
          </a:p>
        </p:txBody>
      </p:sp>
      <p:sp>
        <p:nvSpPr>
          <p:cNvPr id="692" name="矩形 58"/>
          <p:cNvSpPr>
            <a:spLocks noGrp="1"/>
          </p:cNvSpPr>
          <p:nvPr/>
        </p:nvSpPr>
        <p:spPr>
          <a:xfrm>
            <a:off x="5695950" y="39052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低–中</a:t>
            </a:r>
            <a:endParaRPr sz="1200" b="0">
              <a:solidFill>
                <a:srgbClr val="111827"/>
              </a:solidFill>
              <a:latin typeface="Noto Sans CJK SC"/>
              <a:ea typeface="Noto Sans CJK SC"/>
              <a:cs typeface="Noto Sans CJK SC"/>
            </a:endParaRPr>
          </a:p>
        </p:txBody>
      </p:sp>
      <p:sp>
        <p:nvSpPr>
          <p:cNvPr id="693" name="矩形 59"/>
          <p:cNvSpPr>
            <a:spLocks noGrp="1"/>
          </p:cNvSpPr>
          <p:nvPr/>
        </p:nvSpPr>
        <p:spPr>
          <a:xfrm>
            <a:off x="7810500" y="39052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应用落地型</a:t>
            </a:r>
            <a:endParaRPr sz="1200" b="0">
              <a:solidFill>
                <a:srgbClr val="111827"/>
              </a:solidFill>
              <a:latin typeface="Noto Sans CJK SC"/>
              <a:ea typeface="Noto Sans CJK SC"/>
              <a:cs typeface="Noto Sans CJK SC"/>
            </a:endParaRPr>
          </a:p>
        </p:txBody>
      </p:sp>
      <p:sp>
        <p:nvSpPr>
          <p:cNvPr id="694" name="矩形 60"/>
          <p:cNvSpPr>
            <a:spLocks noGrp="1"/>
          </p:cNvSpPr>
          <p:nvPr/>
        </p:nvSpPr>
        <p:spPr>
          <a:xfrm>
            <a:off x="457200" y="4171950"/>
            <a:ext cx="11277600" cy="285750"/>
          </a:xfrm>
          <a:prstGeom prst="rect">
            <a:avLst/>
          </a:prstGeom>
          <a:solidFill>
            <a:srgbClr val="F8FAFC"/>
          </a:solidFill>
          <a:ln w="9525">
            <a:solidFill>
              <a:srgbClr val="D0D5DD"/>
            </a:solidFill>
            <a:prstDash val="solid"/>
          </a:ln>
        </p:spPr>
        <p:txBody>
          <a:bodyPr/>
          <a:p/>
        </p:txBody>
      </p:sp>
      <p:sp>
        <p:nvSpPr>
          <p:cNvPr id="695" name="矩形 61"/>
          <p:cNvSpPr>
            <a:spLocks noGrp="1"/>
          </p:cNvSpPr>
          <p:nvPr/>
        </p:nvSpPr>
        <p:spPr>
          <a:xfrm>
            <a:off x="533400" y="42100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D1</a:t>
            </a:r>
            <a:endParaRPr sz="1200" b="1">
              <a:solidFill>
                <a:srgbClr val="111827"/>
              </a:solidFill>
              <a:latin typeface="Noto Sans CJK SC"/>
              <a:ea typeface="Noto Sans CJK SC"/>
              <a:cs typeface="Noto Sans CJK SC"/>
            </a:endParaRPr>
          </a:p>
        </p:txBody>
      </p:sp>
      <p:sp>
        <p:nvSpPr>
          <p:cNvPr id="696" name="矩形 62"/>
          <p:cNvSpPr>
            <a:spLocks noGrp="1"/>
          </p:cNvSpPr>
          <p:nvPr/>
        </p:nvSpPr>
        <p:spPr>
          <a:xfrm>
            <a:off x="1581150" y="42100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基础模型适配</a:t>
            </a:r>
            <a:endParaRPr sz="1200" b="0">
              <a:solidFill>
                <a:srgbClr val="111827"/>
              </a:solidFill>
              <a:latin typeface="Noto Sans CJK SC"/>
              <a:ea typeface="Noto Sans CJK SC"/>
              <a:cs typeface="Noto Sans CJK SC"/>
            </a:endParaRPr>
          </a:p>
        </p:txBody>
      </p:sp>
      <p:sp>
        <p:nvSpPr>
          <p:cNvPr id="697" name="矩形 63"/>
          <p:cNvSpPr>
            <a:spLocks noGrp="1"/>
          </p:cNvSpPr>
          <p:nvPr/>
        </p:nvSpPr>
        <p:spPr>
          <a:xfrm>
            <a:off x="4267200" y="42100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98" name="矩形 64"/>
          <p:cNvSpPr>
            <a:spLocks noGrp="1"/>
          </p:cNvSpPr>
          <p:nvPr/>
        </p:nvSpPr>
        <p:spPr>
          <a:xfrm>
            <a:off x="5695950" y="42100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699" name="矩形 65"/>
          <p:cNvSpPr>
            <a:spLocks noGrp="1"/>
          </p:cNvSpPr>
          <p:nvPr/>
        </p:nvSpPr>
        <p:spPr>
          <a:xfrm>
            <a:off x="7810500" y="42100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性价比研究型</a:t>
            </a:r>
            <a:endParaRPr sz="1200" b="0">
              <a:solidFill>
                <a:srgbClr val="111827"/>
              </a:solidFill>
              <a:latin typeface="Noto Sans CJK SC"/>
              <a:ea typeface="Noto Sans CJK SC"/>
              <a:cs typeface="Noto Sans CJK SC"/>
            </a:endParaRPr>
          </a:p>
        </p:txBody>
      </p:sp>
      <p:sp>
        <p:nvSpPr>
          <p:cNvPr id="700" name="矩形 66"/>
          <p:cNvSpPr>
            <a:spLocks noGrp="1"/>
          </p:cNvSpPr>
          <p:nvPr/>
        </p:nvSpPr>
        <p:spPr>
          <a:xfrm>
            <a:off x="457200" y="4476750"/>
            <a:ext cx="11277600" cy="285750"/>
          </a:xfrm>
          <a:prstGeom prst="rect">
            <a:avLst/>
          </a:prstGeom>
          <a:solidFill>
            <a:srgbClr val="FFFFFF"/>
          </a:solidFill>
          <a:ln w="9525">
            <a:solidFill>
              <a:srgbClr val="D0D5DD"/>
            </a:solidFill>
            <a:prstDash val="solid"/>
          </a:ln>
        </p:spPr>
        <p:txBody>
          <a:bodyPr/>
          <a:p/>
        </p:txBody>
      </p:sp>
      <p:sp>
        <p:nvSpPr>
          <p:cNvPr id="701" name="矩形 67"/>
          <p:cNvSpPr>
            <a:spLocks noGrp="1"/>
          </p:cNvSpPr>
          <p:nvPr/>
        </p:nvSpPr>
        <p:spPr>
          <a:xfrm>
            <a:off x="533400" y="45148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D2</a:t>
            </a:r>
            <a:endParaRPr sz="1200" b="1">
              <a:solidFill>
                <a:srgbClr val="111827"/>
              </a:solidFill>
              <a:latin typeface="Noto Sans CJK SC"/>
              <a:ea typeface="Noto Sans CJK SC"/>
              <a:cs typeface="Noto Sans CJK SC"/>
            </a:endParaRPr>
          </a:p>
        </p:txBody>
      </p:sp>
      <p:sp>
        <p:nvSpPr>
          <p:cNvPr id="702" name="矩形 68"/>
          <p:cNvSpPr>
            <a:spLocks noGrp="1"/>
          </p:cNvSpPr>
          <p:nvPr/>
        </p:nvSpPr>
        <p:spPr>
          <a:xfrm>
            <a:off x="1581150" y="45148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蒸馏验证 / 消融</a:t>
            </a:r>
            <a:endParaRPr sz="1200" b="0">
              <a:solidFill>
                <a:srgbClr val="111827"/>
              </a:solidFill>
              <a:latin typeface="Noto Sans CJK SC"/>
              <a:ea typeface="Noto Sans CJK SC"/>
              <a:cs typeface="Noto Sans CJK SC"/>
            </a:endParaRPr>
          </a:p>
        </p:txBody>
      </p:sp>
      <p:sp>
        <p:nvSpPr>
          <p:cNvPr id="703" name="矩形 69"/>
          <p:cNvSpPr>
            <a:spLocks noGrp="1"/>
          </p:cNvSpPr>
          <p:nvPr/>
        </p:nvSpPr>
        <p:spPr>
          <a:xfrm>
            <a:off x="4267200" y="45148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704" name="矩形 70"/>
          <p:cNvSpPr>
            <a:spLocks noGrp="1"/>
          </p:cNvSpPr>
          <p:nvPr/>
        </p:nvSpPr>
        <p:spPr>
          <a:xfrm>
            <a:off x="5695950" y="45148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705" name="矩形 71"/>
          <p:cNvSpPr>
            <a:spLocks noGrp="1"/>
          </p:cNvSpPr>
          <p:nvPr/>
        </p:nvSpPr>
        <p:spPr>
          <a:xfrm>
            <a:off x="7810500" y="45148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实验复核型</a:t>
            </a:r>
            <a:endParaRPr sz="1200" b="0">
              <a:solidFill>
                <a:srgbClr val="111827"/>
              </a:solidFill>
              <a:latin typeface="Noto Sans CJK SC"/>
              <a:ea typeface="Noto Sans CJK SC"/>
              <a:cs typeface="Noto Sans CJK SC"/>
            </a:endParaRPr>
          </a:p>
        </p:txBody>
      </p:sp>
      <p:sp>
        <p:nvSpPr>
          <p:cNvPr id="706" name="矩形 72"/>
          <p:cNvSpPr>
            <a:spLocks noGrp="1"/>
          </p:cNvSpPr>
          <p:nvPr/>
        </p:nvSpPr>
        <p:spPr>
          <a:xfrm>
            <a:off x="457200" y="4781550"/>
            <a:ext cx="11277600" cy="285750"/>
          </a:xfrm>
          <a:prstGeom prst="rect">
            <a:avLst/>
          </a:prstGeom>
          <a:solidFill>
            <a:srgbClr val="F8FAFC"/>
          </a:solidFill>
          <a:ln w="9525">
            <a:solidFill>
              <a:srgbClr val="D0D5DD"/>
            </a:solidFill>
            <a:prstDash val="solid"/>
          </a:ln>
        </p:spPr>
        <p:txBody>
          <a:bodyPr/>
          <a:p/>
        </p:txBody>
      </p:sp>
      <p:sp>
        <p:nvSpPr>
          <p:cNvPr id="707" name="矩形 73"/>
          <p:cNvSpPr>
            <a:spLocks noGrp="1"/>
          </p:cNvSpPr>
          <p:nvPr/>
        </p:nvSpPr>
        <p:spPr>
          <a:xfrm>
            <a:off x="533400" y="48196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D92D20"/>
                </a:solidFill>
                <a:latin typeface="Noto Sans CJK SC"/>
                <a:ea typeface="Noto Sans CJK SC"/>
                <a:cs typeface="Noto Sans CJK SC"/>
              </a:defRPr>
            </a:pPr>
            <a:r>
              <a:rPr sz="1200" b="1">
                <a:solidFill>
                  <a:srgbClr val="D92D20"/>
                </a:solidFill>
                <a:latin typeface="Noto Sans CJK SC"/>
                <a:ea typeface="Noto Sans CJK SC"/>
                <a:cs typeface="Noto Sans CJK SC"/>
              </a:rPr>
              <a:t>F11</a:t>
            </a:r>
            <a:endParaRPr sz="1200" b="1">
              <a:solidFill>
                <a:srgbClr val="D92D20"/>
              </a:solidFill>
              <a:latin typeface="Noto Sans CJK SC"/>
              <a:ea typeface="Noto Sans CJK SC"/>
              <a:cs typeface="Noto Sans CJK SC"/>
            </a:endParaRPr>
          </a:p>
        </p:txBody>
      </p:sp>
      <p:sp>
        <p:nvSpPr>
          <p:cNvPr id="708" name="矩形 74"/>
          <p:cNvSpPr>
            <a:spLocks noGrp="1"/>
          </p:cNvSpPr>
          <p:nvPr/>
        </p:nvSpPr>
        <p:spPr>
          <a:xfrm>
            <a:off x="1581150" y="48196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D92D20"/>
                </a:solidFill>
                <a:latin typeface="Noto Sans CJK SC"/>
                <a:ea typeface="Noto Sans CJK SC"/>
                <a:cs typeface="Noto Sans CJK SC"/>
              </a:defRPr>
            </a:pPr>
            <a:r>
              <a:rPr sz="1200" b="0">
                <a:solidFill>
                  <a:srgbClr val="D92D20"/>
                </a:solidFill>
                <a:latin typeface="Noto Sans CJK SC"/>
                <a:ea typeface="Noto Sans CJK SC"/>
                <a:cs typeface="Noto Sans CJK SC"/>
              </a:rPr>
              <a:t>路由 KD 验证</a:t>
            </a:r>
            <a:endParaRPr sz="1200" b="0">
              <a:solidFill>
                <a:srgbClr val="D92D20"/>
              </a:solidFill>
              <a:latin typeface="Noto Sans CJK SC"/>
              <a:ea typeface="Noto Sans CJK SC"/>
              <a:cs typeface="Noto Sans CJK SC"/>
            </a:endParaRPr>
          </a:p>
        </p:txBody>
      </p:sp>
      <p:sp>
        <p:nvSpPr>
          <p:cNvPr id="709" name="矩形 75"/>
          <p:cNvSpPr>
            <a:spLocks noGrp="1"/>
          </p:cNvSpPr>
          <p:nvPr/>
        </p:nvSpPr>
        <p:spPr>
          <a:xfrm>
            <a:off x="4267200" y="48196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D92D20"/>
                </a:solidFill>
                <a:latin typeface="Noto Sans CJK SC"/>
                <a:ea typeface="Noto Sans CJK SC"/>
                <a:cs typeface="Noto Sans CJK SC"/>
              </a:defRPr>
            </a:pPr>
            <a:r>
              <a:rPr sz="1200" b="0">
                <a:solidFill>
                  <a:srgbClr val="D92D20"/>
                </a:solidFill>
                <a:latin typeface="Noto Sans CJK SC"/>
                <a:ea typeface="Noto Sans CJK SC"/>
                <a:cs typeface="Noto Sans CJK SC"/>
              </a:rPr>
              <a:t>中–高</a:t>
            </a:r>
            <a:endParaRPr sz="1200" b="0">
              <a:solidFill>
                <a:srgbClr val="D92D20"/>
              </a:solidFill>
              <a:latin typeface="Noto Sans CJK SC"/>
              <a:ea typeface="Noto Sans CJK SC"/>
              <a:cs typeface="Noto Sans CJK SC"/>
            </a:endParaRPr>
          </a:p>
        </p:txBody>
      </p:sp>
      <p:sp>
        <p:nvSpPr>
          <p:cNvPr id="710" name="矩形 76"/>
          <p:cNvSpPr>
            <a:spLocks noGrp="1"/>
          </p:cNvSpPr>
          <p:nvPr/>
        </p:nvSpPr>
        <p:spPr>
          <a:xfrm>
            <a:off x="5695950" y="48196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D92D20"/>
                </a:solidFill>
                <a:latin typeface="Noto Sans CJK SC"/>
                <a:ea typeface="Noto Sans CJK SC"/>
                <a:cs typeface="Noto Sans CJK SC"/>
              </a:defRPr>
            </a:pPr>
            <a:r>
              <a:rPr sz="1200" b="0">
                <a:solidFill>
                  <a:srgbClr val="D92D20"/>
                </a:solidFill>
                <a:latin typeface="Noto Sans CJK SC"/>
                <a:ea typeface="Noto Sans CJK SC"/>
                <a:cs typeface="Noto Sans CJK SC"/>
              </a:rPr>
              <a:t>中</a:t>
            </a:r>
            <a:endParaRPr sz="1200" b="0">
              <a:solidFill>
                <a:srgbClr val="D92D20"/>
              </a:solidFill>
              <a:latin typeface="Noto Sans CJK SC"/>
              <a:ea typeface="Noto Sans CJK SC"/>
              <a:cs typeface="Noto Sans CJK SC"/>
            </a:endParaRPr>
          </a:p>
        </p:txBody>
      </p:sp>
      <p:sp>
        <p:nvSpPr>
          <p:cNvPr id="711" name="矩形 77"/>
          <p:cNvSpPr>
            <a:spLocks noGrp="1"/>
          </p:cNvSpPr>
          <p:nvPr/>
        </p:nvSpPr>
        <p:spPr>
          <a:xfrm>
            <a:off x="7810500" y="48196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D92D20"/>
                </a:solidFill>
                <a:latin typeface="Noto Sans CJK SC"/>
                <a:ea typeface="Noto Sans CJK SC"/>
                <a:cs typeface="Noto Sans CJK SC"/>
              </a:defRPr>
            </a:pPr>
            <a:r>
              <a:rPr sz="1200" b="0">
                <a:solidFill>
                  <a:srgbClr val="D92D20"/>
                </a:solidFill>
                <a:latin typeface="Noto Sans CJK SC"/>
                <a:ea typeface="Noto Sans CJK SC"/>
                <a:cs typeface="Noto Sans CJK SC"/>
              </a:rPr>
              <a:t>机制验证型</a:t>
            </a:r>
            <a:endParaRPr sz="1200" b="0">
              <a:solidFill>
                <a:srgbClr val="D92D20"/>
              </a:solidFill>
              <a:latin typeface="Noto Sans CJK SC"/>
              <a:ea typeface="Noto Sans CJK SC"/>
              <a:cs typeface="Noto Sans CJK SC"/>
            </a:endParaRPr>
          </a:p>
        </p:txBody>
      </p:sp>
      <p:sp>
        <p:nvSpPr>
          <p:cNvPr id="712" name="矩形 78"/>
          <p:cNvSpPr>
            <a:spLocks noGrp="1"/>
          </p:cNvSpPr>
          <p:nvPr/>
        </p:nvSpPr>
        <p:spPr>
          <a:xfrm>
            <a:off x="457200" y="5086350"/>
            <a:ext cx="11277600" cy="285750"/>
          </a:xfrm>
          <a:prstGeom prst="rect">
            <a:avLst/>
          </a:prstGeom>
          <a:solidFill>
            <a:srgbClr val="FFFFFF"/>
          </a:solidFill>
          <a:ln w="9525">
            <a:solidFill>
              <a:srgbClr val="D0D5DD"/>
            </a:solidFill>
            <a:prstDash val="solid"/>
          </a:ln>
        </p:spPr>
        <p:txBody>
          <a:bodyPr/>
          <a:p/>
        </p:txBody>
      </p:sp>
      <p:sp>
        <p:nvSpPr>
          <p:cNvPr id="713" name="矩形 79"/>
          <p:cNvSpPr>
            <a:spLocks noGrp="1"/>
          </p:cNvSpPr>
          <p:nvPr/>
        </p:nvSpPr>
        <p:spPr>
          <a:xfrm>
            <a:off x="533400" y="51244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E1</a:t>
            </a:r>
            <a:endParaRPr sz="1200" b="1">
              <a:solidFill>
                <a:srgbClr val="111827"/>
              </a:solidFill>
              <a:latin typeface="Noto Sans CJK SC"/>
              <a:ea typeface="Noto Sans CJK SC"/>
              <a:cs typeface="Noto Sans CJK SC"/>
            </a:endParaRPr>
          </a:p>
        </p:txBody>
      </p:sp>
      <p:sp>
        <p:nvSpPr>
          <p:cNvPr id="714" name="矩形 80"/>
          <p:cNvSpPr>
            <a:spLocks noGrp="1"/>
          </p:cNvSpPr>
          <p:nvPr/>
        </p:nvSpPr>
        <p:spPr>
          <a:xfrm>
            <a:off x="1581150" y="51244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插件 / 社区</a:t>
            </a:r>
            <a:endParaRPr sz="1200" b="0">
              <a:solidFill>
                <a:srgbClr val="111827"/>
              </a:solidFill>
              <a:latin typeface="Noto Sans CJK SC"/>
              <a:ea typeface="Noto Sans CJK SC"/>
              <a:cs typeface="Noto Sans CJK SC"/>
            </a:endParaRPr>
          </a:p>
        </p:txBody>
      </p:sp>
      <p:sp>
        <p:nvSpPr>
          <p:cNvPr id="715" name="矩形 81"/>
          <p:cNvSpPr>
            <a:spLocks noGrp="1"/>
          </p:cNvSpPr>
          <p:nvPr/>
        </p:nvSpPr>
        <p:spPr>
          <a:xfrm>
            <a:off x="4267200" y="51244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高</a:t>
            </a:r>
            <a:endParaRPr sz="1200" b="0">
              <a:solidFill>
                <a:srgbClr val="111827"/>
              </a:solidFill>
              <a:latin typeface="Noto Sans CJK SC"/>
              <a:ea typeface="Noto Sans CJK SC"/>
              <a:cs typeface="Noto Sans CJK SC"/>
            </a:endParaRPr>
          </a:p>
        </p:txBody>
      </p:sp>
      <p:sp>
        <p:nvSpPr>
          <p:cNvPr id="716" name="矩形 82"/>
          <p:cNvSpPr>
            <a:spLocks noGrp="1"/>
          </p:cNvSpPr>
          <p:nvPr/>
        </p:nvSpPr>
        <p:spPr>
          <a:xfrm>
            <a:off x="5695950" y="51244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717" name="矩形 83"/>
          <p:cNvSpPr>
            <a:spLocks noGrp="1"/>
          </p:cNvSpPr>
          <p:nvPr/>
        </p:nvSpPr>
        <p:spPr>
          <a:xfrm>
            <a:off x="7810500" y="51244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开源产品型</a:t>
            </a:r>
            <a:endParaRPr sz="1200" b="0">
              <a:solidFill>
                <a:srgbClr val="111827"/>
              </a:solidFill>
              <a:latin typeface="Noto Sans CJK SC"/>
              <a:ea typeface="Noto Sans CJK SC"/>
              <a:cs typeface="Noto Sans CJK SC"/>
            </a:endParaRPr>
          </a:p>
        </p:txBody>
      </p:sp>
      <p:sp>
        <p:nvSpPr>
          <p:cNvPr id="718" name="矩形 84"/>
          <p:cNvSpPr>
            <a:spLocks noGrp="1"/>
          </p:cNvSpPr>
          <p:nvPr/>
        </p:nvSpPr>
        <p:spPr>
          <a:xfrm>
            <a:off x="457200" y="5391150"/>
            <a:ext cx="11277600" cy="285750"/>
          </a:xfrm>
          <a:prstGeom prst="rect">
            <a:avLst/>
          </a:prstGeom>
          <a:solidFill>
            <a:srgbClr val="F8FAFC"/>
          </a:solidFill>
          <a:ln w="9525">
            <a:solidFill>
              <a:srgbClr val="D0D5DD"/>
            </a:solidFill>
            <a:prstDash val="solid"/>
          </a:ln>
        </p:spPr>
        <p:txBody>
          <a:bodyPr/>
          <a:p/>
        </p:txBody>
      </p:sp>
      <p:sp>
        <p:nvSpPr>
          <p:cNvPr id="719" name="矩形 85"/>
          <p:cNvSpPr>
            <a:spLocks noGrp="1"/>
          </p:cNvSpPr>
          <p:nvPr/>
        </p:nvSpPr>
        <p:spPr>
          <a:xfrm>
            <a:off x="533400" y="54292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E2</a:t>
            </a:r>
            <a:endParaRPr sz="1200" b="1">
              <a:solidFill>
                <a:srgbClr val="111827"/>
              </a:solidFill>
              <a:latin typeface="Noto Sans CJK SC"/>
              <a:ea typeface="Noto Sans CJK SC"/>
              <a:cs typeface="Noto Sans CJK SC"/>
            </a:endParaRPr>
          </a:p>
        </p:txBody>
      </p:sp>
      <p:sp>
        <p:nvSpPr>
          <p:cNvPr id="720" name="矩形 86"/>
          <p:cNvSpPr>
            <a:spLocks noGrp="1"/>
          </p:cNvSpPr>
          <p:nvPr/>
        </p:nvSpPr>
        <p:spPr>
          <a:xfrm>
            <a:off x="1581150" y="54292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统计复测</a:t>
            </a:r>
            <a:endParaRPr sz="1200" b="0">
              <a:solidFill>
                <a:srgbClr val="111827"/>
              </a:solidFill>
              <a:latin typeface="Noto Sans CJK SC"/>
              <a:ea typeface="Noto Sans CJK SC"/>
              <a:cs typeface="Noto Sans CJK SC"/>
            </a:endParaRPr>
          </a:p>
        </p:txBody>
      </p:sp>
      <p:sp>
        <p:nvSpPr>
          <p:cNvPr id="721" name="矩形 87"/>
          <p:cNvSpPr>
            <a:spLocks noGrp="1"/>
          </p:cNvSpPr>
          <p:nvPr/>
        </p:nvSpPr>
        <p:spPr>
          <a:xfrm>
            <a:off x="4267200" y="54292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高</a:t>
            </a:r>
            <a:endParaRPr sz="1200" b="0">
              <a:solidFill>
                <a:srgbClr val="111827"/>
              </a:solidFill>
              <a:latin typeface="Noto Sans CJK SC"/>
              <a:ea typeface="Noto Sans CJK SC"/>
              <a:cs typeface="Noto Sans CJK SC"/>
            </a:endParaRPr>
          </a:p>
        </p:txBody>
      </p:sp>
      <p:sp>
        <p:nvSpPr>
          <p:cNvPr id="722" name="矩形 88"/>
          <p:cNvSpPr>
            <a:spLocks noGrp="1"/>
          </p:cNvSpPr>
          <p:nvPr/>
        </p:nvSpPr>
        <p:spPr>
          <a:xfrm>
            <a:off x="5695950" y="54292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中</a:t>
            </a:r>
            <a:endParaRPr sz="1200" b="0">
              <a:solidFill>
                <a:srgbClr val="111827"/>
              </a:solidFill>
              <a:latin typeface="Noto Sans CJK SC"/>
              <a:ea typeface="Noto Sans CJK SC"/>
              <a:cs typeface="Noto Sans CJK SC"/>
            </a:endParaRPr>
          </a:p>
        </p:txBody>
      </p:sp>
      <p:sp>
        <p:nvSpPr>
          <p:cNvPr id="723" name="矩形 89"/>
          <p:cNvSpPr>
            <a:spLocks noGrp="1"/>
          </p:cNvSpPr>
          <p:nvPr/>
        </p:nvSpPr>
        <p:spPr>
          <a:xfrm>
            <a:off x="7810500" y="54292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严谨评测型</a:t>
            </a:r>
            <a:endParaRPr sz="1200" b="0">
              <a:solidFill>
                <a:srgbClr val="111827"/>
              </a:solidFill>
              <a:latin typeface="Noto Sans CJK SC"/>
              <a:ea typeface="Noto Sans CJK SC"/>
              <a:cs typeface="Noto Sans CJK SC"/>
            </a:endParaRPr>
          </a:p>
        </p:txBody>
      </p:sp>
      <p:sp>
        <p:nvSpPr>
          <p:cNvPr id="724" name="矩形 90"/>
          <p:cNvSpPr>
            <a:spLocks noGrp="1"/>
          </p:cNvSpPr>
          <p:nvPr/>
        </p:nvSpPr>
        <p:spPr>
          <a:xfrm>
            <a:off x="457200" y="5695950"/>
            <a:ext cx="11277600" cy="285750"/>
          </a:xfrm>
          <a:prstGeom prst="rect">
            <a:avLst/>
          </a:prstGeom>
          <a:solidFill>
            <a:srgbClr val="FFFFFF"/>
          </a:solidFill>
          <a:ln w="9525">
            <a:solidFill>
              <a:srgbClr val="D0D5DD"/>
            </a:solidFill>
            <a:prstDash val="solid"/>
          </a:ln>
        </p:spPr>
        <p:txBody>
          <a:bodyPr/>
          <a:p/>
        </p:txBody>
      </p:sp>
      <p:sp>
        <p:nvSpPr>
          <p:cNvPr id="725" name="矩形 91"/>
          <p:cNvSpPr>
            <a:spLocks noGrp="1"/>
          </p:cNvSpPr>
          <p:nvPr/>
        </p:nvSpPr>
        <p:spPr>
          <a:xfrm>
            <a:off x="533400" y="5734050"/>
            <a:ext cx="895350" cy="209550"/>
          </a:xfrm>
          <a:prstGeom prst="rect">
            <a:avLst/>
          </a:prstGeom>
          <a:noFill/>
          <a:ln w="0">
            <a:noFill/>
            <a:prstDash val="solid"/>
          </a:ln>
        </p:spPr>
        <p:txBody>
          <a:bodyPr wrap="square" lIns="0" tIns="0" rIns="0" bIns="0" anchor="ctr">
            <a:normAutofit/>
          </a:bodyPr>
          <a:lstStyle/>
          <a:p>
            <a:pPr algn="ctr">
              <a:lnSpc>
                <a:spcPct val="108000"/>
              </a:lnSpc>
              <a:buNone/>
              <a:defRPr sz="1200" b="1">
                <a:solidFill>
                  <a:srgbClr val="111827"/>
                </a:solidFill>
                <a:latin typeface="Noto Sans CJK SC"/>
                <a:ea typeface="Noto Sans CJK SC"/>
                <a:cs typeface="Noto Sans CJK SC"/>
              </a:defRPr>
            </a:pPr>
            <a:r>
              <a:rPr sz="1200" b="1">
                <a:solidFill>
                  <a:srgbClr val="111827"/>
                </a:solidFill>
                <a:latin typeface="Noto Sans CJK SC"/>
                <a:ea typeface="Noto Sans CJK SC"/>
                <a:cs typeface="Noto Sans CJK SC"/>
              </a:rPr>
              <a:t>E3</a:t>
            </a:r>
            <a:endParaRPr sz="1200" b="1">
              <a:solidFill>
                <a:srgbClr val="111827"/>
              </a:solidFill>
              <a:latin typeface="Noto Sans CJK SC"/>
              <a:ea typeface="Noto Sans CJK SC"/>
              <a:cs typeface="Noto Sans CJK SC"/>
            </a:endParaRPr>
          </a:p>
        </p:txBody>
      </p:sp>
      <p:sp>
        <p:nvSpPr>
          <p:cNvPr id="726" name="矩形 92"/>
          <p:cNvSpPr>
            <a:spLocks noGrp="1"/>
          </p:cNvSpPr>
          <p:nvPr/>
        </p:nvSpPr>
        <p:spPr>
          <a:xfrm>
            <a:off x="1581150" y="5734050"/>
            <a:ext cx="25336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诊断 / 可视化</a:t>
            </a:r>
            <a:endParaRPr sz="1200" b="0">
              <a:solidFill>
                <a:srgbClr val="111827"/>
              </a:solidFill>
              <a:latin typeface="Noto Sans CJK SC"/>
              <a:ea typeface="Noto Sans CJK SC"/>
              <a:cs typeface="Noto Sans CJK SC"/>
            </a:endParaRPr>
          </a:p>
        </p:txBody>
      </p:sp>
      <p:sp>
        <p:nvSpPr>
          <p:cNvPr id="727" name="矩形 93"/>
          <p:cNvSpPr>
            <a:spLocks noGrp="1"/>
          </p:cNvSpPr>
          <p:nvPr/>
        </p:nvSpPr>
        <p:spPr>
          <a:xfrm>
            <a:off x="4267200" y="5734050"/>
            <a:ext cx="12763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a:t>
            </a:r>
            <a:endParaRPr sz="1200" b="0">
              <a:solidFill>
                <a:srgbClr val="111827"/>
              </a:solidFill>
              <a:latin typeface="Noto Sans CJK SC"/>
              <a:ea typeface="Noto Sans CJK SC"/>
              <a:cs typeface="Noto Sans CJK SC"/>
            </a:endParaRPr>
          </a:p>
        </p:txBody>
      </p:sp>
      <p:sp>
        <p:nvSpPr>
          <p:cNvPr id="728" name="矩形 94"/>
          <p:cNvSpPr>
            <a:spLocks noGrp="1"/>
          </p:cNvSpPr>
          <p:nvPr/>
        </p:nvSpPr>
        <p:spPr>
          <a:xfrm>
            <a:off x="5695950" y="5734050"/>
            <a:ext cx="196215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低–中</a:t>
            </a:r>
            <a:endParaRPr sz="1200" b="0">
              <a:solidFill>
                <a:srgbClr val="111827"/>
              </a:solidFill>
              <a:latin typeface="Noto Sans CJK SC"/>
              <a:ea typeface="Noto Sans CJK SC"/>
              <a:cs typeface="Noto Sans CJK SC"/>
            </a:endParaRPr>
          </a:p>
        </p:txBody>
      </p:sp>
      <p:sp>
        <p:nvSpPr>
          <p:cNvPr id="729" name="矩形 95"/>
          <p:cNvSpPr>
            <a:spLocks noGrp="1"/>
          </p:cNvSpPr>
          <p:nvPr/>
        </p:nvSpPr>
        <p:spPr>
          <a:xfrm>
            <a:off x="7810500" y="5734050"/>
            <a:ext cx="3848100" cy="209550"/>
          </a:xfrm>
          <a:prstGeom prst="rect">
            <a:avLst/>
          </a:prstGeom>
          <a:noFill/>
          <a:ln w="0">
            <a:noFill/>
            <a:prstDash val="solid"/>
          </a:ln>
        </p:spPr>
        <p:txBody>
          <a:bodyPr wrap="square" lIns="0" tIns="0" rIns="0" bIns="0" anchor="ctr">
            <a:normAutofit/>
          </a:bodyPr>
          <a:lstStyle/>
          <a:p>
            <a:pPr algn="l">
              <a:lnSpc>
                <a:spcPct val="108000"/>
              </a:lnSpc>
              <a:buNone/>
              <a:defRPr sz="1200" b="0">
                <a:solidFill>
                  <a:srgbClr val="111827"/>
                </a:solidFill>
                <a:latin typeface="Noto Sans CJK SC"/>
                <a:ea typeface="Noto Sans CJK SC"/>
                <a:cs typeface="Noto Sans CJK SC"/>
              </a:defRPr>
            </a:pPr>
            <a:r>
              <a:rPr sz="1200" b="0">
                <a:solidFill>
                  <a:srgbClr val="111827"/>
                </a:solidFill>
                <a:latin typeface="Noto Sans CJK SC"/>
                <a:ea typeface="Noto Sans CJK SC"/>
                <a:cs typeface="Noto Sans CJK SC"/>
              </a:rPr>
              <a:t>工程展示型</a:t>
            </a:r>
            <a:endParaRPr sz="1200" b="0">
              <a:solidFill>
                <a:srgbClr val="111827"/>
              </a:solidFill>
              <a:latin typeface="Noto Sans CJK SC"/>
              <a:ea typeface="Noto Sans CJK SC"/>
              <a:cs typeface="Noto Sans CJK SC"/>
            </a:endParaRPr>
          </a:p>
        </p:txBody>
      </p:sp>
      <p:sp>
        <p:nvSpPr>
          <p:cNvPr id="730" name="矩形 96"/>
          <p:cNvSpPr>
            <a:spLocks noGrp="1"/>
          </p:cNvSpPr>
          <p:nvPr/>
        </p:nvSpPr>
        <p:spPr>
          <a:xfrm>
            <a:off x="457200" y="6115050"/>
            <a:ext cx="8191500" cy="190500"/>
          </a:xfrm>
          <a:prstGeom prst="rect">
            <a:avLst/>
          </a:prstGeom>
          <a:noFill/>
          <a:ln w="0">
            <a:noFill/>
            <a:prstDash val="solid"/>
          </a:ln>
        </p:spPr>
        <p:txBody>
          <a:bodyPr wrap="square" lIns="0" tIns="0" rIns="0" bIns="0" anchor="t">
            <a:normAutofit/>
          </a:bodyPr>
          <a:lstStyle/>
          <a:p>
            <a:pPr algn="l">
              <a:lnSpc>
                <a:spcPct val="108000"/>
              </a:lnSpc>
              <a:buNone/>
              <a:defRPr sz="1050" b="0">
                <a:solidFill>
                  <a:srgbClr val="667085"/>
                </a:solidFill>
                <a:latin typeface="Noto Sans CJK SC"/>
                <a:ea typeface="Noto Sans CJK SC"/>
                <a:cs typeface="Noto Sans CJK SC"/>
              </a:defRPr>
            </a:pPr>
            <a:r>
              <a:rPr sz="1050" b="0">
                <a:solidFill>
                  <a:srgbClr val="667085"/>
                </a:solidFill>
                <a:latin typeface="Noto Sans CJK SC"/>
                <a:ea typeface="Noto Sans CJK SC"/>
                <a:cs typeface="Noto Sans CJK SC"/>
              </a:rPr>
              <a:t>短周期优先：A2/A3/C3/E3/F1；F2/F3 仅在 GPU 与后端环境齐备后开放。</a:t>
            </a:r>
            <a:endParaRPr sz="1050" b="0">
              <a:solidFill>
                <a:srgbClr val="667085"/>
              </a:solidFill>
              <a:latin typeface="Noto Sans CJK SC"/>
              <a:ea typeface="Noto Sans CJK SC"/>
              <a:cs typeface="Noto Sans CJK SC"/>
            </a:endParaRPr>
          </a:p>
        </p:txBody>
      </p:sp>
    </p:spTree>
  </p:cSld>
  <p:clrMapOvr>
    <a:masterClrMapping/>
  </p:clrMapOvr>
</p:sld>
</file>

<file path=ppt/slides/slide37.xml><?xml version="1.0" encoding="utf-8"?>
<p:sld xmlns:a="http://schemas.openxmlformats.org/drawingml/2006/main" xmlns:p="http://schemas.openxmlformats.org/presentationml/2006/main">
  <p:cSld>
    <p:bg>
      <p:bgPr>
        <a:solidFill>
          <a:srgbClr val="FFFFFF"/>
        </a:solidFill>
        <a:effectLst/>
      </p:bgPr>
    </p:bg>
    <p:spTree>
      <p:nvGrpSpPr>
        <p:cNvPr id="731" name=""/>
        <p:cNvGrpSpPr/>
        <p:nvPr/>
      </p:nvGrpSpPr>
      <p:grpSpPr>
        <a:xfrm>
          <a:off x="0" y="0"/>
          <a:ext cx="0" cy="0"/>
          <a:chOff x="0" y="0"/>
          <a:chExt cx="0" cy="0"/>
        </a:xfrm>
      </p:grpSpPr>
      <p:sp>
        <p:nvSpPr>
          <p:cNvPr id="732" name="矩形 2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D92D20"/>
                </a:solidFill>
                <a:latin typeface="Noto Sans CJK SC"/>
                <a:ea typeface="Noto Sans CJK SC"/>
                <a:cs typeface="Noto Sans CJK SC"/>
              </a:defRPr>
            </a:pPr>
            <a:r>
              <a:rPr sz="1125" b="1">
                <a:solidFill>
                  <a:srgbClr val="D92D20"/>
                </a:solidFill>
                <a:latin typeface="Noto Sans CJK SC"/>
                <a:ea typeface="Noto Sans CJK SC"/>
                <a:cs typeface="Noto Sans CJK SC"/>
              </a:rPr>
              <a:t>ACCEPTANCE REDLINES</a:t>
            </a:r>
            <a:endParaRPr sz="1125" b="1">
              <a:solidFill>
                <a:srgbClr val="D92D20"/>
              </a:solidFill>
              <a:latin typeface="Noto Sans CJK SC"/>
              <a:ea typeface="Noto Sans CJK SC"/>
              <a:cs typeface="Noto Sans CJK SC"/>
            </a:endParaRPr>
          </a:p>
        </p:txBody>
      </p:sp>
      <p:sp>
        <p:nvSpPr>
          <p:cNvPr id="733"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提交开题与结项前，只检查这七件事</a:t>
            </a:r>
            <a:endParaRPr sz="3000" b="1">
              <a:solidFill>
                <a:srgbClr val="111827"/>
              </a:solidFill>
              <a:latin typeface="Noto Sans CJK SC"/>
              <a:ea typeface="Noto Sans CJK SC"/>
              <a:cs typeface="Noto Sans CJK SC"/>
            </a:endParaRPr>
          </a:p>
        </p:txBody>
      </p:sp>
      <p:sp>
        <p:nvSpPr>
          <p:cNvPr id="734"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735"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736" name="矩形 4"/>
          <p:cNvSpPr>
            <a:spLocks noGrp="1"/>
          </p:cNvSpPr>
          <p:nvPr/>
        </p:nvSpPr>
        <p:spPr>
          <a:xfrm>
            <a:off x="11068050" y="6438900"/>
            <a:ext cx="419100" cy="28575"/>
          </a:xfrm>
          <a:prstGeom prst="rect">
            <a:avLst/>
          </a:prstGeom>
          <a:solidFill>
            <a:srgbClr val="D92D20"/>
          </a:solidFill>
          <a:ln w="9525">
            <a:solidFill>
              <a:srgbClr val="D92D20"/>
            </a:solidFill>
            <a:prstDash val="solid"/>
          </a:ln>
        </p:spPr>
        <p:txBody>
          <a:bodyPr/>
          <a:p/>
        </p:txBody>
      </p:sp>
      <p:sp>
        <p:nvSpPr>
          <p:cNvPr id="737"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35</a:t>
            </a:r>
            <a:endParaRPr sz="975" b="1">
              <a:solidFill>
                <a:srgbClr val="667085"/>
              </a:solidFill>
              <a:latin typeface="Noto Sans CJK SC"/>
              <a:ea typeface="Noto Sans CJK SC"/>
              <a:cs typeface="Noto Sans CJK SC"/>
            </a:endParaRPr>
          </a:p>
        </p:txBody>
      </p:sp>
      <p:sp>
        <p:nvSpPr>
          <p:cNvPr id="738" name="矩形 6"/>
          <p:cNvSpPr>
            <a:spLocks noGrp="1"/>
          </p:cNvSpPr>
          <p:nvPr/>
        </p:nvSpPr>
        <p:spPr>
          <a:xfrm>
            <a:off x="457200" y="1466850"/>
            <a:ext cx="95250" cy="400050"/>
          </a:xfrm>
          <a:prstGeom prst="rect">
            <a:avLst/>
          </a:prstGeom>
          <a:solidFill>
            <a:srgbClr val="1769FF"/>
          </a:solidFill>
          <a:ln w="9525">
            <a:solidFill>
              <a:srgbClr val="1769FF"/>
            </a:solidFill>
            <a:prstDash val="solid"/>
          </a:ln>
        </p:spPr>
        <p:txBody>
          <a:bodyPr/>
          <a:p/>
        </p:txBody>
      </p:sp>
      <p:sp>
        <p:nvSpPr>
          <p:cNvPr id="739" name="矩形 7"/>
          <p:cNvSpPr>
            <a:spLocks noGrp="1"/>
          </p:cNvSpPr>
          <p:nvPr/>
        </p:nvSpPr>
        <p:spPr>
          <a:xfrm>
            <a:off x="781050" y="14954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01  复现命令与配置文件路径齐全</a:t>
            </a:r>
            <a:endParaRPr sz="1500" b="0">
              <a:solidFill>
                <a:srgbClr val="111827"/>
              </a:solidFill>
              <a:latin typeface="Noto Sans CJK SC"/>
              <a:ea typeface="Noto Sans CJK SC"/>
              <a:cs typeface="Noto Sans CJK SC"/>
            </a:endParaRPr>
          </a:p>
        </p:txBody>
      </p:sp>
      <p:sp>
        <p:nvSpPr>
          <p:cNvPr id="740" name="矩形 8"/>
          <p:cNvSpPr>
            <a:spLocks noGrp="1"/>
          </p:cNvSpPr>
          <p:nvPr/>
        </p:nvSpPr>
        <p:spPr>
          <a:xfrm>
            <a:off x="457200" y="2114550"/>
            <a:ext cx="95250" cy="400050"/>
          </a:xfrm>
          <a:prstGeom prst="rect">
            <a:avLst/>
          </a:prstGeom>
          <a:solidFill>
            <a:srgbClr val="1769FF"/>
          </a:solidFill>
          <a:ln w="9525">
            <a:solidFill>
              <a:srgbClr val="1769FF"/>
            </a:solidFill>
            <a:prstDash val="solid"/>
          </a:ln>
        </p:spPr>
        <p:txBody>
          <a:bodyPr/>
          <a:p/>
        </p:txBody>
      </p:sp>
      <p:sp>
        <p:nvSpPr>
          <p:cNvPr id="741" name="矩形 9"/>
          <p:cNvSpPr>
            <a:spLocks noGrp="1"/>
          </p:cNvSpPr>
          <p:nvPr/>
        </p:nvSpPr>
        <p:spPr>
          <a:xfrm>
            <a:off x="781050" y="21431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02  基线固定到 tag/commit；禁止只写 main/HEAD</a:t>
            </a:r>
            <a:endParaRPr sz="1500" b="0">
              <a:solidFill>
                <a:srgbClr val="111827"/>
              </a:solidFill>
              <a:latin typeface="Noto Sans CJK SC"/>
              <a:ea typeface="Noto Sans CJK SC"/>
              <a:cs typeface="Noto Sans CJK SC"/>
            </a:endParaRPr>
          </a:p>
        </p:txBody>
      </p:sp>
      <p:sp>
        <p:nvSpPr>
          <p:cNvPr id="742" name="矩形 10"/>
          <p:cNvSpPr>
            <a:spLocks noGrp="1"/>
          </p:cNvSpPr>
          <p:nvPr/>
        </p:nvSpPr>
        <p:spPr>
          <a:xfrm>
            <a:off x="457200" y="2762250"/>
            <a:ext cx="95250" cy="400050"/>
          </a:xfrm>
          <a:prstGeom prst="rect">
            <a:avLst/>
          </a:prstGeom>
          <a:solidFill>
            <a:srgbClr val="1769FF"/>
          </a:solidFill>
          <a:ln w="9525">
            <a:solidFill>
              <a:srgbClr val="1769FF"/>
            </a:solidFill>
            <a:prstDash val="solid"/>
          </a:ln>
        </p:spPr>
        <p:txBody>
          <a:bodyPr/>
          <a:p/>
        </p:txBody>
      </p:sp>
      <p:sp>
        <p:nvSpPr>
          <p:cNvPr id="743" name="矩形 11"/>
          <p:cNvSpPr>
            <a:spLocks noGrp="1"/>
          </p:cNvSpPr>
          <p:nvPr/>
        </p:nvSpPr>
        <p:spPr>
          <a:xfrm>
            <a:off x="781050" y="27908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03  “提升/下降”有 ≥3 seed，或明确声明单 seed 局限</a:t>
            </a:r>
            <a:endParaRPr sz="1500" b="0">
              <a:solidFill>
                <a:srgbClr val="111827"/>
              </a:solidFill>
              <a:latin typeface="Noto Sans CJK SC"/>
              <a:ea typeface="Noto Sans CJK SC"/>
              <a:cs typeface="Noto Sans CJK SC"/>
            </a:endParaRPr>
          </a:p>
        </p:txBody>
      </p:sp>
      <p:sp>
        <p:nvSpPr>
          <p:cNvPr id="744" name="矩形 12"/>
          <p:cNvSpPr>
            <a:spLocks noGrp="1"/>
          </p:cNvSpPr>
          <p:nvPr/>
        </p:nvSpPr>
        <p:spPr>
          <a:xfrm>
            <a:off x="457200" y="3409950"/>
            <a:ext cx="95250" cy="400050"/>
          </a:xfrm>
          <a:prstGeom prst="rect">
            <a:avLst/>
          </a:prstGeom>
          <a:solidFill>
            <a:srgbClr val="1769FF"/>
          </a:solidFill>
          <a:ln w="9525">
            <a:solidFill>
              <a:srgbClr val="1769FF"/>
            </a:solidFill>
            <a:prstDash val="solid"/>
          </a:ln>
        </p:spPr>
        <p:txBody>
          <a:bodyPr/>
          <a:p/>
        </p:txBody>
      </p:sp>
      <p:sp>
        <p:nvSpPr>
          <p:cNvPr id="745" name="矩形 13"/>
          <p:cNvSpPr>
            <a:spLocks noGrp="1"/>
          </p:cNvSpPr>
          <p:nvPr/>
        </p:nvSpPr>
        <p:spPr>
          <a:xfrm>
            <a:off x="781050" y="34385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04  对照实验预算、数据、增广与评测口径一致</a:t>
            </a:r>
            <a:endParaRPr sz="1500" b="0">
              <a:solidFill>
                <a:srgbClr val="111827"/>
              </a:solidFill>
              <a:latin typeface="Noto Sans CJK SC"/>
              <a:ea typeface="Noto Sans CJK SC"/>
              <a:cs typeface="Noto Sans CJK SC"/>
            </a:endParaRPr>
          </a:p>
        </p:txBody>
      </p:sp>
      <p:sp>
        <p:nvSpPr>
          <p:cNvPr id="746" name="矩形 14"/>
          <p:cNvSpPr>
            <a:spLocks noGrp="1"/>
          </p:cNvSpPr>
          <p:nvPr/>
        </p:nvSpPr>
        <p:spPr>
          <a:xfrm>
            <a:off x="457200" y="4057650"/>
            <a:ext cx="95250" cy="400050"/>
          </a:xfrm>
          <a:prstGeom prst="rect">
            <a:avLst/>
          </a:prstGeom>
          <a:solidFill>
            <a:srgbClr val="1769FF"/>
          </a:solidFill>
          <a:ln w="9525">
            <a:solidFill>
              <a:srgbClr val="1769FF"/>
            </a:solidFill>
            <a:prstDash val="solid"/>
          </a:ln>
        </p:spPr>
        <p:txBody>
          <a:bodyPr/>
          <a:p/>
        </p:txBody>
      </p:sp>
      <p:sp>
        <p:nvSpPr>
          <p:cNvPr id="747" name="矩形 15"/>
          <p:cNvSpPr>
            <a:spLocks noGrp="1"/>
          </p:cNvSpPr>
          <p:nvPr/>
        </p:nvSpPr>
        <p:spPr>
          <a:xfrm>
            <a:off x="781050" y="40862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05  负结果预先有判读标准，结论有原因证据链</a:t>
            </a:r>
            <a:endParaRPr sz="1500" b="0">
              <a:solidFill>
                <a:srgbClr val="111827"/>
              </a:solidFill>
              <a:latin typeface="Noto Sans CJK SC"/>
              <a:ea typeface="Noto Sans CJK SC"/>
              <a:cs typeface="Noto Sans CJK SC"/>
            </a:endParaRPr>
          </a:p>
        </p:txBody>
      </p:sp>
      <p:sp>
        <p:nvSpPr>
          <p:cNvPr id="748" name="矩形 16"/>
          <p:cNvSpPr>
            <a:spLocks noGrp="1"/>
          </p:cNvSpPr>
          <p:nvPr/>
        </p:nvSpPr>
        <p:spPr>
          <a:xfrm>
            <a:off x="457200" y="4705350"/>
            <a:ext cx="95250" cy="400050"/>
          </a:xfrm>
          <a:prstGeom prst="rect">
            <a:avLst/>
          </a:prstGeom>
          <a:solidFill>
            <a:srgbClr val="1769FF"/>
          </a:solidFill>
          <a:ln w="9525">
            <a:solidFill>
              <a:srgbClr val="1769FF"/>
            </a:solidFill>
            <a:prstDash val="solid"/>
          </a:ln>
        </p:spPr>
        <p:txBody>
          <a:bodyPr/>
          <a:p/>
        </p:txBody>
      </p:sp>
      <p:sp>
        <p:nvSpPr>
          <p:cNvPr id="749" name="矩形 17"/>
          <p:cNvSpPr>
            <a:spLocks noGrp="1"/>
          </p:cNvSpPr>
          <p:nvPr/>
        </p:nvSpPr>
        <p:spPr>
          <a:xfrm>
            <a:off x="781050" y="47339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06  PR 描述包含：改动摘要 / 测试证据 / 消融数据 / 已知局限</a:t>
            </a:r>
            <a:endParaRPr sz="1500" b="0">
              <a:solidFill>
                <a:srgbClr val="111827"/>
              </a:solidFill>
              <a:latin typeface="Noto Sans CJK SC"/>
              <a:ea typeface="Noto Sans CJK SC"/>
              <a:cs typeface="Noto Sans CJK SC"/>
            </a:endParaRPr>
          </a:p>
        </p:txBody>
      </p:sp>
      <p:sp>
        <p:nvSpPr>
          <p:cNvPr id="750" name="矩形 18"/>
          <p:cNvSpPr>
            <a:spLocks noGrp="1"/>
          </p:cNvSpPr>
          <p:nvPr/>
        </p:nvSpPr>
        <p:spPr>
          <a:xfrm>
            <a:off x="457200" y="5353050"/>
            <a:ext cx="95250" cy="400050"/>
          </a:xfrm>
          <a:prstGeom prst="rect">
            <a:avLst/>
          </a:prstGeom>
          <a:solidFill>
            <a:srgbClr val="D92D20"/>
          </a:solidFill>
          <a:ln w="9525">
            <a:solidFill>
              <a:srgbClr val="D92D20"/>
            </a:solidFill>
            <a:prstDash val="solid"/>
          </a:ln>
        </p:spPr>
        <p:txBody>
          <a:bodyPr/>
          <a:p/>
        </p:txBody>
      </p:sp>
      <p:sp>
        <p:nvSpPr>
          <p:cNvPr id="751" name="矩形 19"/>
          <p:cNvSpPr>
            <a:spLocks noGrp="1"/>
          </p:cNvSpPr>
          <p:nvPr/>
        </p:nvSpPr>
        <p:spPr>
          <a:xfrm>
            <a:off x="781050" y="53816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D92D20"/>
                </a:solidFill>
                <a:latin typeface="Noto Sans CJK SC"/>
                <a:ea typeface="Noto Sans CJK SC"/>
                <a:cs typeface="Noto Sans CJK SC"/>
              </a:defRPr>
            </a:pPr>
            <a:r>
              <a:rPr sz="1500" b="1">
                <a:solidFill>
                  <a:srgbClr val="D92D20"/>
                </a:solidFill>
                <a:latin typeface="Noto Sans CJK SC"/>
                <a:ea typeface="Noto Sans CJK SC"/>
                <a:cs typeface="Noto Sans CJK SC"/>
              </a:rPr>
              <a:t>07  README 与源码成熟度差异已标注；禁止沿用历史行号和旧能力判断</a:t>
            </a:r>
            <a:endParaRPr sz="1500" b="1">
              <a:solidFill>
                <a:srgbClr val="D92D20"/>
              </a:solidFill>
              <a:latin typeface="Noto Sans CJK SC"/>
              <a:ea typeface="Noto Sans CJK SC"/>
              <a:cs typeface="Noto Sans CJK SC"/>
            </a:endParaRPr>
          </a:p>
        </p:txBody>
      </p:sp>
    </p:spTree>
  </p:cSld>
  <p:clrMapOvr>
    <a:masterClrMapping/>
  </p:clrMapOvr>
</p:sld>
</file>

<file path=ppt/slides/slide38.xml><?xml version="1.0" encoding="utf-8"?>
<p:sld xmlns:a="http://schemas.openxmlformats.org/drawingml/2006/main" xmlns:p="http://schemas.openxmlformats.org/presentationml/2006/main">
  <p:cSld>
    <p:bg>
      <p:bgPr>
        <a:solidFill>
          <a:srgbClr val="FFFFFF"/>
        </a:solidFill>
        <a:effectLst/>
      </p:bgPr>
    </p:bg>
    <p:spTree>
      <p:nvGrpSpPr>
        <p:cNvPr id="752" name=""/>
        <p:cNvGrpSpPr/>
        <p:nvPr/>
      </p:nvGrpSpPr>
      <p:grpSpPr>
        <a:xfrm>
          <a:off x="0" y="0"/>
          <a:ext cx="0" cy="0"/>
          <a:chOff x="0" y="0"/>
          <a:chExt cx="0" cy="0"/>
        </a:xfrm>
      </p:grpSpPr>
      <p:sp>
        <p:nvSpPr>
          <p:cNvPr id="753" name="矩形 3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1769FF"/>
                </a:solidFill>
                <a:latin typeface="Noto Sans CJK SC"/>
                <a:ea typeface="Noto Sans CJK SC"/>
                <a:cs typeface="Noto Sans CJK SC"/>
              </a:defRPr>
            </a:pPr>
            <a:r>
              <a:rPr sz="1125" b="1">
                <a:solidFill>
                  <a:srgbClr val="1769FF"/>
                </a:solidFill>
                <a:latin typeface="Noto Sans CJK SC"/>
                <a:ea typeface="Noto Sans CJK SC"/>
                <a:cs typeface="Noto Sans CJK SC"/>
              </a:rPr>
              <a:t>TOPIC MATCHING</a:t>
            </a:r>
            <a:endParaRPr sz="1125" b="1">
              <a:solidFill>
                <a:srgbClr val="1769FF"/>
              </a:solidFill>
              <a:latin typeface="Noto Sans CJK SC"/>
              <a:ea typeface="Noto Sans CJK SC"/>
              <a:cs typeface="Noto Sans CJK SC"/>
            </a:endParaRPr>
          </a:p>
        </p:txBody>
      </p:sp>
      <p:sp>
        <p:nvSpPr>
          <p:cNvPr id="754"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选题分两阶段：个人报三志愿，组队后锁定一主一备</a:t>
            </a:r>
            <a:endParaRPr sz="3000" b="1">
              <a:solidFill>
                <a:srgbClr val="111827"/>
              </a:solidFill>
              <a:latin typeface="Noto Sans CJK SC"/>
              <a:ea typeface="Noto Sans CJK SC"/>
              <a:cs typeface="Noto Sans CJK SC"/>
            </a:endParaRPr>
          </a:p>
        </p:txBody>
      </p:sp>
      <p:sp>
        <p:nvSpPr>
          <p:cNvPr id="755"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756"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757" name="矩形 4"/>
          <p:cNvSpPr>
            <a:spLocks noGrp="1"/>
          </p:cNvSpPr>
          <p:nvPr/>
        </p:nvSpPr>
        <p:spPr>
          <a:xfrm>
            <a:off x="11068050" y="6438900"/>
            <a:ext cx="419100" cy="28575"/>
          </a:xfrm>
          <a:prstGeom prst="rect">
            <a:avLst/>
          </a:prstGeom>
          <a:solidFill>
            <a:srgbClr val="1769FF"/>
          </a:solidFill>
          <a:ln w="9525">
            <a:solidFill>
              <a:srgbClr val="1769FF"/>
            </a:solidFill>
            <a:prstDash val="solid"/>
          </a:ln>
        </p:spPr>
        <p:txBody>
          <a:bodyPr/>
          <a:p/>
        </p:txBody>
      </p:sp>
      <p:sp>
        <p:nvSpPr>
          <p:cNvPr id="758"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36</a:t>
            </a:r>
            <a:endParaRPr sz="975" b="1">
              <a:solidFill>
                <a:srgbClr val="667085"/>
              </a:solidFill>
              <a:latin typeface="Noto Sans CJK SC"/>
              <a:ea typeface="Noto Sans CJK SC"/>
              <a:cs typeface="Noto Sans CJK SC"/>
            </a:endParaRPr>
          </a:p>
        </p:txBody>
      </p:sp>
      <p:sp>
        <p:nvSpPr>
          <p:cNvPr id="759" name="圆角矩形 6"/>
          <p:cNvSpPr>
            <a:spLocks noGrp="1"/>
          </p:cNvSpPr>
          <p:nvPr/>
        </p:nvSpPr>
        <p:spPr>
          <a:xfrm>
            <a:off x="457200" y="15240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760" name="矩形 7"/>
          <p:cNvSpPr>
            <a:spLocks noGrp="1"/>
          </p:cNvSpPr>
          <p:nvPr/>
        </p:nvSpPr>
        <p:spPr>
          <a:xfrm>
            <a:off x="590550" y="16097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个人填报</a:t>
            </a:r>
            <a:endParaRPr sz="1500" b="1">
              <a:solidFill>
                <a:srgbClr val="1769FF"/>
              </a:solidFill>
              <a:latin typeface="Noto Sans CJK SC"/>
              <a:ea typeface="Noto Sans CJK SC"/>
              <a:cs typeface="Noto Sans CJK SC"/>
            </a:endParaRPr>
          </a:p>
        </p:txBody>
      </p:sp>
      <p:sp>
        <p:nvSpPr>
          <p:cNvPr id="761" name="矩形 8"/>
          <p:cNvSpPr>
            <a:spLocks noGrp="1"/>
          </p:cNvSpPr>
          <p:nvPr/>
        </p:nvSpPr>
        <p:spPr>
          <a:xfrm>
            <a:off x="3143250" y="16097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提交第1/第2/第3志愿；同步登记技能、每周投入、GPU与数据条件。</a:t>
            </a:r>
            <a:endParaRPr sz="1350" b="0">
              <a:solidFill>
                <a:srgbClr val="111827"/>
              </a:solidFill>
              <a:latin typeface="Noto Sans CJK SC"/>
              <a:ea typeface="Noto Sans CJK SC"/>
              <a:cs typeface="Noto Sans CJK SC"/>
            </a:endParaRPr>
          </a:p>
        </p:txBody>
      </p:sp>
      <p:sp>
        <p:nvSpPr>
          <p:cNvPr id="762" name="矩形 9"/>
          <p:cNvSpPr>
            <a:spLocks noGrp="1"/>
          </p:cNvSpPr>
          <p:nvPr/>
        </p:nvSpPr>
        <p:spPr>
          <a:xfrm>
            <a:off x="3143250" y="2143125"/>
            <a:ext cx="8191500" cy="9525"/>
          </a:xfrm>
          <a:prstGeom prst="rect">
            <a:avLst/>
          </a:prstGeom>
          <a:solidFill>
            <a:srgbClr val="D0D5DD"/>
          </a:solidFill>
          <a:ln w="9525">
            <a:solidFill>
              <a:srgbClr val="D0D5DD"/>
            </a:solidFill>
            <a:prstDash val="solid"/>
          </a:ln>
        </p:spPr>
        <p:txBody>
          <a:bodyPr/>
          <a:p/>
        </p:txBody>
      </p:sp>
      <p:sp>
        <p:nvSpPr>
          <p:cNvPr id="763" name="圆角矩形 10"/>
          <p:cNvSpPr>
            <a:spLocks noGrp="1"/>
          </p:cNvSpPr>
          <p:nvPr/>
        </p:nvSpPr>
        <p:spPr>
          <a:xfrm>
            <a:off x="457200" y="22669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764" name="矩形 11"/>
          <p:cNvSpPr>
            <a:spLocks noGrp="1"/>
          </p:cNvSpPr>
          <p:nvPr/>
        </p:nvSpPr>
        <p:spPr>
          <a:xfrm>
            <a:off x="590550" y="23526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导师撮合</a:t>
            </a:r>
            <a:endParaRPr sz="1500" b="1">
              <a:solidFill>
                <a:srgbClr val="111827"/>
              </a:solidFill>
              <a:latin typeface="Noto Sans CJK SC"/>
              <a:ea typeface="Noto Sans CJK SC"/>
              <a:cs typeface="Noto Sans CJK SC"/>
            </a:endParaRPr>
          </a:p>
        </p:txBody>
      </p:sp>
      <p:sp>
        <p:nvSpPr>
          <p:cNvPr id="765" name="矩形 12"/>
          <p:cNvSpPr>
            <a:spLocks noGrp="1"/>
          </p:cNvSpPr>
          <p:nvPr/>
        </p:nvSpPr>
        <p:spPr>
          <a:xfrm>
            <a:off x="3143250" y="23526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综合志愿顺序、技能匹配、课题容量、算力资源和团队结构进行撮合。</a:t>
            </a:r>
            <a:endParaRPr sz="1350" b="0">
              <a:solidFill>
                <a:srgbClr val="111827"/>
              </a:solidFill>
              <a:latin typeface="Noto Sans CJK SC"/>
              <a:ea typeface="Noto Sans CJK SC"/>
              <a:cs typeface="Noto Sans CJK SC"/>
            </a:endParaRPr>
          </a:p>
        </p:txBody>
      </p:sp>
      <p:sp>
        <p:nvSpPr>
          <p:cNvPr id="766" name="矩形 13"/>
          <p:cNvSpPr>
            <a:spLocks noGrp="1"/>
          </p:cNvSpPr>
          <p:nvPr/>
        </p:nvSpPr>
        <p:spPr>
          <a:xfrm>
            <a:off x="3143250" y="2886075"/>
            <a:ext cx="8191500" cy="9525"/>
          </a:xfrm>
          <a:prstGeom prst="rect">
            <a:avLst/>
          </a:prstGeom>
          <a:solidFill>
            <a:srgbClr val="D0D5DD"/>
          </a:solidFill>
          <a:ln w="9525">
            <a:solidFill>
              <a:srgbClr val="D0D5DD"/>
            </a:solidFill>
            <a:prstDash val="solid"/>
          </a:ln>
        </p:spPr>
        <p:txBody>
          <a:bodyPr/>
          <a:p/>
        </p:txBody>
      </p:sp>
      <p:sp>
        <p:nvSpPr>
          <p:cNvPr id="767" name="圆角矩形 14"/>
          <p:cNvSpPr>
            <a:spLocks noGrp="1"/>
          </p:cNvSpPr>
          <p:nvPr/>
        </p:nvSpPr>
        <p:spPr>
          <a:xfrm>
            <a:off x="457200" y="30099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768" name="矩形 15"/>
          <p:cNvSpPr>
            <a:spLocks noGrp="1"/>
          </p:cNvSpPr>
          <p:nvPr/>
        </p:nvSpPr>
        <p:spPr>
          <a:xfrm>
            <a:off x="590550" y="30956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团队确认</a:t>
            </a:r>
            <a:endParaRPr sz="1500" b="1">
              <a:solidFill>
                <a:srgbClr val="1769FF"/>
              </a:solidFill>
              <a:latin typeface="Noto Sans CJK SC"/>
              <a:ea typeface="Noto Sans CJK SC"/>
              <a:cs typeface="Noto Sans CJK SC"/>
            </a:endParaRPr>
          </a:p>
        </p:txBody>
      </p:sp>
      <p:sp>
        <p:nvSpPr>
          <p:cNvPr id="769" name="矩形 16"/>
          <p:cNvSpPr>
            <a:spLocks noGrp="1"/>
          </p:cNvSpPr>
          <p:nvPr/>
        </p:nvSpPr>
        <p:spPr>
          <a:xfrm>
            <a:off x="3143250" y="30956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每组锁定1个主选 + 1个备选/降级方向；明确Owner、成员与分工。</a:t>
            </a:r>
            <a:endParaRPr sz="1350" b="0">
              <a:solidFill>
                <a:srgbClr val="111827"/>
              </a:solidFill>
              <a:latin typeface="Noto Sans CJK SC"/>
              <a:ea typeface="Noto Sans CJK SC"/>
              <a:cs typeface="Noto Sans CJK SC"/>
            </a:endParaRPr>
          </a:p>
        </p:txBody>
      </p:sp>
      <p:sp>
        <p:nvSpPr>
          <p:cNvPr id="770" name="矩形 17"/>
          <p:cNvSpPr>
            <a:spLocks noGrp="1"/>
          </p:cNvSpPr>
          <p:nvPr/>
        </p:nvSpPr>
        <p:spPr>
          <a:xfrm>
            <a:off x="3143250" y="3629025"/>
            <a:ext cx="8191500" cy="9525"/>
          </a:xfrm>
          <a:prstGeom prst="rect">
            <a:avLst/>
          </a:prstGeom>
          <a:solidFill>
            <a:srgbClr val="D0D5DD"/>
          </a:solidFill>
          <a:ln w="9525">
            <a:solidFill>
              <a:srgbClr val="D0D5DD"/>
            </a:solidFill>
            <a:prstDash val="solid"/>
          </a:ln>
        </p:spPr>
        <p:txBody>
          <a:bodyPr/>
          <a:p/>
        </p:txBody>
      </p:sp>
      <p:sp>
        <p:nvSpPr>
          <p:cNvPr id="771" name="圆角矩形 18"/>
          <p:cNvSpPr>
            <a:spLocks noGrp="1"/>
          </p:cNvSpPr>
          <p:nvPr/>
        </p:nvSpPr>
        <p:spPr>
          <a:xfrm>
            <a:off x="457200" y="37528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772" name="矩形 19"/>
          <p:cNvSpPr>
            <a:spLocks noGrp="1"/>
          </p:cNvSpPr>
          <p:nvPr/>
        </p:nvSpPr>
        <p:spPr>
          <a:xfrm>
            <a:off x="590550" y="38385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准入准备</a:t>
            </a:r>
            <a:endParaRPr sz="1500" b="1">
              <a:solidFill>
                <a:srgbClr val="111827"/>
              </a:solidFill>
              <a:latin typeface="Noto Sans CJK SC"/>
              <a:ea typeface="Noto Sans CJK SC"/>
              <a:cs typeface="Noto Sans CJK SC"/>
            </a:endParaRPr>
          </a:p>
        </p:txBody>
      </p:sp>
      <p:sp>
        <p:nvSpPr>
          <p:cNvPr id="773" name="矩形 20"/>
          <p:cNvSpPr>
            <a:spLocks noGrp="1"/>
          </p:cNvSpPr>
          <p:nvPr/>
        </p:nvSpPr>
        <p:spPr>
          <a:xfrm>
            <a:off x="3143250" y="38385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登记tag/commit、P0验收线、复现命令、GPU时段和数据路径。</a:t>
            </a:r>
            <a:endParaRPr sz="1350" b="0">
              <a:solidFill>
                <a:srgbClr val="111827"/>
              </a:solidFill>
              <a:latin typeface="Noto Sans CJK SC"/>
              <a:ea typeface="Noto Sans CJK SC"/>
              <a:cs typeface="Noto Sans CJK SC"/>
            </a:endParaRPr>
          </a:p>
        </p:txBody>
      </p:sp>
      <p:sp>
        <p:nvSpPr>
          <p:cNvPr id="774" name="矩形 21"/>
          <p:cNvSpPr>
            <a:spLocks noGrp="1"/>
          </p:cNvSpPr>
          <p:nvPr/>
        </p:nvSpPr>
        <p:spPr>
          <a:xfrm>
            <a:off x="3143250" y="4371975"/>
            <a:ext cx="8191500" cy="9525"/>
          </a:xfrm>
          <a:prstGeom prst="rect">
            <a:avLst/>
          </a:prstGeom>
          <a:solidFill>
            <a:srgbClr val="D0D5DD"/>
          </a:solidFill>
          <a:ln w="9525">
            <a:solidFill>
              <a:srgbClr val="D0D5DD"/>
            </a:solidFill>
            <a:prstDash val="solid"/>
          </a:ln>
        </p:spPr>
        <p:txBody>
          <a:bodyPr/>
          <a:p/>
        </p:txBody>
      </p:sp>
      <p:sp>
        <p:nvSpPr>
          <p:cNvPr id="775" name="圆角矩形 22"/>
          <p:cNvSpPr>
            <a:spLocks noGrp="1"/>
          </p:cNvSpPr>
          <p:nvPr/>
        </p:nvSpPr>
        <p:spPr>
          <a:xfrm>
            <a:off x="457200" y="4495800"/>
            <a:ext cx="2381250" cy="533400"/>
          </a:xfrm>
          <a:prstGeom prst="roundRect">
            <a:avLst>
              <a:gd name="adj" fmla="val 14286"/>
            </a:avLst>
          </a:prstGeom>
          <a:solidFill>
            <a:srgbClr val="EAF2FF"/>
          </a:solidFill>
          <a:ln w="9525">
            <a:solidFill>
              <a:srgbClr val="1769FF"/>
            </a:solidFill>
            <a:prstDash val="solid"/>
          </a:ln>
        </p:spPr>
        <p:txBody>
          <a:bodyPr/>
          <a:p/>
        </p:txBody>
      </p:sp>
      <p:sp>
        <p:nvSpPr>
          <p:cNvPr id="776" name="矩形 23"/>
          <p:cNvSpPr>
            <a:spLocks noGrp="1"/>
          </p:cNvSpPr>
          <p:nvPr/>
        </p:nvSpPr>
        <p:spPr>
          <a:xfrm>
            <a:off x="590550" y="458152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769FF"/>
                </a:solidFill>
                <a:latin typeface="Noto Sans CJK SC"/>
                <a:ea typeface="Noto Sans CJK SC"/>
                <a:cs typeface="Noto Sans CJK SC"/>
              </a:defRPr>
            </a:pPr>
            <a:r>
              <a:rPr sz="1500" b="1">
                <a:solidFill>
                  <a:srgbClr val="1769FF"/>
                </a:solidFill>
                <a:latin typeface="Noto Sans CJK SC"/>
                <a:ea typeface="Noto Sans CJK SC"/>
                <a:cs typeface="Noto Sans CJK SC"/>
              </a:rPr>
              <a:t>正式开题</a:t>
            </a:r>
            <a:endParaRPr sz="1500" b="1">
              <a:solidFill>
                <a:srgbClr val="1769FF"/>
              </a:solidFill>
              <a:latin typeface="Noto Sans CJK SC"/>
              <a:ea typeface="Noto Sans CJK SC"/>
              <a:cs typeface="Noto Sans CJK SC"/>
            </a:endParaRPr>
          </a:p>
        </p:txBody>
      </p:sp>
      <p:sp>
        <p:nvSpPr>
          <p:cNvPr id="777" name="矩形 24"/>
          <p:cNvSpPr>
            <a:spLocks noGrp="1"/>
          </p:cNvSpPr>
          <p:nvPr/>
        </p:nvSpPr>
        <p:spPr>
          <a:xfrm>
            <a:off x="3143250" y="458152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8.24准入通过后启动完整实验；未通过则切备选或降级。</a:t>
            </a:r>
            <a:endParaRPr sz="1350" b="0">
              <a:solidFill>
                <a:srgbClr val="111827"/>
              </a:solidFill>
              <a:latin typeface="Noto Sans CJK SC"/>
              <a:ea typeface="Noto Sans CJK SC"/>
              <a:cs typeface="Noto Sans CJK SC"/>
            </a:endParaRPr>
          </a:p>
        </p:txBody>
      </p:sp>
      <p:sp>
        <p:nvSpPr>
          <p:cNvPr id="778" name="矩形 25"/>
          <p:cNvSpPr>
            <a:spLocks noGrp="1"/>
          </p:cNvSpPr>
          <p:nvPr/>
        </p:nvSpPr>
        <p:spPr>
          <a:xfrm>
            <a:off x="3143250" y="5114925"/>
            <a:ext cx="8191500" cy="9525"/>
          </a:xfrm>
          <a:prstGeom prst="rect">
            <a:avLst/>
          </a:prstGeom>
          <a:solidFill>
            <a:srgbClr val="D0D5DD"/>
          </a:solidFill>
          <a:ln w="9525">
            <a:solidFill>
              <a:srgbClr val="D0D5DD"/>
            </a:solidFill>
            <a:prstDash val="solid"/>
          </a:ln>
        </p:spPr>
        <p:txBody>
          <a:bodyPr/>
          <a:p/>
        </p:txBody>
      </p:sp>
      <p:sp>
        <p:nvSpPr>
          <p:cNvPr id="779" name="圆角矩形 26"/>
          <p:cNvSpPr>
            <a:spLocks noGrp="1"/>
          </p:cNvSpPr>
          <p:nvPr/>
        </p:nvSpPr>
        <p:spPr>
          <a:xfrm>
            <a:off x="457200" y="5238750"/>
            <a:ext cx="2381250" cy="533400"/>
          </a:xfrm>
          <a:prstGeom prst="roundRect">
            <a:avLst>
              <a:gd name="adj" fmla="val 14286"/>
            </a:avLst>
          </a:prstGeom>
          <a:solidFill>
            <a:srgbClr val="F2F4F7"/>
          </a:solidFill>
          <a:ln w="9525">
            <a:solidFill>
              <a:srgbClr val="F2F4F7"/>
            </a:solidFill>
            <a:prstDash val="solid"/>
          </a:ln>
        </p:spPr>
        <p:txBody>
          <a:bodyPr/>
          <a:p/>
        </p:txBody>
      </p:sp>
      <p:sp>
        <p:nvSpPr>
          <p:cNvPr id="780" name="矩形 27"/>
          <p:cNvSpPr>
            <a:spLocks noGrp="1"/>
          </p:cNvSpPr>
          <p:nvPr/>
        </p:nvSpPr>
        <p:spPr>
          <a:xfrm>
            <a:off x="590550" y="5324475"/>
            <a:ext cx="2114550" cy="361950"/>
          </a:xfrm>
          <a:prstGeom prst="rect">
            <a:avLst/>
          </a:prstGeom>
          <a:noFill/>
          <a:ln w="0">
            <a:noFill/>
            <a:prstDash val="solid"/>
          </a:ln>
        </p:spPr>
        <p:txBody>
          <a:bodyPr wrap="square" lIns="0" tIns="0" rIns="0" bIns="0" anchor="ctr">
            <a:normAutofit/>
          </a:bodyPr>
          <a:lstStyle/>
          <a:p>
            <a:pPr algn="ctr">
              <a:lnSpc>
                <a:spcPct val="108000"/>
              </a:lnSpc>
              <a:buNone/>
              <a:defRPr sz="1500" b="1">
                <a:solidFill>
                  <a:srgbClr val="111827"/>
                </a:solidFill>
                <a:latin typeface="Noto Sans CJK SC"/>
                <a:ea typeface="Noto Sans CJK SC"/>
                <a:cs typeface="Noto Sans CJK SC"/>
              </a:defRPr>
            </a:pPr>
            <a:r>
              <a:rPr sz="1500" b="1">
                <a:solidFill>
                  <a:srgbClr val="111827"/>
                </a:solidFill>
                <a:latin typeface="Noto Sans CJK SC"/>
                <a:ea typeface="Noto Sans CJK SC"/>
                <a:cs typeface="Noto Sans CJK SC"/>
              </a:rPr>
              <a:t>结项验收</a:t>
            </a:r>
            <a:endParaRPr sz="1500" b="1">
              <a:solidFill>
                <a:srgbClr val="111827"/>
              </a:solidFill>
              <a:latin typeface="Noto Sans CJK SC"/>
              <a:ea typeface="Noto Sans CJK SC"/>
              <a:cs typeface="Noto Sans CJK SC"/>
            </a:endParaRPr>
          </a:p>
        </p:txBody>
      </p:sp>
      <p:sp>
        <p:nvSpPr>
          <p:cNvPr id="781" name="矩形 28"/>
          <p:cNvSpPr>
            <a:spLocks noGrp="1"/>
          </p:cNvSpPr>
          <p:nvPr/>
        </p:nvSpPr>
        <p:spPr>
          <a:xfrm>
            <a:off x="3143250" y="5324475"/>
            <a:ext cx="8191500" cy="381000"/>
          </a:xfrm>
          <a:prstGeom prst="rect">
            <a:avLst/>
          </a:prstGeom>
          <a:noFill/>
          <a:ln w="0">
            <a:noFill/>
            <a:prstDash val="solid"/>
          </a:ln>
        </p:spPr>
        <p:txBody>
          <a:bodyPr wrap="square" lIns="0" tIns="0" rIns="0" bIns="0" anchor="t">
            <a:normAutofit/>
          </a:bodyPr>
          <a:lstStyle/>
          <a:p>
            <a:pPr algn="l">
              <a:lnSpc>
                <a:spcPct val="108000"/>
              </a:lnSpc>
              <a:buNone/>
              <a:defRPr sz="1350" b="0">
                <a:solidFill>
                  <a:srgbClr val="111827"/>
                </a:solidFill>
                <a:latin typeface="Noto Sans CJK SC"/>
                <a:ea typeface="Noto Sans CJK SC"/>
                <a:cs typeface="Noto Sans CJK SC"/>
              </a:defRPr>
            </a:pPr>
            <a:r>
              <a:rPr sz="1350" b="0">
                <a:solidFill>
                  <a:srgbClr val="111827"/>
                </a:solidFill>
                <a:latin typeface="Noto Sans CJK SC"/>
                <a:ea typeface="Noto Sans CJK SC"/>
                <a:cs typeface="Noto Sans CJK SC"/>
              </a:rPr>
              <a:t>9.13–9.14按P0/P1/P2内部技术分级验收；官方等级以计划评审为准。</a:t>
            </a:r>
            <a:endParaRPr sz="1350" b="0">
              <a:solidFill>
                <a:srgbClr val="111827"/>
              </a:solidFill>
              <a:latin typeface="Noto Sans CJK SC"/>
              <a:ea typeface="Noto Sans CJK SC"/>
              <a:cs typeface="Noto Sans CJK SC"/>
            </a:endParaRPr>
          </a:p>
        </p:txBody>
      </p:sp>
      <p:sp>
        <p:nvSpPr>
          <p:cNvPr id="782" name="矩形 29"/>
          <p:cNvSpPr>
            <a:spLocks noGrp="1"/>
          </p:cNvSpPr>
          <p:nvPr/>
        </p:nvSpPr>
        <p:spPr>
          <a:xfrm>
            <a:off x="457200" y="5981700"/>
            <a:ext cx="10477500" cy="285750"/>
          </a:xfrm>
          <a:prstGeom prst="rect">
            <a:avLst/>
          </a:prstGeom>
          <a:noFill/>
          <a:ln w="0">
            <a:noFill/>
            <a:prstDash val="solid"/>
          </a:ln>
        </p:spPr>
        <p:txBody>
          <a:bodyPr wrap="square" lIns="0" tIns="0" rIns="0" bIns="0" anchor="t">
            <a:normAutofit/>
          </a:bodyPr>
          <a:lstStyle/>
          <a:p>
            <a:pPr algn="l">
              <a:lnSpc>
                <a:spcPct val="108000"/>
              </a:lnSpc>
              <a:buNone/>
              <a:defRPr sz="1275" b="1">
                <a:solidFill>
                  <a:srgbClr val="667085"/>
                </a:solidFill>
                <a:latin typeface="Noto Sans CJK SC"/>
                <a:ea typeface="Noto Sans CJK SC"/>
                <a:cs typeface="Noto Sans CJK SC"/>
              </a:defRPr>
            </a:pPr>
            <a:r>
              <a:rPr sz="1275" b="1">
                <a:solidFill>
                  <a:srgbClr val="667085"/>
                </a:solidFill>
                <a:latin typeface="Noto Sans CJK SC"/>
                <a:ea typeface="Noto Sans CJK SC"/>
                <a:cs typeface="Noto Sans CJK SC"/>
              </a:rPr>
              <a:t>原则：尊重志愿，但不按“先到先得”机械分配；避免同题拥挤与公共课题无人负责。</a:t>
            </a:r>
            <a:endParaRPr sz="1275" b="1">
              <a:solidFill>
                <a:srgbClr val="667085"/>
              </a:solidFill>
              <a:latin typeface="Noto Sans CJK SC"/>
              <a:ea typeface="Noto Sans CJK SC"/>
              <a:cs typeface="Noto Sans CJK SC"/>
            </a:endParaRPr>
          </a:p>
        </p:txBody>
      </p:sp>
    </p:spTree>
  </p:cSld>
  <p:clrMapOvr>
    <a:masterClrMapping/>
  </p:clrMapOvr>
</p:sld>
</file>

<file path=ppt/slides/slide39.xml><?xml version="1.0" encoding="utf-8"?>
<p:sld xmlns:a="http://schemas.openxmlformats.org/drawingml/2006/main" xmlns:p="http://schemas.openxmlformats.org/presentationml/2006/main">
  <p:cSld>
    <p:bg>
      <p:bgPr>
        <a:solidFill>
          <a:srgbClr val="FFFFFF"/>
        </a:solidFill>
        <a:effectLst/>
      </p:bgPr>
    </p:bg>
    <p:spTree>
      <p:nvGrpSpPr>
        <p:cNvPr id="783" name=""/>
        <p:cNvGrpSpPr/>
        <p:nvPr/>
      </p:nvGrpSpPr>
      <p:grpSpPr>
        <a:xfrm>
          <a:off x="0" y="0"/>
          <a:ext cx="0" cy="0"/>
          <a:chOff x="0" y="0"/>
          <a:chExt cx="0" cy="0"/>
        </a:xfrm>
      </p:grpSpPr>
      <p:sp>
        <p:nvSpPr>
          <p:cNvPr id="784" name="矩形 20"/>
          <p:cNvSpPr>
            <a:spLocks noGrp="1"/>
          </p:cNvSpPr>
          <p:nvPr/>
        </p:nvSpPr>
        <p:spPr>
          <a:xfrm>
            <a:off x="457200" y="323850"/>
            <a:ext cx="5334000" cy="228600"/>
          </a:xfrm>
          <a:prstGeom prst="rect">
            <a:avLst/>
          </a:prstGeom>
          <a:noFill/>
          <a:ln w="0">
            <a:noFill/>
            <a:prstDash val="solid"/>
          </a:ln>
        </p:spPr>
        <p:txBody>
          <a:bodyPr wrap="square" lIns="0" tIns="0" rIns="0" bIns="0" anchor="t">
            <a:normAutofit/>
          </a:bodyPr>
          <a:lstStyle/>
          <a:p>
            <a:pPr algn="l">
              <a:lnSpc>
                <a:spcPct val="108000"/>
              </a:lnSpc>
              <a:buNone/>
              <a:defRPr sz="1125" b="1">
                <a:solidFill>
                  <a:srgbClr val="D92D20"/>
                </a:solidFill>
                <a:latin typeface="Noto Sans CJK SC"/>
                <a:ea typeface="Noto Sans CJK SC"/>
                <a:cs typeface="Noto Sans CJK SC"/>
              </a:defRPr>
            </a:pPr>
            <a:r>
              <a:rPr sz="1125" b="1">
                <a:solidFill>
                  <a:srgbClr val="D92D20"/>
                </a:solidFill>
                <a:latin typeface="Noto Sans CJK SC"/>
                <a:ea typeface="Noto Sans CJK SC"/>
                <a:cs typeface="Noto Sans CJK SC"/>
              </a:rPr>
              <a:t>8.24 ADMISSION GATE</a:t>
            </a:r>
            <a:endParaRPr sz="1125" b="1">
              <a:solidFill>
                <a:srgbClr val="D92D20"/>
              </a:solidFill>
              <a:latin typeface="Noto Sans CJK SC"/>
              <a:ea typeface="Noto Sans CJK SC"/>
              <a:cs typeface="Noto Sans CJK SC"/>
            </a:endParaRPr>
          </a:p>
        </p:txBody>
      </p:sp>
      <p:sp>
        <p:nvSpPr>
          <p:cNvPr id="785" name="矩形 1"/>
          <p:cNvSpPr>
            <a:spLocks noGrp="1"/>
          </p:cNvSpPr>
          <p:nvPr/>
        </p:nvSpPr>
        <p:spPr>
          <a:xfrm>
            <a:off x="457200" y="666750"/>
            <a:ext cx="11049000" cy="552450"/>
          </a:xfrm>
          <a:prstGeom prst="rect">
            <a:avLst/>
          </a:prstGeom>
          <a:noFill/>
          <a:ln w="0">
            <a:noFill/>
            <a:prstDash val="solid"/>
          </a:ln>
        </p:spPr>
        <p:txBody>
          <a:bodyPr wrap="square" lIns="0" tIns="0" rIns="0" bIns="0" anchor="t">
            <a:normAutofit/>
          </a:bodyPr>
          <a:lstStyle/>
          <a:p>
            <a:pPr algn="l">
              <a:lnSpc>
                <a:spcPct val="108000"/>
              </a:lnSpc>
              <a:buNone/>
              <a:defRPr sz="3000" b="1">
                <a:solidFill>
                  <a:srgbClr val="111827"/>
                </a:solidFill>
                <a:latin typeface="Noto Sans CJK SC"/>
                <a:ea typeface="Noto Sans CJK SC"/>
                <a:cs typeface="Noto Sans CJK SC"/>
              </a:defRPr>
            </a:pPr>
            <a:r>
              <a:rPr sz="3000" b="1">
                <a:solidFill>
                  <a:srgbClr val="111827"/>
                </a:solidFill>
                <a:latin typeface="Noto Sans CJK SC"/>
                <a:ea typeface="Noto Sans CJK SC"/>
                <a:cs typeface="Noto Sans CJK SC"/>
              </a:rPr>
              <a:t>8.24 检查的是能否开工，不是最终是否结项</a:t>
            </a:r>
            <a:endParaRPr sz="3000" b="1">
              <a:solidFill>
                <a:srgbClr val="111827"/>
              </a:solidFill>
              <a:latin typeface="Noto Sans CJK SC"/>
              <a:ea typeface="Noto Sans CJK SC"/>
              <a:cs typeface="Noto Sans CJK SC"/>
            </a:endParaRPr>
          </a:p>
        </p:txBody>
      </p:sp>
      <p:sp>
        <p:nvSpPr>
          <p:cNvPr id="786" name="矩形 2"/>
          <p:cNvSpPr>
            <a:spLocks noGrp="1"/>
          </p:cNvSpPr>
          <p:nvPr/>
        </p:nvSpPr>
        <p:spPr>
          <a:xfrm>
            <a:off x="457200" y="6362700"/>
            <a:ext cx="11277600" cy="9525"/>
          </a:xfrm>
          <a:prstGeom prst="rect">
            <a:avLst/>
          </a:prstGeom>
          <a:solidFill>
            <a:srgbClr val="D0D5DD"/>
          </a:solidFill>
          <a:ln w="9525">
            <a:solidFill>
              <a:srgbClr val="D0D5DD"/>
            </a:solidFill>
            <a:prstDash val="solid"/>
          </a:ln>
        </p:spPr>
        <p:txBody>
          <a:bodyPr/>
          <a:p/>
        </p:txBody>
      </p:sp>
      <p:sp>
        <p:nvSpPr>
          <p:cNvPr id="787" name="矩形 3"/>
          <p:cNvSpPr>
            <a:spLocks noGrp="1"/>
          </p:cNvSpPr>
          <p:nvPr/>
        </p:nvSpPr>
        <p:spPr>
          <a:xfrm>
            <a:off x="457200" y="6438900"/>
            <a:ext cx="4953000" cy="190500"/>
          </a:xfrm>
          <a:prstGeom prst="rect">
            <a:avLst/>
          </a:prstGeom>
          <a:noFill/>
          <a:ln w="0">
            <a:noFill/>
            <a:prstDash val="solid"/>
          </a:ln>
        </p:spPr>
        <p:txBody>
          <a:bodyPr wrap="square" lIns="0" tIns="0" rIns="0" bIns="0" anchor="t">
            <a:normAutofit/>
          </a:bodyPr>
          <a:lstStyle/>
          <a:p>
            <a:pPr algn="l">
              <a:lnSpc>
                <a:spcPct val="108000"/>
              </a:lnSpc>
              <a:buNone/>
              <a:defRPr sz="975" b="0">
                <a:solidFill>
                  <a:srgbClr val="667085"/>
                </a:solidFill>
                <a:latin typeface="Noto Sans CJK SC"/>
                <a:ea typeface="Noto Sans CJK SC"/>
                <a:cs typeface="Noto Sans CJK SC"/>
              </a:defRPr>
            </a:pPr>
            <a:r>
              <a:rPr sz="975" b="0">
                <a:solidFill>
                  <a:srgbClr val="667085"/>
                </a:solidFill>
                <a:latin typeface="Noto Sans CJK SC"/>
                <a:ea typeface="Noto Sans CJK SC"/>
                <a:cs typeface="Noto Sans CJK SC"/>
              </a:rPr>
              <a:t>腾讯犀牛鸟开源人才计划 · YOLO-Master</a:t>
            </a:r>
            <a:endParaRPr sz="975" b="0">
              <a:solidFill>
                <a:srgbClr val="667085"/>
              </a:solidFill>
              <a:latin typeface="Noto Sans CJK SC"/>
              <a:ea typeface="Noto Sans CJK SC"/>
              <a:cs typeface="Noto Sans CJK SC"/>
            </a:endParaRPr>
          </a:p>
        </p:txBody>
      </p:sp>
      <p:sp>
        <p:nvSpPr>
          <p:cNvPr id="788" name="矩形 4"/>
          <p:cNvSpPr>
            <a:spLocks noGrp="1"/>
          </p:cNvSpPr>
          <p:nvPr/>
        </p:nvSpPr>
        <p:spPr>
          <a:xfrm>
            <a:off x="11068050" y="6438900"/>
            <a:ext cx="419100" cy="28575"/>
          </a:xfrm>
          <a:prstGeom prst="rect">
            <a:avLst/>
          </a:prstGeom>
          <a:solidFill>
            <a:srgbClr val="D92D20"/>
          </a:solidFill>
          <a:ln w="9525">
            <a:solidFill>
              <a:srgbClr val="D92D20"/>
            </a:solidFill>
            <a:prstDash val="solid"/>
          </a:ln>
        </p:spPr>
        <p:txBody>
          <a:bodyPr/>
          <a:p/>
        </p:txBody>
      </p:sp>
      <p:sp>
        <p:nvSpPr>
          <p:cNvPr id="789" name="矩形 5"/>
          <p:cNvSpPr>
            <a:spLocks noGrp="1"/>
          </p:cNvSpPr>
          <p:nvPr/>
        </p:nvSpPr>
        <p:spPr>
          <a:xfrm>
            <a:off x="11334750" y="6419850"/>
            <a:ext cx="400050" cy="20955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37</a:t>
            </a:r>
            <a:endParaRPr sz="975" b="1">
              <a:solidFill>
                <a:srgbClr val="667085"/>
              </a:solidFill>
              <a:latin typeface="Noto Sans CJK SC"/>
              <a:ea typeface="Noto Sans CJK SC"/>
              <a:cs typeface="Noto Sans CJK SC"/>
            </a:endParaRPr>
          </a:p>
        </p:txBody>
      </p:sp>
      <p:sp>
        <p:nvSpPr>
          <p:cNvPr id="790" name="矩形 6"/>
          <p:cNvSpPr>
            <a:spLocks noGrp="1"/>
          </p:cNvSpPr>
          <p:nvPr/>
        </p:nvSpPr>
        <p:spPr>
          <a:xfrm>
            <a:off x="457200" y="1466850"/>
            <a:ext cx="95250" cy="400050"/>
          </a:xfrm>
          <a:prstGeom prst="rect">
            <a:avLst/>
          </a:prstGeom>
          <a:solidFill>
            <a:srgbClr val="1769FF"/>
          </a:solidFill>
          <a:ln w="9525">
            <a:solidFill>
              <a:srgbClr val="1769FF"/>
            </a:solidFill>
            <a:prstDash val="solid"/>
          </a:ln>
        </p:spPr>
        <p:txBody>
          <a:bodyPr/>
          <a:p/>
        </p:txBody>
      </p:sp>
      <p:sp>
        <p:nvSpPr>
          <p:cNvPr id="791" name="矩形 7"/>
          <p:cNvSpPr>
            <a:spLocks noGrp="1"/>
          </p:cNvSpPr>
          <p:nvPr/>
        </p:nvSpPr>
        <p:spPr>
          <a:xfrm>
            <a:off x="781050" y="14954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01  Owner、成员与职责已确认；主选和备选均可落地</a:t>
            </a:r>
            <a:endParaRPr sz="1500" b="0">
              <a:solidFill>
                <a:srgbClr val="111827"/>
              </a:solidFill>
              <a:latin typeface="Noto Sans CJK SC"/>
              <a:ea typeface="Noto Sans CJK SC"/>
              <a:cs typeface="Noto Sans CJK SC"/>
            </a:endParaRPr>
          </a:p>
        </p:txBody>
      </p:sp>
      <p:sp>
        <p:nvSpPr>
          <p:cNvPr id="792" name="矩形 8"/>
          <p:cNvSpPr>
            <a:spLocks noGrp="1"/>
          </p:cNvSpPr>
          <p:nvPr/>
        </p:nvSpPr>
        <p:spPr>
          <a:xfrm>
            <a:off x="457200" y="2114550"/>
            <a:ext cx="95250" cy="400050"/>
          </a:xfrm>
          <a:prstGeom prst="rect">
            <a:avLst/>
          </a:prstGeom>
          <a:solidFill>
            <a:srgbClr val="1769FF"/>
          </a:solidFill>
          <a:ln w="9525">
            <a:solidFill>
              <a:srgbClr val="1769FF"/>
            </a:solidFill>
            <a:prstDash val="solid"/>
          </a:ln>
        </p:spPr>
        <p:txBody>
          <a:bodyPr/>
          <a:p/>
        </p:txBody>
      </p:sp>
      <p:sp>
        <p:nvSpPr>
          <p:cNvPr id="793" name="矩形 9"/>
          <p:cNvSpPr>
            <a:spLocks noGrp="1"/>
          </p:cNvSpPr>
          <p:nvPr/>
        </p:nvSpPr>
        <p:spPr>
          <a:xfrm>
            <a:off x="781050" y="21431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02  固定 tag/commit；环境可启动，数据样例可读取</a:t>
            </a:r>
            <a:endParaRPr sz="1500" b="0">
              <a:solidFill>
                <a:srgbClr val="111827"/>
              </a:solidFill>
              <a:latin typeface="Noto Sans CJK SC"/>
              <a:ea typeface="Noto Sans CJK SC"/>
              <a:cs typeface="Noto Sans CJK SC"/>
            </a:endParaRPr>
          </a:p>
        </p:txBody>
      </p:sp>
      <p:sp>
        <p:nvSpPr>
          <p:cNvPr id="794" name="矩形 10"/>
          <p:cNvSpPr>
            <a:spLocks noGrp="1"/>
          </p:cNvSpPr>
          <p:nvPr/>
        </p:nvSpPr>
        <p:spPr>
          <a:xfrm>
            <a:off x="457200" y="2762250"/>
            <a:ext cx="95250" cy="400050"/>
          </a:xfrm>
          <a:prstGeom prst="rect">
            <a:avLst/>
          </a:prstGeom>
          <a:solidFill>
            <a:srgbClr val="1769FF"/>
          </a:solidFill>
          <a:ln w="9525">
            <a:solidFill>
              <a:srgbClr val="1769FF"/>
            </a:solidFill>
            <a:prstDash val="solid"/>
          </a:ln>
        </p:spPr>
        <p:txBody>
          <a:bodyPr/>
          <a:p/>
        </p:txBody>
      </p:sp>
      <p:sp>
        <p:nvSpPr>
          <p:cNvPr id="795" name="矩形 11"/>
          <p:cNvSpPr>
            <a:spLocks noGrp="1"/>
          </p:cNvSpPr>
          <p:nvPr/>
        </p:nvSpPr>
        <p:spPr>
          <a:xfrm>
            <a:off x="781050" y="27908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03  baseline 或最小代码链路可执行，并留存日志/测试结果</a:t>
            </a:r>
            <a:endParaRPr sz="1500" b="0">
              <a:solidFill>
                <a:srgbClr val="111827"/>
              </a:solidFill>
              <a:latin typeface="Noto Sans CJK SC"/>
              <a:ea typeface="Noto Sans CJK SC"/>
              <a:cs typeface="Noto Sans CJK SC"/>
            </a:endParaRPr>
          </a:p>
        </p:txBody>
      </p:sp>
      <p:sp>
        <p:nvSpPr>
          <p:cNvPr id="796" name="矩形 12"/>
          <p:cNvSpPr>
            <a:spLocks noGrp="1"/>
          </p:cNvSpPr>
          <p:nvPr/>
        </p:nvSpPr>
        <p:spPr>
          <a:xfrm>
            <a:off x="457200" y="3409950"/>
            <a:ext cx="95250" cy="400050"/>
          </a:xfrm>
          <a:prstGeom prst="rect">
            <a:avLst/>
          </a:prstGeom>
          <a:solidFill>
            <a:srgbClr val="1769FF"/>
          </a:solidFill>
          <a:ln w="9525">
            <a:solidFill>
              <a:srgbClr val="1769FF"/>
            </a:solidFill>
            <a:prstDash val="solid"/>
          </a:ln>
        </p:spPr>
        <p:txBody>
          <a:bodyPr/>
          <a:p/>
        </p:txBody>
      </p:sp>
      <p:sp>
        <p:nvSpPr>
          <p:cNvPr id="797" name="矩形 13"/>
          <p:cNvSpPr>
            <a:spLocks noGrp="1"/>
          </p:cNvSpPr>
          <p:nvPr/>
        </p:nvSpPr>
        <p:spPr>
          <a:xfrm>
            <a:off x="781050" y="34385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04  GPU时段、P0指标、复现命令与失败降级方案已登记</a:t>
            </a:r>
            <a:endParaRPr sz="1500" b="0">
              <a:solidFill>
                <a:srgbClr val="111827"/>
              </a:solidFill>
              <a:latin typeface="Noto Sans CJK SC"/>
              <a:ea typeface="Noto Sans CJK SC"/>
              <a:cs typeface="Noto Sans CJK SC"/>
            </a:endParaRPr>
          </a:p>
        </p:txBody>
      </p:sp>
      <p:sp>
        <p:nvSpPr>
          <p:cNvPr id="798" name="矩形 14"/>
          <p:cNvSpPr>
            <a:spLocks noGrp="1"/>
          </p:cNvSpPr>
          <p:nvPr/>
        </p:nvSpPr>
        <p:spPr>
          <a:xfrm>
            <a:off x="457200" y="4057650"/>
            <a:ext cx="95250" cy="400050"/>
          </a:xfrm>
          <a:prstGeom prst="rect">
            <a:avLst/>
          </a:prstGeom>
          <a:solidFill>
            <a:srgbClr val="1769FF"/>
          </a:solidFill>
          <a:ln w="9525">
            <a:solidFill>
              <a:srgbClr val="1769FF"/>
            </a:solidFill>
            <a:prstDash val="solid"/>
          </a:ln>
        </p:spPr>
        <p:txBody>
          <a:bodyPr/>
          <a:p/>
        </p:txBody>
      </p:sp>
      <p:sp>
        <p:nvSpPr>
          <p:cNvPr id="799" name="矩形 15"/>
          <p:cNvSpPr>
            <a:spLocks noGrp="1"/>
          </p:cNvSpPr>
          <p:nvPr/>
        </p:nvSpPr>
        <p:spPr>
          <a:xfrm>
            <a:off x="781050" y="40862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05  通过：主选课题正式进入全量实验</a:t>
            </a:r>
            <a:endParaRPr sz="1500" b="0">
              <a:solidFill>
                <a:srgbClr val="111827"/>
              </a:solidFill>
              <a:latin typeface="Noto Sans CJK SC"/>
              <a:ea typeface="Noto Sans CJK SC"/>
              <a:cs typeface="Noto Sans CJK SC"/>
            </a:endParaRPr>
          </a:p>
        </p:txBody>
      </p:sp>
      <p:sp>
        <p:nvSpPr>
          <p:cNvPr id="800" name="矩形 16"/>
          <p:cNvSpPr>
            <a:spLocks noGrp="1"/>
          </p:cNvSpPr>
          <p:nvPr/>
        </p:nvSpPr>
        <p:spPr>
          <a:xfrm>
            <a:off x="457200" y="4705350"/>
            <a:ext cx="95250" cy="400050"/>
          </a:xfrm>
          <a:prstGeom prst="rect">
            <a:avLst/>
          </a:prstGeom>
          <a:solidFill>
            <a:srgbClr val="1769FF"/>
          </a:solidFill>
          <a:ln w="9525">
            <a:solidFill>
              <a:srgbClr val="1769FF"/>
            </a:solidFill>
            <a:prstDash val="solid"/>
          </a:ln>
        </p:spPr>
        <p:txBody>
          <a:bodyPr/>
          <a:p/>
        </p:txBody>
      </p:sp>
      <p:sp>
        <p:nvSpPr>
          <p:cNvPr id="801" name="矩形 17"/>
          <p:cNvSpPr>
            <a:spLocks noGrp="1"/>
          </p:cNvSpPr>
          <p:nvPr/>
        </p:nvSpPr>
        <p:spPr>
          <a:xfrm>
            <a:off x="781050" y="47339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111827"/>
                </a:solidFill>
                <a:latin typeface="Noto Sans CJK SC"/>
                <a:ea typeface="Noto Sans CJK SC"/>
                <a:cs typeface="Noto Sans CJK SC"/>
              </a:defRPr>
            </a:pPr>
            <a:r>
              <a:rPr sz="1500" b="0">
                <a:solidFill>
                  <a:srgbClr val="111827"/>
                </a:solidFill>
                <a:latin typeface="Noto Sans CJK SC"/>
                <a:ea typeface="Noto Sans CJK SC"/>
                <a:cs typeface="Noto Sans CJK SC"/>
              </a:rPr>
              <a:t>06  条件通过：限时补齐缺项，先按缩小范围启动</a:t>
            </a:r>
            <a:endParaRPr sz="1500" b="0">
              <a:solidFill>
                <a:srgbClr val="111827"/>
              </a:solidFill>
              <a:latin typeface="Noto Sans CJK SC"/>
              <a:ea typeface="Noto Sans CJK SC"/>
              <a:cs typeface="Noto Sans CJK SC"/>
            </a:endParaRPr>
          </a:p>
        </p:txBody>
      </p:sp>
      <p:sp>
        <p:nvSpPr>
          <p:cNvPr id="802" name="矩形 18"/>
          <p:cNvSpPr>
            <a:spLocks noGrp="1"/>
          </p:cNvSpPr>
          <p:nvPr/>
        </p:nvSpPr>
        <p:spPr>
          <a:xfrm>
            <a:off x="457200" y="5353050"/>
            <a:ext cx="95250" cy="400050"/>
          </a:xfrm>
          <a:prstGeom prst="rect">
            <a:avLst/>
          </a:prstGeom>
          <a:solidFill>
            <a:srgbClr val="D92D20"/>
          </a:solidFill>
          <a:ln w="9525">
            <a:solidFill>
              <a:srgbClr val="D92D20"/>
            </a:solidFill>
            <a:prstDash val="solid"/>
          </a:ln>
        </p:spPr>
        <p:txBody>
          <a:bodyPr/>
          <a:p/>
        </p:txBody>
      </p:sp>
      <p:sp>
        <p:nvSpPr>
          <p:cNvPr id="803" name="矩形 19"/>
          <p:cNvSpPr>
            <a:spLocks noGrp="1"/>
          </p:cNvSpPr>
          <p:nvPr/>
        </p:nvSpPr>
        <p:spPr>
          <a:xfrm>
            <a:off x="781050" y="5381625"/>
            <a:ext cx="10382250" cy="361950"/>
          </a:xfrm>
          <a:prstGeom prst="rect">
            <a:avLst/>
          </a:prstGeom>
          <a:noFill/>
          <a:ln w="0">
            <a:noFill/>
            <a:prstDash val="solid"/>
          </a:ln>
        </p:spPr>
        <p:txBody>
          <a:bodyPr wrap="square" lIns="0" tIns="0" rIns="0" bIns="0" anchor="t">
            <a:normAutofit/>
          </a:bodyPr>
          <a:lstStyle/>
          <a:p>
            <a:pPr algn="l">
              <a:lnSpc>
                <a:spcPct val="108000"/>
              </a:lnSpc>
              <a:buNone/>
              <a:defRPr sz="1500" b="1">
                <a:solidFill>
                  <a:srgbClr val="D92D20"/>
                </a:solidFill>
                <a:latin typeface="Noto Sans CJK SC"/>
                <a:ea typeface="Noto Sans CJK SC"/>
                <a:cs typeface="Noto Sans CJK SC"/>
              </a:defRPr>
            </a:pPr>
            <a:r>
              <a:rPr sz="1500" b="1">
                <a:solidFill>
                  <a:srgbClr val="D92D20"/>
                </a:solidFill>
                <a:latin typeface="Noto Sans CJK SC"/>
                <a:ea typeface="Noto Sans CJK SC"/>
                <a:cs typeface="Noto Sans CJK SC"/>
              </a:rPr>
              <a:t>07  未通过：切换备选课题，或降低数据/模型/任务范围</a:t>
            </a:r>
            <a:endParaRPr sz="1500" b="1">
              <a:solidFill>
                <a:srgbClr val="D92D20"/>
              </a:solidFill>
              <a:latin typeface="Noto Sans CJK SC"/>
              <a:ea typeface="Noto Sans CJK SC"/>
              <a:cs typeface="Noto Sans CJK SC"/>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825" name=""/>
        <p:cNvGrpSpPr/>
        <p:nvPr/>
      </p:nvGrpSpPr>
      <p:grpSpPr>
        <a:xfrm>
          <a:off x="0" y="0"/>
          <a:ext cx="0" cy="0"/>
          <a:chOff x="0" y="0"/>
          <a:chExt cx="0" cy="0"/>
        </a:xfrm>
      </p:grpSpPr>
      <p:pic>
        <p:nvPicPr>
          <p:cNvPr id="826" name="图片 10"/>
          <p:cNvPicPr>
            <a:picLocks noChangeAspect="1"/>
          </p:cNvPicPr>
          <p:nvPr/>
        </p:nvPicPr>
        <p:blipFill>
          <a:blip r:embed="rId2"/>
          <a:srcRect t="27" b="27"/>
          <a:stretch>
            <a:fillRect/>
          </a:stretch>
        </p:blipFill>
        <p:spPr>
          <a:xfrm>
            <a:off x="0" y="0"/>
            <a:ext cx="12192000" cy="6858000"/>
          </a:xfrm>
          <a:prstGeom prst="rect">
            <a:avLst/>
          </a:prstGeom>
        </p:spPr>
      </p:pic>
      <p:sp>
        <p:nvSpPr>
          <p:cNvPr id="827" name="矩形 1"/>
          <p:cNvSpPr>
            <a:spLocks noGrp="1"/>
          </p:cNvSpPr>
          <p:nvPr/>
        </p:nvSpPr>
        <p:spPr>
          <a:xfrm>
            <a:off x="0" y="0"/>
            <a:ext cx="5810250" cy="6858000"/>
          </a:xfrm>
          <a:prstGeom prst="rect">
            <a:avLst/>
          </a:prstGeom>
          <a:solidFill>
            <a:srgbClr val="FFFFFF"/>
          </a:solidFill>
          <a:ln w="9525">
            <a:solidFill>
              <a:srgbClr val="FFFFFF"/>
            </a:solidFill>
            <a:prstDash val="solid"/>
          </a:ln>
        </p:spPr>
        <p:txBody>
          <a:bodyPr/>
          <a:p/>
        </p:txBody>
      </p:sp>
      <p:sp>
        <p:nvSpPr>
          <p:cNvPr id="828" name="矩形 2"/>
          <p:cNvSpPr>
            <a:spLocks noGrp="1"/>
          </p:cNvSpPr>
          <p:nvPr/>
        </p:nvSpPr>
        <p:spPr>
          <a:xfrm>
            <a:off x="495300" y="533400"/>
            <a:ext cx="1905000" cy="2667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NEXT STEP</a:t>
            </a:r>
            <a:endParaRPr sz="1200" b="1">
              <a:solidFill>
                <a:srgbClr val="1769FF"/>
              </a:solidFill>
              <a:latin typeface="Noto Sans CJK SC"/>
              <a:ea typeface="Noto Sans CJK SC"/>
              <a:cs typeface="Noto Sans CJK SC"/>
            </a:endParaRPr>
          </a:p>
        </p:txBody>
      </p:sp>
      <p:sp>
        <p:nvSpPr>
          <p:cNvPr id="829" name="矩形 3"/>
          <p:cNvSpPr>
            <a:spLocks noGrp="1"/>
          </p:cNvSpPr>
          <p:nvPr/>
        </p:nvSpPr>
        <p:spPr>
          <a:xfrm>
            <a:off x="495300" y="1428750"/>
            <a:ext cx="5143500" cy="1619250"/>
          </a:xfrm>
          <a:prstGeom prst="rect">
            <a:avLst/>
          </a:prstGeom>
          <a:noFill/>
          <a:ln w="0">
            <a:noFill/>
            <a:prstDash val="solid"/>
          </a:ln>
        </p:spPr>
        <p:txBody>
          <a:bodyPr wrap="square" lIns="0" tIns="0" rIns="0" bIns="0" anchor="t">
            <a:normAutofit/>
          </a:bodyPr>
          <a:lstStyle/>
          <a:p>
            <a:pPr algn="l">
              <a:lnSpc>
                <a:spcPct val="95000"/>
              </a:lnSpc>
              <a:buNone/>
              <a:defRPr sz="3600" b="1">
                <a:solidFill>
                  <a:srgbClr val="111827"/>
                </a:solidFill>
                <a:latin typeface="Noto Sans CJK SC"/>
                <a:ea typeface="Noto Sans CJK SC"/>
                <a:cs typeface="Noto Sans CJK SC"/>
              </a:defRPr>
            </a:pPr>
            <a:r>
              <a:rPr sz="3600" b="1">
                <a:solidFill>
                  <a:srgbClr val="111827"/>
                </a:solidFill>
                <a:latin typeface="Noto Sans CJK SC"/>
                <a:ea typeface="Noto Sans CJK SC"/>
                <a:cs typeface="Noto Sans CJK SC"/>
              </a:rPr>
              <a:t>选一个真问题，</a:t>
            </a:r>
            <a:endParaRPr sz="3600" b="1">
              <a:solidFill>
                <a:srgbClr val="111827"/>
              </a:solidFill>
              <a:latin typeface="Noto Sans CJK SC"/>
              <a:ea typeface="Noto Sans CJK SC"/>
              <a:cs typeface="Noto Sans CJK SC"/>
            </a:endParaRPr>
          </a:p>
          <a:p>
            <a:pPr algn="l">
              <a:lnSpc>
                <a:spcPct val="95000"/>
              </a:lnSpc>
              <a:buNone/>
              <a:defRPr sz="3600" b="1">
                <a:solidFill>
                  <a:srgbClr val="111827"/>
                </a:solidFill>
                <a:latin typeface="Noto Sans CJK SC"/>
                <a:ea typeface="Noto Sans CJK SC"/>
                <a:cs typeface="Noto Sans CJK SC"/>
              </a:defRPr>
            </a:pPr>
            <a:r>
              <a:rPr sz="3600" b="1">
                <a:solidFill>
                  <a:srgbClr val="111827"/>
                </a:solidFill>
                <a:latin typeface="Noto Sans CJK SC"/>
                <a:ea typeface="Noto Sans CJK SC"/>
                <a:cs typeface="Noto Sans CJK SC"/>
              </a:rPr>
              <a:t>交付一条可复现的证据链</a:t>
            </a:r>
            <a:endParaRPr sz="3600" b="1">
              <a:solidFill>
                <a:srgbClr val="111827"/>
              </a:solidFill>
              <a:latin typeface="Noto Sans CJK SC"/>
              <a:ea typeface="Noto Sans CJK SC"/>
              <a:cs typeface="Noto Sans CJK SC"/>
            </a:endParaRPr>
          </a:p>
        </p:txBody>
      </p:sp>
      <p:sp>
        <p:nvSpPr>
          <p:cNvPr id="830" name="矩形 4"/>
          <p:cNvSpPr>
            <a:spLocks noGrp="1"/>
          </p:cNvSpPr>
          <p:nvPr/>
        </p:nvSpPr>
        <p:spPr>
          <a:xfrm>
            <a:off x="495300" y="3714750"/>
            <a:ext cx="1524000" cy="304800"/>
          </a:xfrm>
          <a:prstGeom prst="rect">
            <a:avLst/>
          </a:prstGeom>
          <a:noFill/>
          <a:ln w="0">
            <a:noFill/>
            <a:prstDash val="solid"/>
          </a:ln>
        </p:spPr>
        <p:txBody>
          <a:bodyPr wrap="square" lIns="0" tIns="0" rIns="0" bIns="0" anchor="t">
            <a:normAutofit/>
          </a:bodyPr>
          <a:lstStyle/>
          <a:p>
            <a:pPr algn="l">
              <a:lnSpc>
                <a:spcPct val="108000"/>
              </a:lnSpc>
              <a:buNone/>
              <a:defRPr sz="1650" b="1">
                <a:solidFill>
                  <a:srgbClr val="111827"/>
                </a:solidFill>
                <a:latin typeface="Noto Sans CJK SC"/>
                <a:ea typeface="Noto Sans CJK SC"/>
                <a:cs typeface="Noto Sans CJK SC"/>
              </a:defRPr>
            </a:pPr>
            <a:r>
              <a:rPr sz="1650" b="1">
                <a:solidFill>
                  <a:srgbClr val="111827"/>
                </a:solidFill>
                <a:latin typeface="Noto Sans CJK SC"/>
                <a:ea typeface="Noto Sans CJK SC"/>
                <a:cs typeface="Noto Sans CJK SC"/>
              </a:rPr>
              <a:t>散会前完成</a:t>
            </a:r>
            <a:endParaRPr sz="1650" b="1">
              <a:solidFill>
                <a:srgbClr val="111827"/>
              </a:solidFill>
              <a:latin typeface="Noto Sans CJK SC"/>
              <a:ea typeface="Noto Sans CJK SC"/>
              <a:cs typeface="Noto Sans CJK SC"/>
            </a:endParaRPr>
          </a:p>
        </p:txBody>
      </p:sp>
      <p:sp>
        <p:nvSpPr>
          <p:cNvPr id="831" name="矩形 5"/>
          <p:cNvSpPr>
            <a:spLocks noGrp="1"/>
          </p:cNvSpPr>
          <p:nvPr/>
        </p:nvSpPr>
        <p:spPr>
          <a:xfrm>
            <a:off x="495300" y="4229100"/>
            <a:ext cx="4762500" cy="800100"/>
          </a:xfrm>
          <a:prstGeom prst="rect">
            <a:avLst/>
          </a:prstGeom>
          <a:noFill/>
          <a:ln w="0">
            <a:noFill/>
            <a:prstDash val="solid"/>
          </a:ln>
        </p:spPr>
        <p:txBody>
          <a:bodyPr wrap="square" lIns="0" tIns="0" rIns="0" bIns="0" anchor="t">
            <a:normAutofit/>
          </a:bodyPr>
          <a:lstStyle/>
          <a:p>
            <a:pPr algn="l">
              <a:lnSpc>
                <a:spcPct val="108000"/>
              </a:lnSpc>
              <a:buNone/>
              <a:defRPr sz="1500" b="0">
                <a:solidFill>
                  <a:srgbClr val="667085"/>
                </a:solidFill>
                <a:latin typeface="Noto Sans CJK SC"/>
                <a:ea typeface="Noto Sans CJK SC"/>
                <a:cs typeface="Noto Sans CJK SC"/>
              </a:defRPr>
            </a:pPr>
            <a:r>
              <a:rPr sz="1500" b="0">
                <a:solidFill>
                  <a:srgbClr val="667085"/>
                </a:solidFill>
                <a:latin typeface="Noto Sans CJK SC"/>
                <a:ea typeface="Noto Sans CJK SC"/>
                <a:cs typeface="Noto Sans CJK SC"/>
              </a:rPr>
              <a:t>① 确认 Owner 与主/备选题   ② 记录 tag/commit、GPU、数据   ③ 约定 8.24 冒烟证据</a:t>
            </a:r>
            <a:endParaRPr sz="1500" b="0">
              <a:solidFill>
                <a:srgbClr val="667085"/>
              </a:solidFill>
              <a:latin typeface="Noto Sans CJK SC"/>
              <a:ea typeface="Noto Sans CJK SC"/>
              <a:cs typeface="Noto Sans CJK SC"/>
            </a:endParaRPr>
          </a:p>
        </p:txBody>
      </p:sp>
      <p:sp>
        <p:nvSpPr>
          <p:cNvPr id="832" name="矩形 6"/>
          <p:cNvSpPr>
            <a:spLocks noGrp="1"/>
          </p:cNvSpPr>
          <p:nvPr/>
        </p:nvSpPr>
        <p:spPr>
          <a:xfrm>
            <a:off x="495300" y="5448300"/>
            <a:ext cx="3714750" cy="47625"/>
          </a:xfrm>
          <a:prstGeom prst="rect">
            <a:avLst/>
          </a:prstGeom>
          <a:solidFill>
            <a:srgbClr val="1769FF"/>
          </a:solidFill>
          <a:ln w="9525">
            <a:solidFill>
              <a:srgbClr val="1769FF"/>
            </a:solidFill>
            <a:prstDash val="solid"/>
          </a:ln>
        </p:spPr>
        <p:txBody>
          <a:bodyPr/>
          <a:p/>
        </p:txBody>
      </p:sp>
      <p:sp>
        <p:nvSpPr>
          <p:cNvPr id="833" name="矩形 7"/>
          <p:cNvSpPr>
            <a:spLocks noGrp="1"/>
          </p:cNvSpPr>
          <p:nvPr/>
        </p:nvSpPr>
        <p:spPr>
          <a:xfrm>
            <a:off x="495300" y="5715000"/>
            <a:ext cx="400050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YOLO-Master · 8.21 筹备会 → 9.14 结项</a:t>
            </a:r>
            <a:endParaRPr sz="1350" b="1">
              <a:solidFill>
                <a:srgbClr val="1769FF"/>
              </a:solidFill>
              <a:latin typeface="Noto Sans CJK SC"/>
              <a:ea typeface="Noto Sans CJK SC"/>
              <a:cs typeface="Noto Sans CJK SC"/>
            </a:endParaRPr>
          </a:p>
        </p:txBody>
      </p:sp>
      <p:sp>
        <p:nvSpPr>
          <p:cNvPr id="834" name="矩形 8"/>
          <p:cNvSpPr>
            <a:spLocks noGrp="1"/>
          </p:cNvSpPr>
          <p:nvPr/>
        </p:nvSpPr>
        <p:spPr>
          <a:xfrm>
            <a:off x="11144250" y="6286500"/>
            <a:ext cx="590550" cy="22860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38</a:t>
            </a:r>
            <a:endParaRPr sz="975" b="1">
              <a:solidFill>
                <a:srgbClr val="667085"/>
              </a:solidFill>
              <a:latin typeface="Noto Sans CJK SC"/>
              <a:ea typeface="Noto Sans CJK SC"/>
              <a:cs typeface="Noto Sans CJK SC"/>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835" name=""/>
        <p:cNvGrpSpPr/>
        <p:nvPr/>
      </p:nvGrpSpPr>
      <p:grpSpPr>
        <a:xfrm>
          <a:off x="0" y="0"/>
          <a:ext cx="0" cy="0"/>
          <a:chOff x="0" y="0"/>
          <a:chExt cx="0" cy="0"/>
        </a:xfrm>
      </p:grpSpPr>
      <p:sp>
        <p:nvSpPr>
          <p:cNvPr id="836" name="矩形 1"/>
          <p:cNvSpPr>
            <a:spLocks noGrp="1"/>
          </p:cNvSpPr>
          <p:nvPr/>
        </p:nvSpPr>
        <p:spPr>
          <a:xfrm>
            <a:off x="0" y="0"/>
            <a:ext cx="5810250" cy="6858000"/>
          </a:xfrm>
          <a:prstGeom prst="rect">
            <a:avLst/>
          </a:prstGeom>
          <a:solidFill>
            <a:srgbClr val="FFFFFF"/>
          </a:solidFill>
          <a:ln w="9525">
            <a:solidFill>
              <a:srgbClr val="FFFFFF"/>
            </a:solidFill>
            <a:prstDash val="solid"/>
          </a:ln>
        </p:spPr>
        <p:txBody>
          <a:bodyPr/>
          <a:p/>
        </p:txBody>
      </p:sp>
      <p:sp>
        <p:nvSpPr>
          <p:cNvPr id="837" name="矩形 2"/>
          <p:cNvSpPr>
            <a:spLocks noGrp="1"/>
          </p:cNvSpPr>
          <p:nvPr/>
        </p:nvSpPr>
        <p:spPr>
          <a:xfrm>
            <a:off x="495300" y="533400"/>
            <a:ext cx="1905000" cy="266700"/>
          </a:xfrm>
          <a:prstGeom prst="rect">
            <a:avLst/>
          </a:prstGeom>
          <a:noFill/>
          <a:ln w="0">
            <a:noFill/>
            <a:prstDash val="solid"/>
          </a:ln>
        </p:spPr>
        <p:txBody>
          <a:bodyPr wrap="square" lIns="0" tIns="0" rIns="0" bIns="0" anchor="t">
            <a:normAutofit/>
          </a:bodyPr>
          <a:lstStyle/>
          <a:p>
            <a:pPr algn="l">
              <a:lnSpc>
                <a:spcPct val="108000"/>
              </a:lnSpc>
              <a:buNone/>
              <a:defRPr sz="1200" b="1">
                <a:solidFill>
                  <a:srgbClr val="1769FF"/>
                </a:solidFill>
                <a:latin typeface="Noto Sans CJK SC"/>
                <a:ea typeface="Noto Sans CJK SC"/>
                <a:cs typeface="Noto Sans CJK SC"/>
              </a:defRPr>
            </a:pPr>
            <a:r>
              <a:rPr sz="1200" b="1">
                <a:solidFill>
                  <a:srgbClr val="1769FF"/>
                </a:solidFill>
                <a:latin typeface="Noto Sans CJK SC"/>
                <a:ea typeface="Noto Sans CJK SC"/>
                <a:cs typeface="Noto Sans CJK SC"/>
              </a:rPr>
              <a:t>NEXT STEP</a:t>
            </a:r>
            <a:endParaRPr sz="1200" b="1">
              <a:solidFill>
                <a:srgbClr val="1769FF"/>
              </a:solidFill>
              <a:latin typeface="Noto Sans CJK SC"/>
              <a:ea typeface="Noto Sans CJK SC"/>
              <a:cs typeface="Noto Sans CJK SC"/>
            </a:endParaRPr>
          </a:p>
        </p:txBody>
      </p:sp>
      <p:sp>
        <p:nvSpPr>
          <p:cNvPr id="838" name="矩形 3"/>
          <p:cNvSpPr>
            <a:spLocks noGrp="1"/>
          </p:cNvSpPr>
          <p:nvPr/>
        </p:nvSpPr>
        <p:spPr>
          <a:xfrm>
            <a:off x="495300" y="1428750"/>
            <a:ext cx="5143500" cy="1619250"/>
          </a:xfrm>
          <a:prstGeom prst="rect">
            <a:avLst/>
          </a:prstGeom>
          <a:noFill/>
          <a:ln w="0">
            <a:noFill/>
            <a:prstDash val="solid"/>
          </a:ln>
        </p:spPr>
        <p:txBody>
          <a:bodyPr wrap="square" lIns="0" tIns="0" rIns="0" bIns="0" anchor="t">
            <a:normAutofit/>
          </a:bodyPr>
          <a:lstStyle/>
          <a:p>
            <a:pPr algn="l">
              <a:lnSpc>
                <a:spcPct val="95000"/>
              </a:lnSpc>
              <a:buNone/>
              <a:defRPr sz="3600" b="1">
                <a:solidFill>
                  <a:srgbClr val="111827"/>
                </a:solidFill>
                <a:latin typeface="Noto Sans CJK SC"/>
                <a:ea typeface="Noto Sans CJK SC"/>
                <a:cs typeface="Noto Sans CJK SC"/>
              </a:defRPr>
            </a:pPr>
            <a:r>
              <a:rPr lang="en-US" sz="3600" b="1">
                <a:solidFill>
                  <a:srgbClr val="111827"/>
                </a:solidFill>
                <a:latin typeface="Noto Sans CJK SC"/>
                <a:ea typeface="Noto Sans CJK SC"/>
                <a:cs typeface="Noto Sans CJK SC"/>
              </a:rPr>
              <a:t>T</a:t>
            </a:r>
            <a:r>
              <a:rPr lang="en-US" sz="3600" b="1">
                <a:solidFill>
                  <a:srgbClr val="111827"/>
                </a:solidFill>
                <a:latin typeface="Noto Sans CJK SC"/>
                <a:ea typeface="Noto Sans CJK SC"/>
                <a:cs typeface="Noto Sans CJK SC"/>
              </a:rPr>
              <a:t>hanks</a:t>
            </a:r>
            <a:endParaRPr lang="en-US" sz="3600" b="1">
              <a:solidFill>
                <a:srgbClr val="111827"/>
              </a:solidFill>
              <a:latin typeface="Noto Sans CJK SC"/>
              <a:ea typeface="Noto Sans CJK SC"/>
              <a:cs typeface="Noto Sans CJK SC"/>
            </a:endParaRPr>
          </a:p>
        </p:txBody>
      </p:sp>
      <p:sp>
        <p:nvSpPr>
          <p:cNvPr id="839" name="矩形 6"/>
          <p:cNvSpPr>
            <a:spLocks noGrp="1"/>
          </p:cNvSpPr>
          <p:nvPr/>
        </p:nvSpPr>
        <p:spPr>
          <a:xfrm>
            <a:off x="495300" y="5448300"/>
            <a:ext cx="3714750" cy="47625"/>
          </a:xfrm>
          <a:prstGeom prst="rect">
            <a:avLst/>
          </a:prstGeom>
          <a:solidFill>
            <a:srgbClr val="1769FF"/>
          </a:solidFill>
          <a:ln w="9525">
            <a:solidFill>
              <a:srgbClr val="1769FF"/>
            </a:solidFill>
            <a:prstDash val="solid"/>
          </a:ln>
        </p:spPr>
        <p:txBody>
          <a:bodyPr/>
          <a:p/>
        </p:txBody>
      </p:sp>
      <p:sp>
        <p:nvSpPr>
          <p:cNvPr id="840" name="矩形 7"/>
          <p:cNvSpPr>
            <a:spLocks noGrp="1"/>
          </p:cNvSpPr>
          <p:nvPr/>
        </p:nvSpPr>
        <p:spPr>
          <a:xfrm>
            <a:off x="495300" y="5715000"/>
            <a:ext cx="4000500" cy="304800"/>
          </a:xfrm>
          <a:prstGeom prst="rect">
            <a:avLst/>
          </a:prstGeom>
          <a:noFill/>
          <a:ln w="0">
            <a:noFill/>
            <a:prstDash val="solid"/>
          </a:ln>
        </p:spPr>
        <p:txBody>
          <a:bodyPr wrap="square" lIns="0" tIns="0" rIns="0" bIns="0" anchor="t">
            <a:normAutofit/>
          </a:bodyPr>
          <a:lstStyle/>
          <a:p>
            <a:pPr algn="l">
              <a:lnSpc>
                <a:spcPct val="108000"/>
              </a:lnSpc>
              <a:buNone/>
              <a:defRPr sz="1350" b="1">
                <a:solidFill>
                  <a:srgbClr val="1769FF"/>
                </a:solidFill>
                <a:latin typeface="Noto Sans CJK SC"/>
                <a:ea typeface="Noto Sans CJK SC"/>
                <a:cs typeface="Noto Sans CJK SC"/>
              </a:defRPr>
            </a:pPr>
            <a:r>
              <a:rPr sz="1350" b="1">
                <a:solidFill>
                  <a:srgbClr val="1769FF"/>
                </a:solidFill>
                <a:latin typeface="Noto Sans CJK SC"/>
                <a:ea typeface="Noto Sans CJK SC"/>
                <a:cs typeface="Noto Sans CJK SC"/>
              </a:rPr>
              <a:t>YOLO-Master · 8.21 筹备会 → 9.14 结项</a:t>
            </a:r>
            <a:endParaRPr sz="1350" b="1">
              <a:solidFill>
                <a:srgbClr val="1769FF"/>
              </a:solidFill>
              <a:latin typeface="Noto Sans CJK SC"/>
              <a:ea typeface="Noto Sans CJK SC"/>
              <a:cs typeface="Noto Sans CJK SC"/>
            </a:endParaRPr>
          </a:p>
        </p:txBody>
      </p:sp>
      <p:sp>
        <p:nvSpPr>
          <p:cNvPr id="841" name="矩形 8"/>
          <p:cNvSpPr>
            <a:spLocks noGrp="1"/>
          </p:cNvSpPr>
          <p:nvPr/>
        </p:nvSpPr>
        <p:spPr>
          <a:xfrm>
            <a:off x="11144250" y="6286500"/>
            <a:ext cx="590550" cy="228600"/>
          </a:xfrm>
          <a:prstGeom prst="rect">
            <a:avLst/>
          </a:prstGeom>
          <a:noFill/>
          <a:ln w="0">
            <a:noFill/>
            <a:prstDash val="solid"/>
          </a:ln>
        </p:spPr>
        <p:txBody>
          <a:bodyPr wrap="square" lIns="0" tIns="0" rIns="0" bIns="0" anchor="t">
            <a:normAutofit/>
          </a:bodyPr>
          <a:lstStyle/>
          <a:p>
            <a:pPr algn="r">
              <a:lnSpc>
                <a:spcPct val="108000"/>
              </a:lnSpc>
              <a:buNone/>
              <a:defRPr sz="975" b="1">
                <a:solidFill>
                  <a:srgbClr val="667085"/>
                </a:solidFill>
                <a:latin typeface="Noto Sans CJK SC"/>
                <a:ea typeface="Noto Sans CJK SC"/>
                <a:cs typeface="Noto Sans CJK SC"/>
              </a:defRPr>
            </a:pPr>
            <a:r>
              <a:rPr sz="975" b="1">
                <a:solidFill>
                  <a:srgbClr val="667085"/>
                </a:solidFill>
                <a:latin typeface="Noto Sans CJK SC"/>
                <a:ea typeface="Noto Sans CJK SC"/>
                <a:cs typeface="Noto Sans CJK SC"/>
              </a:rPr>
              <a:t>38</a:t>
            </a:r>
            <a:endParaRPr sz="975" b="1">
              <a:solidFill>
                <a:srgbClr val="667085"/>
              </a:solidFill>
              <a:latin typeface="Noto Sans CJK SC"/>
              <a:ea typeface="Noto Sans CJK SC"/>
              <a:cs typeface="Noto Sans CJK SC"/>
            </a:endParaRPr>
          </a:p>
        </p:txBody>
      </p:sp>
      <p:pic>
        <p:nvPicPr>
          <p:cNvPr id="842" name="图片 9" descr="9ec1748eedfc16b987fec90dfa8aa569"/>
          <p:cNvPicPr>
            <a:picLocks noChangeAspect="1"/>
          </p:cNvPicPr>
          <p:nvPr/>
        </p:nvPicPr>
        <p:blipFill>
          <a:blip r:embed="rId1"/>
          <a:stretch>
            <a:fillRect/>
          </a:stretch>
        </p:blipFill>
        <p:spPr>
          <a:xfrm>
            <a:off x="479425" y="2132965"/>
            <a:ext cx="1846580" cy="2744470"/>
          </a:xfrm>
          <a:prstGeom prst="rect">
            <a:avLst/>
          </a:prstGeom>
        </p:spPr>
      </p:pic>
      <p:sp>
        <p:nvSpPr>
          <p:cNvPr id="843" name="文本框 11"/>
          <p:cNvSpPr txBox="1"/>
          <p:nvPr/>
        </p:nvSpPr>
        <p:spPr>
          <a:xfrm>
            <a:off x="3048000" y="613410"/>
            <a:ext cx="8870315" cy="4580255"/>
          </a:xfrm>
          <a:prstGeom prst="rect">
            <a:avLst/>
          </a:prstGeom>
          <a:noFill/>
        </p:spPr>
        <p:txBody>
          <a:bodyPr wrap="square" rtlCol="0" anchor="t">
            <a:noAutofit/>
          </a:bodyPr>
          <a:p>
            <a:pPr/>
            <a:r>
              <a:rPr lang="zh-CN" altLang="en-US"/>
              <a:t>【第一步】本周内完成三件事：(大家注意修改群名称中带上</a:t>
            </a:r>
            <a:r>
              <a:rPr lang="en-US" altLang="zh-CN"/>
              <a:t>GitHub ID</a:t>
            </a:r>
            <a:r>
              <a:rPr lang="zh-CN" altLang="en-US"/>
              <a:t>以便交流协作)</a:t>
            </a:r>
            <a:endParaRPr lang="zh-CN" altLang="en-US"/>
          </a:p>
          <a:p>
            <a:pPr/>
            <a:r>
              <a:rPr lang="zh-CN" altLang="en-US"/>
              <a:t>加入会议：08月21日 20:00 首次全员线上会，讲解任务与课题池，务必出席；</a:t>
            </a:r>
            <a:endParaRPr lang="zh-CN" altLang="en-US"/>
          </a:p>
          <a:p>
            <a:pPr/>
            <a:r>
              <a:rPr lang="zh-CN" altLang="en-US"/>
              <a:t>跑通基线：按 </a:t>
            </a:r>
            <a:r>
              <a:rPr lang="en-US" altLang="zh-CN"/>
              <a:t>README </a:t>
            </a:r>
            <a:r>
              <a:rPr lang="zh-CN" altLang="en-US"/>
              <a:t>搭好环境，跑通 </a:t>
            </a:r>
            <a:r>
              <a:rPr lang="en-US" altLang="zh-CN"/>
              <a:t>detect / seg / pose </a:t>
            </a:r>
            <a:r>
              <a:rPr lang="zh-CN" altLang="en-US"/>
              <a:t>任一任务训练；</a:t>
            </a:r>
            <a:endParaRPr lang="zh-CN" altLang="en-US"/>
          </a:p>
          <a:p>
            <a:pPr/>
            <a:r>
              <a:rPr lang="zh-CN" altLang="en-US"/>
              <a:t>填写志愿：会后 24</a:t>
            </a:r>
            <a:r>
              <a:rPr lang="en-US" altLang="zh-CN"/>
              <a:t>h </a:t>
            </a:r>
            <a:r>
              <a:rPr lang="zh-CN" altLang="en-US"/>
              <a:t>内在共享表格填课题志愿。</a:t>
            </a:r>
            <a:endParaRPr lang="zh-CN" altLang="en-US"/>
          </a:p>
          <a:p>
            <a:pPr/>
            <a:endParaRPr lang="en-US" altLang="zh-CN"/>
          </a:p>
          <a:p>
            <a:pPr/>
            <a:r>
              <a:rPr lang="zh-CN" altLang="en-US"/>
              <a:t>【日常节奏】每周一在群里发"上周进展 + 本周计划 + 卡点"三段式打卡；每周 1-2 次线上答疑；每双周交一次阶段详报（模板会上发）。导师每天 22:00 前后集中回复群内问题，急事可 @班长</a:t>
            </a:r>
            <a:r>
              <a:rPr lang="en-US" altLang="zh-CN"/>
              <a:t>(</a:t>
            </a:r>
            <a:r>
              <a:rPr lang="en-US" altLang="zh-CN" b="1"/>
              <a:t>tomlrh</a:t>
            </a:r>
            <a:r>
              <a:rPr lang="en-US" altLang="zh-CN"/>
              <a:t>)</a:t>
            </a:r>
            <a:r>
              <a:rPr lang="zh-CN" altLang="en-US"/>
              <a:t>。</a:t>
            </a:r>
            <a:endParaRPr lang="zh-CN" altLang="en-US"/>
          </a:p>
          <a:p>
            <a:pPr/>
            <a:r>
              <a:rPr lang="zh-CN" altLang="en-US"/>
              <a:t>【组织】将选 1 名班长协助管理，各组设 1 名 </a:t>
            </a:r>
            <a:r>
              <a:rPr lang="en-US" altLang="zh-CN"/>
              <a:t>Owner。</a:t>
            </a:r>
            <a:r>
              <a:rPr lang="zh-CN" altLang="en-US"/>
              <a:t>表现优秀的同学有机会获得导师提名与主办方礼品激励</a:t>
            </a:r>
            <a:endParaRPr lang="zh-CN" altLang="en-US"/>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2026-08-22T23:42:09Z</dcterms:created>
  <dcterms:modified xsi:type="dcterms:W3CDTF">2026-08-22T23:42:09Z</dcterms:modified>
</cp:coreProperties>
</file>